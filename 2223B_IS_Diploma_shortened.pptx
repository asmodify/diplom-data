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0" r:id="rId4"/>
  </p:sldMasterIdLst>
  <p:notesMasterIdLst>
    <p:notesMasterId r:id="rId26"/>
  </p:notesMasterIdLst>
  <p:sldIdLst>
    <p:sldId id="282" r:id="rId5"/>
    <p:sldId id="304" r:id="rId6"/>
    <p:sldId id="318" r:id="rId7"/>
    <p:sldId id="319" r:id="rId8"/>
    <p:sldId id="320" r:id="rId9"/>
    <p:sldId id="321" r:id="rId10"/>
    <p:sldId id="336" r:id="rId11"/>
    <p:sldId id="337" r:id="rId12"/>
    <p:sldId id="322" r:id="rId13"/>
    <p:sldId id="323" r:id="rId14"/>
    <p:sldId id="324" r:id="rId15"/>
    <p:sldId id="325" r:id="rId16"/>
    <p:sldId id="326" r:id="rId17"/>
    <p:sldId id="327" r:id="rId18"/>
    <p:sldId id="333" r:id="rId19"/>
    <p:sldId id="334" r:id="rId20"/>
    <p:sldId id="335" r:id="rId21"/>
    <p:sldId id="329" r:id="rId22"/>
    <p:sldId id="330" r:id="rId23"/>
    <p:sldId id="332" r:id="rId24"/>
    <p:sldId id="31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1A6C"/>
    <a:srgbClr val="F7C6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38449A-2859-4063-0A49-6B9136722CA2}" v="26" dt="2026-04-08T02:11:02.1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UUNZUL ERDENEBAATAR" userId="S::b221930006@must.edu.mn::6d69a1cd-e093-46a3-9d39-a898d69392f7" providerId="AD" clId="Web-{34F74D22-CAA3-44A4-6CFC-1C31B5F32F00}"/>
    <pc:docChg chg="addSld delSld modSld">
      <pc:chgData name="NAMUUNZUL ERDENEBAATAR" userId="S::b221930006@must.edu.mn::6d69a1cd-e093-46a3-9d39-a898d69392f7" providerId="AD" clId="Web-{34F74D22-CAA3-44A4-6CFC-1C31B5F32F00}" dt="2026-04-05T12:09:13.668" v="25"/>
      <pc:docMkLst>
        <pc:docMk/>
      </pc:docMkLst>
      <pc:sldChg chg="add replId">
        <pc:chgData name="NAMUUNZUL ERDENEBAATAR" userId="S::b221930006@must.edu.mn::6d69a1cd-e093-46a3-9d39-a898d69392f7" providerId="AD" clId="Web-{34F74D22-CAA3-44A4-6CFC-1C31B5F32F00}" dt="2026-04-05T12:08:59.465" v="13"/>
        <pc:sldMkLst>
          <pc:docMk/>
          <pc:sldMk cId="1081065154" sldId="318"/>
        </pc:sldMkLst>
      </pc:sldChg>
      <pc:sldChg chg="add replId">
        <pc:chgData name="NAMUUNZUL ERDENEBAATAR" userId="S::b221930006@must.edu.mn::6d69a1cd-e093-46a3-9d39-a898d69392f7" providerId="AD" clId="Web-{34F74D22-CAA3-44A4-6CFC-1C31B5F32F00}" dt="2026-04-05T12:09:03.590" v="14"/>
        <pc:sldMkLst>
          <pc:docMk/>
          <pc:sldMk cId="2780544783" sldId="319"/>
        </pc:sldMkLst>
      </pc:sldChg>
      <pc:sldChg chg="add replId">
        <pc:chgData name="NAMUUNZUL ERDENEBAATAR" userId="S::b221930006@must.edu.mn::6d69a1cd-e093-46a3-9d39-a898d69392f7" providerId="AD" clId="Web-{34F74D22-CAA3-44A4-6CFC-1C31B5F32F00}" dt="2026-04-05T12:09:03.887" v="15"/>
        <pc:sldMkLst>
          <pc:docMk/>
          <pc:sldMk cId="2732715958" sldId="320"/>
        </pc:sldMkLst>
      </pc:sldChg>
      <pc:sldChg chg="add replId">
        <pc:chgData name="NAMUUNZUL ERDENEBAATAR" userId="S::b221930006@must.edu.mn::6d69a1cd-e093-46a3-9d39-a898d69392f7" providerId="AD" clId="Web-{34F74D22-CAA3-44A4-6CFC-1C31B5F32F00}" dt="2026-04-05T12:09:04.699" v="16"/>
        <pc:sldMkLst>
          <pc:docMk/>
          <pc:sldMk cId="289447338" sldId="321"/>
        </pc:sldMkLst>
      </pc:sldChg>
      <pc:sldChg chg="add replId">
        <pc:chgData name="NAMUUNZUL ERDENEBAATAR" userId="S::b221930006@must.edu.mn::6d69a1cd-e093-46a3-9d39-a898d69392f7" providerId="AD" clId="Web-{34F74D22-CAA3-44A4-6CFC-1C31B5F32F00}" dt="2026-04-05T12:09:04.918" v="17"/>
        <pc:sldMkLst>
          <pc:docMk/>
          <pc:sldMk cId="3554548825" sldId="322"/>
        </pc:sldMkLst>
      </pc:sldChg>
      <pc:sldChg chg="add replId">
        <pc:chgData name="NAMUUNZUL ERDENEBAATAR" userId="S::b221930006@must.edu.mn::6d69a1cd-e093-46a3-9d39-a898d69392f7" providerId="AD" clId="Web-{34F74D22-CAA3-44A4-6CFC-1C31B5F32F00}" dt="2026-04-05T12:09:07.153" v="18"/>
        <pc:sldMkLst>
          <pc:docMk/>
          <pc:sldMk cId="1240752525" sldId="323"/>
        </pc:sldMkLst>
      </pc:sldChg>
      <pc:sldChg chg="add replId">
        <pc:chgData name="NAMUUNZUL ERDENEBAATAR" userId="S::b221930006@must.edu.mn::6d69a1cd-e093-46a3-9d39-a898d69392f7" providerId="AD" clId="Web-{34F74D22-CAA3-44A4-6CFC-1C31B5F32F00}" dt="2026-04-05T12:09:07.371" v="19"/>
        <pc:sldMkLst>
          <pc:docMk/>
          <pc:sldMk cId="3038117597" sldId="324"/>
        </pc:sldMkLst>
      </pc:sldChg>
      <pc:sldChg chg="add replId">
        <pc:chgData name="NAMUUNZUL ERDENEBAATAR" userId="S::b221930006@must.edu.mn::6d69a1cd-e093-46a3-9d39-a898d69392f7" providerId="AD" clId="Web-{34F74D22-CAA3-44A4-6CFC-1C31B5F32F00}" dt="2026-04-05T12:09:07.590" v="20"/>
        <pc:sldMkLst>
          <pc:docMk/>
          <pc:sldMk cId="1757260242" sldId="325"/>
        </pc:sldMkLst>
      </pc:sldChg>
      <pc:sldChg chg="add replId">
        <pc:chgData name="NAMUUNZUL ERDENEBAATAR" userId="S::b221930006@must.edu.mn::6d69a1cd-e093-46a3-9d39-a898d69392f7" providerId="AD" clId="Web-{34F74D22-CAA3-44A4-6CFC-1C31B5F32F00}" dt="2026-04-05T12:09:07.809" v="21"/>
        <pc:sldMkLst>
          <pc:docMk/>
          <pc:sldMk cId="2220896326" sldId="326"/>
        </pc:sldMkLst>
      </pc:sldChg>
      <pc:sldChg chg="add replId">
        <pc:chgData name="NAMUUNZUL ERDENEBAATAR" userId="S::b221930006@must.edu.mn::6d69a1cd-e093-46a3-9d39-a898d69392f7" providerId="AD" clId="Web-{34F74D22-CAA3-44A4-6CFC-1C31B5F32F00}" dt="2026-04-05T12:09:08.950" v="22"/>
        <pc:sldMkLst>
          <pc:docMk/>
          <pc:sldMk cId="2513705973" sldId="327"/>
        </pc:sldMkLst>
      </pc:sldChg>
      <pc:sldChg chg="add replId">
        <pc:chgData name="NAMUUNZUL ERDENEBAATAR" userId="S::b221930006@must.edu.mn::6d69a1cd-e093-46a3-9d39-a898d69392f7" providerId="AD" clId="Web-{34F74D22-CAA3-44A4-6CFC-1C31B5F32F00}" dt="2026-04-05T12:09:09.168" v="23"/>
        <pc:sldMkLst>
          <pc:docMk/>
          <pc:sldMk cId="1625522086" sldId="328"/>
        </pc:sldMkLst>
      </pc:sldChg>
      <pc:sldChg chg="add replId">
        <pc:chgData name="NAMUUNZUL ERDENEBAATAR" userId="S::b221930006@must.edu.mn::6d69a1cd-e093-46a3-9d39-a898d69392f7" providerId="AD" clId="Web-{34F74D22-CAA3-44A4-6CFC-1C31B5F32F00}" dt="2026-04-05T12:09:09.418" v="24"/>
        <pc:sldMkLst>
          <pc:docMk/>
          <pc:sldMk cId="1695054259" sldId="329"/>
        </pc:sldMkLst>
      </pc:sldChg>
    </pc:docChg>
  </pc:docChgLst>
  <pc:docChgLst>
    <pc:chgData name="BYAMBATSETSEG DAVAANYAM" userId="S::b221930038@must.edu.mn::9f2ec38f-4084-4837-89d3-a69242acb2f2" providerId="AD" clId="Web-{13CE248F-79B9-7640-9924-A3A675B8705A}"/>
    <pc:docChg chg="modSld">
      <pc:chgData name="BYAMBATSETSEG DAVAANYAM" userId="S::b221930038@must.edu.mn::9f2ec38f-4084-4837-89d3-a69242acb2f2" providerId="AD" clId="Web-{13CE248F-79B9-7640-9924-A3A675B8705A}" dt="2026-03-30T16:45:40.769" v="1"/>
      <pc:docMkLst>
        <pc:docMk/>
      </pc:docMkLst>
      <pc:sldChg chg="mod modShow">
        <pc:chgData name="BYAMBATSETSEG DAVAANYAM" userId="S::b221930038@must.edu.mn::9f2ec38f-4084-4837-89d3-a69242acb2f2" providerId="AD" clId="Web-{13CE248F-79B9-7640-9924-A3A675B8705A}" dt="2026-03-30T16:45:40.769" v="1"/>
        <pc:sldMkLst>
          <pc:docMk/>
          <pc:sldMk cId="120952539" sldId="282"/>
        </pc:sldMkLst>
      </pc:sldChg>
    </pc:docChg>
  </pc:docChgLst>
  <pc:docChgLst>
    <pc:chgData name="ERMҮҮN BAYARJARGAL" userId="S::b221930040@must.edu.mn::b9c1eea8-0c58-45de-b88a-00373d689d03" providerId="AD" clId="Web-{E938449A-2859-4063-0A49-6B9136722CA2}"/>
    <pc:docChg chg="modSld">
      <pc:chgData name="ERMҮҮN BAYARJARGAL" userId="S::b221930040@must.edu.mn::b9c1eea8-0c58-45de-b88a-00373d689d03" providerId="AD" clId="Web-{E938449A-2859-4063-0A49-6B9136722CA2}" dt="2026-04-08T02:11:02.121" v="25" actId="20577"/>
      <pc:docMkLst>
        <pc:docMk/>
      </pc:docMkLst>
      <pc:sldChg chg="modSp">
        <pc:chgData name="ERMҮҮN BAYARJARGAL" userId="S::b221930040@must.edu.mn::b9c1eea8-0c58-45de-b88a-00373d689d03" providerId="AD" clId="Web-{E938449A-2859-4063-0A49-6B9136722CA2}" dt="2026-04-08T02:11:02.121" v="25" actId="20577"/>
        <pc:sldMkLst>
          <pc:docMk/>
          <pc:sldMk cId="120952539" sldId="282"/>
        </pc:sldMkLst>
        <pc:spChg chg="mod">
          <ac:chgData name="ERMҮҮN BAYARJARGAL" userId="S::b221930040@must.edu.mn::b9c1eea8-0c58-45de-b88a-00373d689d03" providerId="AD" clId="Web-{E938449A-2859-4063-0A49-6B9136722CA2}" dt="2026-04-08T02:11:02.121" v="25" actId="20577"/>
          <ac:spMkLst>
            <pc:docMk/>
            <pc:sldMk cId="120952539" sldId="282"/>
            <ac:spMk id="3" creationId="{0817932B-FBE3-4CCB-BF21-09F903A50E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95E5C-348A-4641-9781-673DDCF1BCA6}" type="datetimeFigureOut">
              <a:rPr lang="en-US" smtClean="0"/>
              <a:t>5/27/2026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F13BA-F224-488F-97E6-79E220AAD8B1}" type="slidenum">
              <a:rPr lang="en-US" smtClean="0"/>
              <a:t>‹#›</a:t>
            </a:fld>
            <a:endParaRPr lang="en-US"/>
          </a:p>
        </p:txBody>
      </p:sp>
    </p:spTree>
    <p:extLst>
      <p:ext uri="{BB962C8B-B14F-4D97-AF65-F5344CB8AC3E}">
        <p14:creationId xmlns:p14="http://schemas.microsoft.com/office/powerpoint/2010/main" val="4145897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5e4a204c8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5e4a204c8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95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0fe07664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837558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B97AAE1-0AF9-A4DC-D372-B9DFFED4121C}"/>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605489C1-414A-C883-D6F6-06AEC433D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3AF20F31-0475-E4C7-860D-E9F8CAF787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045312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65B040C-5EAD-9E99-5A06-B80341F5995F}"/>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E0469F5D-0373-0BDB-ADBD-47CE01615C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5078F024-3D06-4072-EAF0-6914971C6F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32597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052ACCE-3FB7-7CCC-F729-F950BA8EF8DC}"/>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0F82937B-734B-52D3-1EA0-7815DD3CB1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19B30EA8-BEA2-8DBB-CF98-4DA05B85F2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307013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6B8EDB9-47A5-CBA9-E70E-1AE7E11CAEB9}"/>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93823949-F925-FF8C-EFA5-A7B9FB2102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7682A673-CD22-C755-7BE4-602F00EDD7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529749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B7D858E-217D-C4CB-9612-CCAF6F31A578}"/>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E9A38580-041A-53F8-66B6-23997F7461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15460B5E-A862-48DE-CD08-B8B9EEDA27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777503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E21FADF-D7C8-CCC1-119A-9280671983DD}"/>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81F93CA0-9804-0437-1BCB-2BCFDABD4D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B8DB7E3E-E252-25F8-9D50-0BBE853E92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953498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43B56CD3-1402-49D3-31CC-738C4BDB484E}"/>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40817D70-3BAA-61E2-A66C-0AD97D3650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B4345C5B-22A9-78B7-7F28-7F0AAC847E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471709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B7A14525-C9C2-187B-97E2-877E663A9E61}"/>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D8689B68-940B-AFBD-333F-729BE0C8E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C4578C62-DF6D-F0BE-1919-469D2A3B9D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895824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B13FDE1-F796-F394-8AD7-37D762E1B33E}"/>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7B011A8E-FE23-ABB6-08AF-CB242DEC4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40ACE7A7-3BFA-022C-86F3-77E6999DC7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393185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05FA3E04-E2CC-0FFE-16F9-8E4206F5F168}"/>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1CB710CE-2E9A-BA95-F150-51EF522037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F76B3CE5-6C29-AA12-47EC-ADB9408E6F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517027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F4A79CD-A99D-65B7-0A3C-54014B140729}"/>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E245AC07-1EE4-BB0D-12FA-2A232B4B23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A0E34650-64B4-424F-DCFA-64CA658A4C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014799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CB2BC168-2CA9-FBDE-94F2-AE04E2BBA8ED}"/>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10F09C9F-EFD4-3D3E-E420-DACC384437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3AB8866C-9586-647B-AF8E-043060B111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1771231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BA34B95E-44BA-465B-6089-E99E4BC223F5}"/>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C40F0F48-95EF-8A7A-A1B6-7D139A39B2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D478A429-376A-A40C-F099-CA45AB5C2E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240750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C6DB55A-40AD-D3E5-B051-3F7FF696B6BE}"/>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A9B92EC4-2FDC-14C7-8709-3CE0CF6768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97DA4677-7D13-488C-A55B-CDC74716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380320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8DD2319-1319-DD49-9A37-78C932B4B806}"/>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C6C1BB27-7B2B-98FE-C186-D74D2E56AB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8F85E707-7306-4EF0-B380-C7638DC867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3394834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0D0EFED1-43B9-387E-8664-CF58A347B09B}"/>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D96BAF3F-A999-156B-D3EA-6CE25CE1C2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77D5234D-39EA-FD44-A55D-49DA233E1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2404913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8E0B5DAA-775C-8422-C76C-F9169426D349}"/>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DDE2B310-50E9-BCE8-9173-73C8EC285A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BBA8F8F4-BC2E-9F53-62D4-CCD9E5AF54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4278380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E0F1825E-85E8-1F4D-9FEE-32AE28E3B447}"/>
            </a:ext>
          </a:extLst>
        </p:cNvPr>
        <p:cNvGrpSpPr/>
        <p:nvPr/>
      </p:nvGrpSpPr>
      <p:grpSpPr>
        <a:xfrm>
          <a:off x="0" y="0"/>
          <a:ext cx="0" cy="0"/>
          <a:chOff x="0" y="0"/>
          <a:chExt cx="0" cy="0"/>
        </a:xfrm>
      </p:grpSpPr>
      <p:sp>
        <p:nvSpPr>
          <p:cNvPr id="92" name="Google Shape;92;g60fe07664c_0_15:notes">
            <a:extLst>
              <a:ext uri="{FF2B5EF4-FFF2-40B4-BE49-F238E27FC236}">
                <a16:creationId xmlns:a16="http://schemas.microsoft.com/office/drawing/2014/main" id="{CAD73718-4087-14E8-3590-EB5BB7FF4F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0fe07664c_0_15:notes">
            <a:extLst>
              <a:ext uri="{FF2B5EF4-FFF2-40B4-BE49-F238E27FC236}">
                <a16:creationId xmlns:a16="http://schemas.microsoft.com/office/drawing/2014/main" id="{8F0595DF-2828-4F5B-0441-D003C294BF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mn-MN" sz="1100"/>
              <a:t>Мэдээллийг оюутанд цэгцтэй хүргэнэ. </a:t>
            </a:r>
          </a:p>
          <a:p>
            <a:pPr marL="0" lvl="0" indent="0" algn="l" rtl="0">
              <a:spcBef>
                <a:spcPts val="0"/>
              </a:spcBef>
              <a:spcAft>
                <a:spcPts val="0"/>
              </a:spcAft>
              <a:buNone/>
            </a:pPr>
            <a:endParaRPr/>
          </a:p>
        </p:txBody>
      </p:sp>
    </p:spTree>
    <p:extLst>
      <p:ext uri="{BB962C8B-B14F-4D97-AF65-F5344CB8AC3E}">
        <p14:creationId xmlns:p14="http://schemas.microsoft.com/office/powerpoint/2010/main" val="4255640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5e4a204c8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5e4a204c8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636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6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Google Shape;13;p2"/>
          <p:cNvSpPr txBox="1">
            <a:spLocks noGrp="1"/>
          </p:cNvSpPr>
          <p:nvPr>
            <p:ph type="subTitle" idx="1"/>
          </p:nvPr>
        </p:nvSpPr>
        <p:spPr>
          <a:xfrm>
            <a:off x="1524000" y="3602037"/>
            <a:ext cx="9144000" cy="1655600"/>
          </a:xfrm>
          <a:prstGeom prst="rect">
            <a:avLst/>
          </a:prstGeom>
          <a:noFill/>
          <a:ln>
            <a:noFill/>
          </a:ln>
        </p:spPr>
        <p:txBody>
          <a:bodyPr spcFirstLastPara="1" wrap="square" lIns="68575" tIns="34275" rIns="68575" bIns="34275" anchor="t" anchorCtr="0">
            <a:noAutofit/>
          </a:bodyPr>
          <a:lstStyle>
            <a:lvl1pPr lvl="0" algn="ctr">
              <a:lnSpc>
                <a:spcPct val="90000"/>
              </a:lnSpc>
              <a:spcBef>
                <a:spcPts val="1067"/>
              </a:spcBef>
              <a:spcAft>
                <a:spcPts val="0"/>
              </a:spcAft>
              <a:buClr>
                <a:schemeClr val="dk1"/>
              </a:buClr>
              <a:buSzPts val="1800"/>
              <a:buNone/>
              <a:defRPr sz="2400"/>
            </a:lvl1pPr>
            <a:lvl2pPr lvl="1" algn="ctr">
              <a:lnSpc>
                <a:spcPct val="90000"/>
              </a:lnSpc>
              <a:spcBef>
                <a:spcPts val="533"/>
              </a:spcBef>
              <a:spcAft>
                <a:spcPts val="0"/>
              </a:spcAft>
              <a:buClr>
                <a:schemeClr val="dk1"/>
              </a:buClr>
              <a:buSzPts val="1500"/>
              <a:buNone/>
              <a:defRPr sz="2000"/>
            </a:lvl2pPr>
            <a:lvl3pPr lvl="2" algn="ctr">
              <a:lnSpc>
                <a:spcPct val="90000"/>
              </a:lnSpc>
              <a:spcBef>
                <a:spcPts val="533"/>
              </a:spcBef>
              <a:spcAft>
                <a:spcPts val="0"/>
              </a:spcAft>
              <a:buClr>
                <a:schemeClr val="dk1"/>
              </a:buClr>
              <a:buSzPts val="1400"/>
              <a:buNone/>
              <a:defRPr sz="1900"/>
            </a:lvl3pPr>
            <a:lvl4pPr lvl="3" algn="ctr">
              <a:lnSpc>
                <a:spcPct val="90000"/>
              </a:lnSpc>
              <a:spcBef>
                <a:spcPts val="533"/>
              </a:spcBef>
              <a:spcAft>
                <a:spcPts val="0"/>
              </a:spcAft>
              <a:buClr>
                <a:schemeClr val="dk1"/>
              </a:buClr>
              <a:buSzPts val="1200"/>
              <a:buNone/>
              <a:defRPr sz="1600"/>
            </a:lvl4pPr>
            <a:lvl5pPr lvl="4" algn="ctr">
              <a:lnSpc>
                <a:spcPct val="90000"/>
              </a:lnSpc>
              <a:spcBef>
                <a:spcPts val="533"/>
              </a:spcBef>
              <a:spcAft>
                <a:spcPts val="0"/>
              </a:spcAft>
              <a:buClr>
                <a:schemeClr val="dk1"/>
              </a:buClr>
              <a:buSzPts val="1200"/>
              <a:buNone/>
              <a:defRPr sz="1600"/>
            </a:lvl5pPr>
            <a:lvl6pPr lvl="5" algn="ctr">
              <a:lnSpc>
                <a:spcPct val="90000"/>
              </a:lnSpc>
              <a:spcBef>
                <a:spcPts val="533"/>
              </a:spcBef>
              <a:spcAft>
                <a:spcPts val="0"/>
              </a:spcAft>
              <a:buClr>
                <a:schemeClr val="dk1"/>
              </a:buClr>
              <a:buSzPts val="1200"/>
              <a:buNone/>
              <a:defRPr sz="1600"/>
            </a:lvl6pPr>
            <a:lvl7pPr lvl="6" algn="ctr">
              <a:lnSpc>
                <a:spcPct val="90000"/>
              </a:lnSpc>
              <a:spcBef>
                <a:spcPts val="533"/>
              </a:spcBef>
              <a:spcAft>
                <a:spcPts val="0"/>
              </a:spcAft>
              <a:buClr>
                <a:schemeClr val="dk1"/>
              </a:buClr>
              <a:buSzPts val="1200"/>
              <a:buNone/>
              <a:defRPr sz="1600"/>
            </a:lvl7pPr>
            <a:lvl8pPr lvl="7" algn="ctr">
              <a:lnSpc>
                <a:spcPct val="90000"/>
              </a:lnSpc>
              <a:spcBef>
                <a:spcPts val="533"/>
              </a:spcBef>
              <a:spcAft>
                <a:spcPts val="0"/>
              </a:spcAft>
              <a:buClr>
                <a:schemeClr val="dk1"/>
              </a:buClr>
              <a:buSzPts val="1200"/>
              <a:buNone/>
              <a:defRPr sz="1600"/>
            </a:lvl8pPr>
            <a:lvl9pPr lvl="8" algn="ctr">
              <a:lnSpc>
                <a:spcPct val="90000"/>
              </a:lnSpc>
              <a:spcBef>
                <a:spcPts val="533"/>
              </a:spcBef>
              <a:spcAft>
                <a:spcPts val="0"/>
              </a:spcAft>
              <a:buClr>
                <a:schemeClr val="dk1"/>
              </a:buClr>
              <a:buSzPts val="1200"/>
              <a:buNone/>
              <a:defRPr sz="1600"/>
            </a:lvl9pPr>
          </a:lstStyle>
          <a:p>
            <a:endParaRPr/>
          </a:p>
        </p:txBody>
      </p:sp>
      <p:sp>
        <p:nvSpPr>
          <p:cNvPr id="14" name="Google Shape;14;p2"/>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01CFE75A-EE1C-4F8D-AFB5-ECC47A013933}" type="datetime1">
              <a:rPr lang="mn-MN" smtClean="0"/>
              <a:t>2026.05.27</a:t>
            </a:fld>
            <a:endParaRPr/>
          </a:p>
        </p:txBody>
      </p:sp>
      <p:sp>
        <p:nvSpPr>
          <p:cNvPr id="15" name="Google Shape;15;p2"/>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1" y="1709739"/>
            <a:ext cx="10515600" cy="28528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6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9" name="Google Shape;29;p5"/>
          <p:cNvSpPr txBox="1">
            <a:spLocks noGrp="1"/>
          </p:cNvSpPr>
          <p:nvPr>
            <p:ph type="body" idx="1"/>
          </p:nvPr>
        </p:nvSpPr>
        <p:spPr>
          <a:xfrm>
            <a:off x="831851" y="4589463"/>
            <a:ext cx="10515600" cy="1500000"/>
          </a:xfrm>
          <a:prstGeom prst="rect">
            <a:avLst/>
          </a:prstGeom>
          <a:noFill/>
          <a:ln>
            <a:noFill/>
          </a:ln>
        </p:spPr>
        <p:txBody>
          <a:bodyPr spcFirstLastPara="1" wrap="square" lIns="68575" tIns="34275" rIns="68575" bIns="34275" anchor="t" anchorCtr="0">
            <a:noAutofit/>
          </a:bodyPr>
          <a:lstStyle>
            <a:lvl1pPr marL="609585" lvl="0" indent="-304792" algn="l">
              <a:lnSpc>
                <a:spcPct val="90000"/>
              </a:lnSpc>
              <a:spcBef>
                <a:spcPts val="1067"/>
              </a:spcBef>
              <a:spcAft>
                <a:spcPts val="0"/>
              </a:spcAft>
              <a:buClr>
                <a:srgbClr val="888888"/>
              </a:buClr>
              <a:buSzPts val="1800"/>
              <a:buNone/>
              <a:defRPr sz="2400">
                <a:solidFill>
                  <a:srgbClr val="888888"/>
                </a:solidFill>
              </a:defRPr>
            </a:lvl1pPr>
            <a:lvl2pPr marL="1219170" lvl="1" indent="-304792" algn="l">
              <a:lnSpc>
                <a:spcPct val="90000"/>
              </a:lnSpc>
              <a:spcBef>
                <a:spcPts val="533"/>
              </a:spcBef>
              <a:spcAft>
                <a:spcPts val="0"/>
              </a:spcAft>
              <a:buClr>
                <a:srgbClr val="888888"/>
              </a:buClr>
              <a:buSzPts val="1500"/>
              <a:buNone/>
              <a:defRPr sz="2000">
                <a:solidFill>
                  <a:srgbClr val="888888"/>
                </a:solidFill>
              </a:defRPr>
            </a:lvl2pPr>
            <a:lvl3pPr marL="1828754" lvl="2" indent="-304792" algn="l">
              <a:lnSpc>
                <a:spcPct val="90000"/>
              </a:lnSpc>
              <a:spcBef>
                <a:spcPts val="533"/>
              </a:spcBef>
              <a:spcAft>
                <a:spcPts val="0"/>
              </a:spcAft>
              <a:buClr>
                <a:srgbClr val="888888"/>
              </a:buClr>
              <a:buSzPts val="1400"/>
              <a:buNone/>
              <a:defRPr sz="1900">
                <a:solidFill>
                  <a:srgbClr val="888888"/>
                </a:solidFill>
              </a:defRPr>
            </a:lvl3pPr>
            <a:lvl4pPr marL="2438339" lvl="3" indent="-304792" algn="l">
              <a:lnSpc>
                <a:spcPct val="90000"/>
              </a:lnSpc>
              <a:spcBef>
                <a:spcPts val="533"/>
              </a:spcBef>
              <a:spcAft>
                <a:spcPts val="0"/>
              </a:spcAft>
              <a:buClr>
                <a:srgbClr val="888888"/>
              </a:buClr>
              <a:buSzPts val="1200"/>
              <a:buNone/>
              <a:defRPr sz="1600">
                <a:solidFill>
                  <a:srgbClr val="888888"/>
                </a:solidFill>
              </a:defRPr>
            </a:lvl4pPr>
            <a:lvl5pPr marL="3047924" lvl="4" indent="-304792" algn="l">
              <a:lnSpc>
                <a:spcPct val="90000"/>
              </a:lnSpc>
              <a:spcBef>
                <a:spcPts val="533"/>
              </a:spcBef>
              <a:spcAft>
                <a:spcPts val="0"/>
              </a:spcAft>
              <a:buClr>
                <a:srgbClr val="888888"/>
              </a:buClr>
              <a:buSzPts val="1200"/>
              <a:buNone/>
              <a:defRPr sz="1600">
                <a:solidFill>
                  <a:srgbClr val="888888"/>
                </a:solidFill>
              </a:defRPr>
            </a:lvl5pPr>
            <a:lvl6pPr marL="3657509" lvl="5" indent="-304792" algn="l">
              <a:lnSpc>
                <a:spcPct val="90000"/>
              </a:lnSpc>
              <a:spcBef>
                <a:spcPts val="533"/>
              </a:spcBef>
              <a:spcAft>
                <a:spcPts val="0"/>
              </a:spcAft>
              <a:buClr>
                <a:srgbClr val="888888"/>
              </a:buClr>
              <a:buSzPts val="1200"/>
              <a:buNone/>
              <a:defRPr sz="1600">
                <a:solidFill>
                  <a:srgbClr val="888888"/>
                </a:solidFill>
              </a:defRPr>
            </a:lvl6pPr>
            <a:lvl7pPr marL="4267093" lvl="6" indent="-304792" algn="l">
              <a:lnSpc>
                <a:spcPct val="90000"/>
              </a:lnSpc>
              <a:spcBef>
                <a:spcPts val="533"/>
              </a:spcBef>
              <a:spcAft>
                <a:spcPts val="0"/>
              </a:spcAft>
              <a:buClr>
                <a:srgbClr val="888888"/>
              </a:buClr>
              <a:buSzPts val="1200"/>
              <a:buNone/>
              <a:defRPr sz="1600">
                <a:solidFill>
                  <a:srgbClr val="888888"/>
                </a:solidFill>
              </a:defRPr>
            </a:lvl7pPr>
            <a:lvl8pPr marL="4876678" lvl="7" indent="-304792" algn="l">
              <a:lnSpc>
                <a:spcPct val="90000"/>
              </a:lnSpc>
              <a:spcBef>
                <a:spcPts val="533"/>
              </a:spcBef>
              <a:spcAft>
                <a:spcPts val="0"/>
              </a:spcAft>
              <a:buClr>
                <a:srgbClr val="888888"/>
              </a:buClr>
              <a:buSzPts val="1200"/>
              <a:buNone/>
              <a:defRPr sz="1600">
                <a:solidFill>
                  <a:srgbClr val="888888"/>
                </a:solidFill>
              </a:defRPr>
            </a:lvl8pPr>
            <a:lvl9pPr marL="5486263" lvl="8" indent="-304792" algn="l">
              <a:lnSpc>
                <a:spcPct val="90000"/>
              </a:lnSpc>
              <a:spcBef>
                <a:spcPts val="533"/>
              </a:spcBef>
              <a:spcAft>
                <a:spcPts val="0"/>
              </a:spcAft>
              <a:buClr>
                <a:srgbClr val="888888"/>
              </a:buClr>
              <a:buSzPts val="1200"/>
              <a:buNone/>
              <a:defRPr sz="1600">
                <a:solidFill>
                  <a:srgbClr val="888888"/>
                </a:solidFill>
              </a:defRPr>
            </a:lvl9pPr>
          </a:lstStyle>
          <a:p>
            <a:endParaRPr/>
          </a:p>
        </p:txBody>
      </p:sp>
      <p:sp>
        <p:nvSpPr>
          <p:cNvPr id="30" name="Google Shape;30;p5"/>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CC06FF52-1713-48D2-A05A-1954C57235AA}" type="datetime1">
              <a:rPr lang="mn-MN" smtClean="0"/>
              <a:t>2026.05.27</a:t>
            </a:fld>
            <a:endParaRPr/>
          </a:p>
        </p:txBody>
      </p:sp>
      <p:sp>
        <p:nvSpPr>
          <p:cNvPr id="31" name="Google Shape;31;p5"/>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2" name="Google Shape;32;p5"/>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5" name="Google Shape;35;p6"/>
          <p:cNvSpPr txBox="1">
            <a:spLocks noGrp="1"/>
          </p:cNvSpPr>
          <p:nvPr>
            <p:ph type="body" idx="1"/>
          </p:nvPr>
        </p:nvSpPr>
        <p:spPr>
          <a:xfrm>
            <a:off x="838200" y="1825625"/>
            <a:ext cx="5181600" cy="43512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6" name="Google Shape;36;p6"/>
          <p:cNvSpPr txBox="1">
            <a:spLocks noGrp="1"/>
          </p:cNvSpPr>
          <p:nvPr>
            <p:ph type="body" idx="2"/>
          </p:nvPr>
        </p:nvSpPr>
        <p:spPr>
          <a:xfrm>
            <a:off x="6172200" y="1825625"/>
            <a:ext cx="5181600" cy="43512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7" name="Google Shape;37;p6"/>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F7427C76-A584-4506-BB54-EA733E373816}" type="datetime1">
              <a:rPr lang="mn-MN" smtClean="0"/>
              <a:t>2026.05.27</a:t>
            </a:fld>
            <a:endParaRPr/>
          </a:p>
        </p:txBody>
      </p:sp>
      <p:sp>
        <p:nvSpPr>
          <p:cNvPr id="38" name="Google Shape;38;p6"/>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Google Shape;39;p6"/>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2" name="Google Shape;42;p7"/>
          <p:cNvSpPr txBox="1">
            <a:spLocks noGrp="1"/>
          </p:cNvSpPr>
          <p:nvPr>
            <p:ph type="body" idx="1"/>
          </p:nvPr>
        </p:nvSpPr>
        <p:spPr>
          <a:xfrm>
            <a:off x="839788" y="1681163"/>
            <a:ext cx="5157600" cy="8240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dk1"/>
              </a:buClr>
              <a:buSzPts val="1800"/>
              <a:buNone/>
              <a:defRPr sz="2400" b="1"/>
            </a:lvl1pPr>
            <a:lvl2pPr marL="1219170" lvl="1" indent="-304792" algn="l">
              <a:lnSpc>
                <a:spcPct val="90000"/>
              </a:lnSpc>
              <a:spcBef>
                <a:spcPts val="533"/>
              </a:spcBef>
              <a:spcAft>
                <a:spcPts val="0"/>
              </a:spcAft>
              <a:buClr>
                <a:schemeClr val="dk1"/>
              </a:buClr>
              <a:buSzPts val="1500"/>
              <a:buNone/>
              <a:defRPr sz="2000" b="1"/>
            </a:lvl2pPr>
            <a:lvl3pPr marL="1828754" lvl="2" indent="-304792" algn="l">
              <a:lnSpc>
                <a:spcPct val="90000"/>
              </a:lnSpc>
              <a:spcBef>
                <a:spcPts val="533"/>
              </a:spcBef>
              <a:spcAft>
                <a:spcPts val="0"/>
              </a:spcAft>
              <a:buClr>
                <a:schemeClr val="dk1"/>
              </a:buClr>
              <a:buSzPts val="1400"/>
              <a:buNone/>
              <a:defRPr sz="1900" b="1"/>
            </a:lvl3pPr>
            <a:lvl4pPr marL="2438339" lvl="3" indent="-304792" algn="l">
              <a:lnSpc>
                <a:spcPct val="90000"/>
              </a:lnSpc>
              <a:spcBef>
                <a:spcPts val="533"/>
              </a:spcBef>
              <a:spcAft>
                <a:spcPts val="0"/>
              </a:spcAft>
              <a:buClr>
                <a:schemeClr val="dk1"/>
              </a:buClr>
              <a:buSzPts val="1200"/>
              <a:buNone/>
              <a:defRPr sz="1600" b="1"/>
            </a:lvl4pPr>
            <a:lvl5pPr marL="3047924" lvl="4" indent="-304792" algn="l">
              <a:lnSpc>
                <a:spcPct val="90000"/>
              </a:lnSpc>
              <a:spcBef>
                <a:spcPts val="533"/>
              </a:spcBef>
              <a:spcAft>
                <a:spcPts val="0"/>
              </a:spcAft>
              <a:buClr>
                <a:schemeClr val="dk1"/>
              </a:buClr>
              <a:buSzPts val="1200"/>
              <a:buNone/>
              <a:defRPr sz="1600" b="1"/>
            </a:lvl5pPr>
            <a:lvl6pPr marL="3657509" lvl="5" indent="-304792" algn="l">
              <a:lnSpc>
                <a:spcPct val="90000"/>
              </a:lnSpc>
              <a:spcBef>
                <a:spcPts val="533"/>
              </a:spcBef>
              <a:spcAft>
                <a:spcPts val="0"/>
              </a:spcAft>
              <a:buClr>
                <a:schemeClr val="dk1"/>
              </a:buClr>
              <a:buSzPts val="1200"/>
              <a:buNone/>
              <a:defRPr sz="1600" b="1"/>
            </a:lvl6pPr>
            <a:lvl7pPr marL="4267093" lvl="6" indent="-304792" algn="l">
              <a:lnSpc>
                <a:spcPct val="90000"/>
              </a:lnSpc>
              <a:spcBef>
                <a:spcPts val="533"/>
              </a:spcBef>
              <a:spcAft>
                <a:spcPts val="0"/>
              </a:spcAft>
              <a:buClr>
                <a:schemeClr val="dk1"/>
              </a:buClr>
              <a:buSzPts val="1200"/>
              <a:buNone/>
              <a:defRPr sz="1600" b="1"/>
            </a:lvl7pPr>
            <a:lvl8pPr marL="4876678" lvl="7" indent="-304792" algn="l">
              <a:lnSpc>
                <a:spcPct val="90000"/>
              </a:lnSpc>
              <a:spcBef>
                <a:spcPts val="533"/>
              </a:spcBef>
              <a:spcAft>
                <a:spcPts val="0"/>
              </a:spcAft>
              <a:buClr>
                <a:schemeClr val="dk1"/>
              </a:buClr>
              <a:buSzPts val="1200"/>
              <a:buNone/>
              <a:defRPr sz="1600" b="1"/>
            </a:lvl8pPr>
            <a:lvl9pPr marL="5486263" lvl="8" indent="-304792" algn="l">
              <a:lnSpc>
                <a:spcPct val="90000"/>
              </a:lnSpc>
              <a:spcBef>
                <a:spcPts val="533"/>
              </a:spcBef>
              <a:spcAft>
                <a:spcPts val="0"/>
              </a:spcAft>
              <a:buClr>
                <a:schemeClr val="dk1"/>
              </a:buClr>
              <a:buSzPts val="1200"/>
              <a:buNone/>
              <a:defRPr sz="1600" b="1"/>
            </a:lvl9pPr>
          </a:lstStyle>
          <a:p>
            <a:endParaRPr/>
          </a:p>
        </p:txBody>
      </p:sp>
      <p:sp>
        <p:nvSpPr>
          <p:cNvPr id="43" name="Google Shape;43;p7"/>
          <p:cNvSpPr txBox="1">
            <a:spLocks noGrp="1"/>
          </p:cNvSpPr>
          <p:nvPr>
            <p:ph type="body" idx="2"/>
          </p:nvPr>
        </p:nvSpPr>
        <p:spPr>
          <a:xfrm>
            <a:off x="839788" y="2505075"/>
            <a:ext cx="5157600" cy="36844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44" name="Google Shape;44;p7"/>
          <p:cNvSpPr txBox="1">
            <a:spLocks noGrp="1"/>
          </p:cNvSpPr>
          <p:nvPr>
            <p:ph type="body" idx="3"/>
          </p:nvPr>
        </p:nvSpPr>
        <p:spPr>
          <a:xfrm>
            <a:off x="6172200" y="1681163"/>
            <a:ext cx="5183200" cy="824000"/>
          </a:xfrm>
          <a:prstGeom prst="rect">
            <a:avLst/>
          </a:prstGeom>
          <a:noFill/>
          <a:ln>
            <a:noFill/>
          </a:ln>
        </p:spPr>
        <p:txBody>
          <a:bodyPr spcFirstLastPara="1" wrap="square" lIns="68575" tIns="34275" rIns="68575" bIns="34275" anchor="b" anchorCtr="0">
            <a:noAutofit/>
          </a:bodyPr>
          <a:lstStyle>
            <a:lvl1pPr marL="609585" lvl="0" indent="-304792" algn="l">
              <a:lnSpc>
                <a:spcPct val="90000"/>
              </a:lnSpc>
              <a:spcBef>
                <a:spcPts val="1067"/>
              </a:spcBef>
              <a:spcAft>
                <a:spcPts val="0"/>
              </a:spcAft>
              <a:buClr>
                <a:schemeClr val="dk1"/>
              </a:buClr>
              <a:buSzPts val="1800"/>
              <a:buNone/>
              <a:defRPr sz="2400" b="1"/>
            </a:lvl1pPr>
            <a:lvl2pPr marL="1219170" lvl="1" indent="-304792" algn="l">
              <a:lnSpc>
                <a:spcPct val="90000"/>
              </a:lnSpc>
              <a:spcBef>
                <a:spcPts val="533"/>
              </a:spcBef>
              <a:spcAft>
                <a:spcPts val="0"/>
              </a:spcAft>
              <a:buClr>
                <a:schemeClr val="dk1"/>
              </a:buClr>
              <a:buSzPts val="1500"/>
              <a:buNone/>
              <a:defRPr sz="2000" b="1"/>
            </a:lvl2pPr>
            <a:lvl3pPr marL="1828754" lvl="2" indent="-304792" algn="l">
              <a:lnSpc>
                <a:spcPct val="90000"/>
              </a:lnSpc>
              <a:spcBef>
                <a:spcPts val="533"/>
              </a:spcBef>
              <a:spcAft>
                <a:spcPts val="0"/>
              </a:spcAft>
              <a:buClr>
                <a:schemeClr val="dk1"/>
              </a:buClr>
              <a:buSzPts val="1400"/>
              <a:buNone/>
              <a:defRPr sz="1900" b="1"/>
            </a:lvl3pPr>
            <a:lvl4pPr marL="2438339" lvl="3" indent="-304792" algn="l">
              <a:lnSpc>
                <a:spcPct val="90000"/>
              </a:lnSpc>
              <a:spcBef>
                <a:spcPts val="533"/>
              </a:spcBef>
              <a:spcAft>
                <a:spcPts val="0"/>
              </a:spcAft>
              <a:buClr>
                <a:schemeClr val="dk1"/>
              </a:buClr>
              <a:buSzPts val="1200"/>
              <a:buNone/>
              <a:defRPr sz="1600" b="1"/>
            </a:lvl4pPr>
            <a:lvl5pPr marL="3047924" lvl="4" indent="-304792" algn="l">
              <a:lnSpc>
                <a:spcPct val="90000"/>
              </a:lnSpc>
              <a:spcBef>
                <a:spcPts val="533"/>
              </a:spcBef>
              <a:spcAft>
                <a:spcPts val="0"/>
              </a:spcAft>
              <a:buClr>
                <a:schemeClr val="dk1"/>
              </a:buClr>
              <a:buSzPts val="1200"/>
              <a:buNone/>
              <a:defRPr sz="1600" b="1"/>
            </a:lvl5pPr>
            <a:lvl6pPr marL="3657509" lvl="5" indent="-304792" algn="l">
              <a:lnSpc>
                <a:spcPct val="90000"/>
              </a:lnSpc>
              <a:spcBef>
                <a:spcPts val="533"/>
              </a:spcBef>
              <a:spcAft>
                <a:spcPts val="0"/>
              </a:spcAft>
              <a:buClr>
                <a:schemeClr val="dk1"/>
              </a:buClr>
              <a:buSzPts val="1200"/>
              <a:buNone/>
              <a:defRPr sz="1600" b="1"/>
            </a:lvl6pPr>
            <a:lvl7pPr marL="4267093" lvl="6" indent="-304792" algn="l">
              <a:lnSpc>
                <a:spcPct val="90000"/>
              </a:lnSpc>
              <a:spcBef>
                <a:spcPts val="533"/>
              </a:spcBef>
              <a:spcAft>
                <a:spcPts val="0"/>
              </a:spcAft>
              <a:buClr>
                <a:schemeClr val="dk1"/>
              </a:buClr>
              <a:buSzPts val="1200"/>
              <a:buNone/>
              <a:defRPr sz="1600" b="1"/>
            </a:lvl7pPr>
            <a:lvl8pPr marL="4876678" lvl="7" indent="-304792" algn="l">
              <a:lnSpc>
                <a:spcPct val="90000"/>
              </a:lnSpc>
              <a:spcBef>
                <a:spcPts val="533"/>
              </a:spcBef>
              <a:spcAft>
                <a:spcPts val="0"/>
              </a:spcAft>
              <a:buClr>
                <a:schemeClr val="dk1"/>
              </a:buClr>
              <a:buSzPts val="1200"/>
              <a:buNone/>
              <a:defRPr sz="1600" b="1"/>
            </a:lvl8pPr>
            <a:lvl9pPr marL="5486263" lvl="8" indent="-304792" algn="l">
              <a:lnSpc>
                <a:spcPct val="90000"/>
              </a:lnSpc>
              <a:spcBef>
                <a:spcPts val="533"/>
              </a:spcBef>
              <a:spcAft>
                <a:spcPts val="0"/>
              </a:spcAft>
              <a:buClr>
                <a:schemeClr val="dk1"/>
              </a:buClr>
              <a:buSzPts val="1200"/>
              <a:buNone/>
              <a:defRPr sz="1600" b="1"/>
            </a:lvl9pPr>
          </a:lstStyle>
          <a:p>
            <a:endParaRPr/>
          </a:p>
        </p:txBody>
      </p:sp>
      <p:sp>
        <p:nvSpPr>
          <p:cNvPr id="45" name="Google Shape;45;p7"/>
          <p:cNvSpPr txBox="1">
            <a:spLocks noGrp="1"/>
          </p:cNvSpPr>
          <p:nvPr>
            <p:ph type="body" idx="4"/>
          </p:nvPr>
        </p:nvSpPr>
        <p:spPr>
          <a:xfrm>
            <a:off x="6172200" y="2505075"/>
            <a:ext cx="5183200" cy="36844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46" name="Google Shape;46;p7"/>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5A5D6F2E-46BB-4F33-9A0A-ED628F8BF12C}" type="datetime1">
              <a:rPr lang="mn-MN" smtClean="0"/>
              <a:t>2026.05.27</a:t>
            </a:fld>
            <a:endParaRPr/>
          </a:p>
        </p:txBody>
      </p:sp>
      <p:sp>
        <p:nvSpPr>
          <p:cNvPr id="47" name="Google Shape;47;p7"/>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Google Shape;48;p7"/>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1" name="Google Shape;51;p8"/>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1F0184A3-B03A-4E4D-B3AA-6D55B9EBF7E3}" type="datetime1">
              <a:rPr lang="mn-MN" smtClean="0"/>
              <a:t>2026.05.27</a:t>
            </a:fld>
            <a:endParaRPr/>
          </a:p>
        </p:txBody>
      </p:sp>
      <p:sp>
        <p:nvSpPr>
          <p:cNvPr id="52" name="Google Shape;52;p8"/>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Google Shape;53;p8"/>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400" cy="16000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Google Shape;56;p9"/>
          <p:cNvSpPr txBox="1">
            <a:spLocks noGrp="1"/>
          </p:cNvSpPr>
          <p:nvPr>
            <p:ph type="body" idx="1"/>
          </p:nvPr>
        </p:nvSpPr>
        <p:spPr>
          <a:xfrm>
            <a:off x="5183188" y="987425"/>
            <a:ext cx="6172000" cy="4873600"/>
          </a:xfrm>
          <a:prstGeom prst="rect">
            <a:avLst/>
          </a:prstGeom>
          <a:noFill/>
          <a:ln>
            <a:noFill/>
          </a:ln>
        </p:spPr>
        <p:txBody>
          <a:bodyPr spcFirstLastPara="1" wrap="square" lIns="68575" tIns="34275" rIns="68575" bIns="34275" anchor="t" anchorCtr="0">
            <a:noAutofit/>
          </a:bodyPr>
          <a:lstStyle>
            <a:lvl1pPr marL="609585" lvl="0" indent="-507987" algn="l">
              <a:lnSpc>
                <a:spcPct val="90000"/>
              </a:lnSpc>
              <a:spcBef>
                <a:spcPts val="1067"/>
              </a:spcBef>
              <a:spcAft>
                <a:spcPts val="0"/>
              </a:spcAft>
              <a:buClr>
                <a:schemeClr val="dk1"/>
              </a:buClr>
              <a:buSzPts val="2400"/>
              <a:buChar char="•"/>
              <a:defRPr sz="3200"/>
            </a:lvl1pPr>
            <a:lvl2pPr marL="1219170" lvl="1" indent="-482588" algn="l">
              <a:lnSpc>
                <a:spcPct val="90000"/>
              </a:lnSpc>
              <a:spcBef>
                <a:spcPts val="533"/>
              </a:spcBef>
              <a:spcAft>
                <a:spcPts val="0"/>
              </a:spcAft>
              <a:buClr>
                <a:schemeClr val="dk1"/>
              </a:buClr>
              <a:buSzPts val="2100"/>
              <a:buChar char="•"/>
              <a:defRPr sz="2800"/>
            </a:lvl2pPr>
            <a:lvl3pPr marL="1828754" lvl="2" indent="-457189" algn="l">
              <a:lnSpc>
                <a:spcPct val="90000"/>
              </a:lnSpc>
              <a:spcBef>
                <a:spcPts val="533"/>
              </a:spcBef>
              <a:spcAft>
                <a:spcPts val="0"/>
              </a:spcAft>
              <a:buClr>
                <a:schemeClr val="dk1"/>
              </a:buClr>
              <a:buSzPts val="1800"/>
              <a:buChar char="•"/>
              <a:defRPr sz="2400"/>
            </a:lvl3pPr>
            <a:lvl4pPr marL="2438339" lvl="3" indent="-431789" algn="l">
              <a:lnSpc>
                <a:spcPct val="90000"/>
              </a:lnSpc>
              <a:spcBef>
                <a:spcPts val="533"/>
              </a:spcBef>
              <a:spcAft>
                <a:spcPts val="0"/>
              </a:spcAft>
              <a:buClr>
                <a:schemeClr val="dk1"/>
              </a:buClr>
              <a:buSzPts val="1500"/>
              <a:buChar char="•"/>
              <a:defRPr sz="2000"/>
            </a:lvl4pPr>
            <a:lvl5pPr marL="3047924" lvl="4" indent="-431789" algn="l">
              <a:lnSpc>
                <a:spcPct val="90000"/>
              </a:lnSpc>
              <a:spcBef>
                <a:spcPts val="533"/>
              </a:spcBef>
              <a:spcAft>
                <a:spcPts val="0"/>
              </a:spcAft>
              <a:buClr>
                <a:schemeClr val="dk1"/>
              </a:buClr>
              <a:buSzPts val="1500"/>
              <a:buChar char="•"/>
              <a:defRPr sz="2000"/>
            </a:lvl5pPr>
            <a:lvl6pPr marL="3657509" lvl="5" indent="-431789" algn="l">
              <a:lnSpc>
                <a:spcPct val="90000"/>
              </a:lnSpc>
              <a:spcBef>
                <a:spcPts val="533"/>
              </a:spcBef>
              <a:spcAft>
                <a:spcPts val="0"/>
              </a:spcAft>
              <a:buClr>
                <a:schemeClr val="dk1"/>
              </a:buClr>
              <a:buSzPts val="1500"/>
              <a:buChar char="•"/>
              <a:defRPr sz="2000"/>
            </a:lvl6pPr>
            <a:lvl7pPr marL="4267093" lvl="6" indent="-431789" algn="l">
              <a:lnSpc>
                <a:spcPct val="90000"/>
              </a:lnSpc>
              <a:spcBef>
                <a:spcPts val="533"/>
              </a:spcBef>
              <a:spcAft>
                <a:spcPts val="0"/>
              </a:spcAft>
              <a:buClr>
                <a:schemeClr val="dk1"/>
              </a:buClr>
              <a:buSzPts val="1500"/>
              <a:buChar char="•"/>
              <a:defRPr sz="2000"/>
            </a:lvl7pPr>
            <a:lvl8pPr marL="4876678" lvl="7" indent="-431789" algn="l">
              <a:lnSpc>
                <a:spcPct val="90000"/>
              </a:lnSpc>
              <a:spcBef>
                <a:spcPts val="533"/>
              </a:spcBef>
              <a:spcAft>
                <a:spcPts val="0"/>
              </a:spcAft>
              <a:buClr>
                <a:schemeClr val="dk1"/>
              </a:buClr>
              <a:buSzPts val="1500"/>
              <a:buChar char="•"/>
              <a:defRPr sz="2000"/>
            </a:lvl8pPr>
            <a:lvl9pPr marL="5486263" lvl="8" indent="-431789" algn="l">
              <a:lnSpc>
                <a:spcPct val="90000"/>
              </a:lnSpc>
              <a:spcBef>
                <a:spcPts val="533"/>
              </a:spcBef>
              <a:spcAft>
                <a:spcPts val="0"/>
              </a:spcAft>
              <a:buClr>
                <a:schemeClr val="dk1"/>
              </a:buClr>
              <a:buSzPts val="1500"/>
              <a:buChar char="•"/>
              <a:defRPr sz="2000"/>
            </a:lvl9pPr>
          </a:lstStyle>
          <a:p>
            <a:endParaRPr/>
          </a:p>
        </p:txBody>
      </p:sp>
      <p:sp>
        <p:nvSpPr>
          <p:cNvPr id="57" name="Google Shape;57;p9"/>
          <p:cNvSpPr txBox="1">
            <a:spLocks noGrp="1"/>
          </p:cNvSpPr>
          <p:nvPr>
            <p:ph type="body" idx="2"/>
          </p:nvPr>
        </p:nvSpPr>
        <p:spPr>
          <a:xfrm>
            <a:off x="839788" y="2057400"/>
            <a:ext cx="3932400" cy="3811600"/>
          </a:xfrm>
          <a:prstGeom prst="rect">
            <a:avLst/>
          </a:prstGeom>
          <a:noFill/>
          <a:ln>
            <a:noFill/>
          </a:ln>
        </p:spPr>
        <p:txBody>
          <a:bodyPr spcFirstLastPara="1" wrap="square" lIns="68575" tIns="34275" rIns="68575" bIns="34275" anchor="t" anchorCtr="0">
            <a:noAutofit/>
          </a:bodyPr>
          <a:lstStyle>
            <a:lvl1pPr marL="609585" lvl="0" indent="-304792" algn="l">
              <a:lnSpc>
                <a:spcPct val="90000"/>
              </a:lnSpc>
              <a:spcBef>
                <a:spcPts val="1067"/>
              </a:spcBef>
              <a:spcAft>
                <a:spcPts val="0"/>
              </a:spcAft>
              <a:buClr>
                <a:schemeClr val="dk1"/>
              </a:buClr>
              <a:buSzPts val="1200"/>
              <a:buNone/>
              <a:defRPr sz="1600"/>
            </a:lvl1pPr>
            <a:lvl2pPr marL="1219170" lvl="1" indent="-304792" algn="l">
              <a:lnSpc>
                <a:spcPct val="90000"/>
              </a:lnSpc>
              <a:spcBef>
                <a:spcPts val="533"/>
              </a:spcBef>
              <a:spcAft>
                <a:spcPts val="0"/>
              </a:spcAft>
              <a:buClr>
                <a:schemeClr val="dk1"/>
              </a:buClr>
              <a:buSzPts val="1100"/>
              <a:buNone/>
              <a:defRPr sz="1500"/>
            </a:lvl2pPr>
            <a:lvl3pPr marL="1828754" lvl="2" indent="-304792" algn="l">
              <a:lnSpc>
                <a:spcPct val="90000"/>
              </a:lnSpc>
              <a:spcBef>
                <a:spcPts val="533"/>
              </a:spcBef>
              <a:spcAft>
                <a:spcPts val="0"/>
              </a:spcAft>
              <a:buClr>
                <a:schemeClr val="dk1"/>
              </a:buClr>
              <a:buSzPts val="900"/>
              <a:buNone/>
              <a:defRPr sz="1200"/>
            </a:lvl3pPr>
            <a:lvl4pPr marL="2438339" lvl="3" indent="-304792" algn="l">
              <a:lnSpc>
                <a:spcPct val="90000"/>
              </a:lnSpc>
              <a:spcBef>
                <a:spcPts val="533"/>
              </a:spcBef>
              <a:spcAft>
                <a:spcPts val="0"/>
              </a:spcAft>
              <a:buClr>
                <a:schemeClr val="dk1"/>
              </a:buClr>
              <a:buSzPts val="800"/>
              <a:buNone/>
              <a:defRPr sz="1100"/>
            </a:lvl4pPr>
            <a:lvl5pPr marL="3047924" lvl="4" indent="-304792" algn="l">
              <a:lnSpc>
                <a:spcPct val="90000"/>
              </a:lnSpc>
              <a:spcBef>
                <a:spcPts val="533"/>
              </a:spcBef>
              <a:spcAft>
                <a:spcPts val="0"/>
              </a:spcAft>
              <a:buClr>
                <a:schemeClr val="dk1"/>
              </a:buClr>
              <a:buSzPts val="800"/>
              <a:buNone/>
              <a:defRPr sz="1100"/>
            </a:lvl5pPr>
            <a:lvl6pPr marL="3657509" lvl="5" indent="-304792" algn="l">
              <a:lnSpc>
                <a:spcPct val="90000"/>
              </a:lnSpc>
              <a:spcBef>
                <a:spcPts val="533"/>
              </a:spcBef>
              <a:spcAft>
                <a:spcPts val="0"/>
              </a:spcAft>
              <a:buClr>
                <a:schemeClr val="dk1"/>
              </a:buClr>
              <a:buSzPts val="800"/>
              <a:buNone/>
              <a:defRPr sz="1100"/>
            </a:lvl6pPr>
            <a:lvl7pPr marL="4267093" lvl="6" indent="-304792" algn="l">
              <a:lnSpc>
                <a:spcPct val="90000"/>
              </a:lnSpc>
              <a:spcBef>
                <a:spcPts val="533"/>
              </a:spcBef>
              <a:spcAft>
                <a:spcPts val="0"/>
              </a:spcAft>
              <a:buClr>
                <a:schemeClr val="dk1"/>
              </a:buClr>
              <a:buSzPts val="800"/>
              <a:buNone/>
              <a:defRPr sz="1100"/>
            </a:lvl7pPr>
            <a:lvl8pPr marL="4876678" lvl="7" indent="-304792" algn="l">
              <a:lnSpc>
                <a:spcPct val="90000"/>
              </a:lnSpc>
              <a:spcBef>
                <a:spcPts val="533"/>
              </a:spcBef>
              <a:spcAft>
                <a:spcPts val="0"/>
              </a:spcAft>
              <a:buClr>
                <a:schemeClr val="dk1"/>
              </a:buClr>
              <a:buSzPts val="800"/>
              <a:buNone/>
              <a:defRPr sz="1100"/>
            </a:lvl8pPr>
            <a:lvl9pPr marL="5486263" lvl="8" indent="-304792" algn="l">
              <a:lnSpc>
                <a:spcPct val="90000"/>
              </a:lnSpc>
              <a:spcBef>
                <a:spcPts val="533"/>
              </a:spcBef>
              <a:spcAft>
                <a:spcPts val="0"/>
              </a:spcAft>
              <a:buClr>
                <a:schemeClr val="dk1"/>
              </a:buClr>
              <a:buSzPts val="800"/>
              <a:buNone/>
              <a:defRPr sz="1100"/>
            </a:lvl9pPr>
          </a:lstStyle>
          <a:p>
            <a:endParaRPr/>
          </a:p>
        </p:txBody>
      </p:sp>
      <p:sp>
        <p:nvSpPr>
          <p:cNvPr id="58" name="Google Shape;58;p9"/>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87A0C98E-F72B-42C4-91A6-2FC6F4FC3457}" type="datetime1">
              <a:rPr lang="mn-MN" smtClean="0"/>
              <a:t>2026.05.27</a:t>
            </a:fld>
            <a:endParaRPr/>
          </a:p>
        </p:txBody>
      </p:sp>
      <p:sp>
        <p:nvSpPr>
          <p:cNvPr id="59" name="Google Shape;59;p9"/>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9"/>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400" cy="16000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0"/>
          <p:cNvSpPr>
            <a:spLocks noGrp="1"/>
          </p:cNvSpPr>
          <p:nvPr>
            <p:ph type="pic" idx="2"/>
          </p:nvPr>
        </p:nvSpPr>
        <p:spPr>
          <a:xfrm>
            <a:off x="5183188" y="987425"/>
            <a:ext cx="6172000" cy="48736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1067"/>
              </a:spcBef>
              <a:spcAft>
                <a:spcPts val="0"/>
              </a:spcAft>
              <a:buClr>
                <a:schemeClr val="dk1"/>
              </a:buClr>
              <a:buSzPts val="24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33"/>
              </a:spcBef>
              <a:spcAft>
                <a:spcPts val="0"/>
              </a:spcAft>
              <a:buClr>
                <a:schemeClr val="dk1"/>
              </a:buClr>
              <a:buSzPts val="21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33"/>
              </a:spcBef>
              <a:spcAft>
                <a:spcPts val="0"/>
              </a:spcAft>
              <a:buClr>
                <a:schemeClr val="dk1"/>
              </a:buClr>
              <a:buSzPts val="18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33"/>
              </a:spcBef>
              <a:spcAft>
                <a:spcPts val="0"/>
              </a:spcAft>
              <a:buClr>
                <a:schemeClr val="dk1"/>
              </a:buClr>
              <a:buSzPts val="15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839788" y="2057400"/>
            <a:ext cx="3932400" cy="3811600"/>
          </a:xfrm>
          <a:prstGeom prst="rect">
            <a:avLst/>
          </a:prstGeom>
          <a:noFill/>
          <a:ln>
            <a:noFill/>
          </a:ln>
        </p:spPr>
        <p:txBody>
          <a:bodyPr spcFirstLastPara="1" wrap="square" lIns="68575" tIns="34275" rIns="68575" bIns="34275" anchor="t" anchorCtr="0">
            <a:noAutofit/>
          </a:bodyPr>
          <a:lstStyle>
            <a:lvl1pPr marL="609585" lvl="0" indent="-304792" algn="l">
              <a:lnSpc>
                <a:spcPct val="90000"/>
              </a:lnSpc>
              <a:spcBef>
                <a:spcPts val="1067"/>
              </a:spcBef>
              <a:spcAft>
                <a:spcPts val="0"/>
              </a:spcAft>
              <a:buClr>
                <a:schemeClr val="dk1"/>
              </a:buClr>
              <a:buSzPts val="1200"/>
              <a:buNone/>
              <a:defRPr sz="1600"/>
            </a:lvl1pPr>
            <a:lvl2pPr marL="1219170" lvl="1" indent="-304792" algn="l">
              <a:lnSpc>
                <a:spcPct val="90000"/>
              </a:lnSpc>
              <a:spcBef>
                <a:spcPts val="533"/>
              </a:spcBef>
              <a:spcAft>
                <a:spcPts val="0"/>
              </a:spcAft>
              <a:buClr>
                <a:schemeClr val="dk1"/>
              </a:buClr>
              <a:buSzPts val="1100"/>
              <a:buNone/>
              <a:defRPr sz="1500"/>
            </a:lvl2pPr>
            <a:lvl3pPr marL="1828754" lvl="2" indent="-304792" algn="l">
              <a:lnSpc>
                <a:spcPct val="90000"/>
              </a:lnSpc>
              <a:spcBef>
                <a:spcPts val="533"/>
              </a:spcBef>
              <a:spcAft>
                <a:spcPts val="0"/>
              </a:spcAft>
              <a:buClr>
                <a:schemeClr val="dk1"/>
              </a:buClr>
              <a:buSzPts val="900"/>
              <a:buNone/>
              <a:defRPr sz="1200"/>
            </a:lvl3pPr>
            <a:lvl4pPr marL="2438339" lvl="3" indent="-304792" algn="l">
              <a:lnSpc>
                <a:spcPct val="90000"/>
              </a:lnSpc>
              <a:spcBef>
                <a:spcPts val="533"/>
              </a:spcBef>
              <a:spcAft>
                <a:spcPts val="0"/>
              </a:spcAft>
              <a:buClr>
                <a:schemeClr val="dk1"/>
              </a:buClr>
              <a:buSzPts val="800"/>
              <a:buNone/>
              <a:defRPr sz="1100"/>
            </a:lvl4pPr>
            <a:lvl5pPr marL="3047924" lvl="4" indent="-304792" algn="l">
              <a:lnSpc>
                <a:spcPct val="90000"/>
              </a:lnSpc>
              <a:spcBef>
                <a:spcPts val="533"/>
              </a:spcBef>
              <a:spcAft>
                <a:spcPts val="0"/>
              </a:spcAft>
              <a:buClr>
                <a:schemeClr val="dk1"/>
              </a:buClr>
              <a:buSzPts val="800"/>
              <a:buNone/>
              <a:defRPr sz="1100"/>
            </a:lvl5pPr>
            <a:lvl6pPr marL="3657509" lvl="5" indent="-304792" algn="l">
              <a:lnSpc>
                <a:spcPct val="90000"/>
              </a:lnSpc>
              <a:spcBef>
                <a:spcPts val="533"/>
              </a:spcBef>
              <a:spcAft>
                <a:spcPts val="0"/>
              </a:spcAft>
              <a:buClr>
                <a:schemeClr val="dk1"/>
              </a:buClr>
              <a:buSzPts val="800"/>
              <a:buNone/>
              <a:defRPr sz="1100"/>
            </a:lvl6pPr>
            <a:lvl7pPr marL="4267093" lvl="6" indent="-304792" algn="l">
              <a:lnSpc>
                <a:spcPct val="90000"/>
              </a:lnSpc>
              <a:spcBef>
                <a:spcPts val="533"/>
              </a:spcBef>
              <a:spcAft>
                <a:spcPts val="0"/>
              </a:spcAft>
              <a:buClr>
                <a:schemeClr val="dk1"/>
              </a:buClr>
              <a:buSzPts val="800"/>
              <a:buNone/>
              <a:defRPr sz="1100"/>
            </a:lvl7pPr>
            <a:lvl8pPr marL="4876678" lvl="7" indent="-304792" algn="l">
              <a:lnSpc>
                <a:spcPct val="90000"/>
              </a:lnSpc>
              <a:spcBef>
                <a:spcPts val="533"/>
              </a:spcBef>
              <a:spcAft>
                <a:spcPts val="0"/>
              </a:spcAft>
              <a:buClr>
                <a:schemeClr val="dk1"/>
              </a:buClr>
              <a:buSzPts val="800"/>
              <a:buNone/>
              <a:defRPr sz="1100"/>
            </a:lvl8pPr>
            <a:lvl9pPr marL="5486263" lvl="8" indent="-304792" algn="l">
              <a:lnSpc>
                <a:spcPct val="90000"/>
              </a:lnSpc>
              <a:spcBef>
                <a:spcPts val="533"/>
              </a:spcBef>
              <a:spcAft>
                <a:spcPts val="0"/>
              </a:spcAft>
              <a:buClr>
                <a:schemeClr val="dk1"/>
              </a:buClr>
              <a:buSzPts val="800"/>
              <a:buNone/>
              <a:defRPr sz="1100"/>
            </a:lvl9pPr>
          </a:lstStyle>
          <a:p>
            <a:endParaRPr/>
          </a:p>
        </p:txBody>
      </p:sp>
      <p:sp>
        <p:nvSpPr>
          <p:cNvPr id="65" name="Google Shape;65;p10"/>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3575FB59-7106-40EA-AD8D-B760BFA26ACE}" type="datetime1">
              <a:rPr lang="mn-MN" smtClean="0"/>
              <a:t>2026.05.27</a:t>
            </a:fld>
            <a:endParaRPr/>
          </a:p>
        </p:txBody>
      </p:sp>
      <p:sp>
        <p:nvSpPr>
          <p:cNvPr id="66" name="Google Shape;66;p10"/>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0"/>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1"/>
          <p:cNvSpPr txBox="1">
            <a:spLocks noGrp="1"/>
          </p:cNvSpPr>
          <p:nvPr>
            <p:ph type="body" idx="1"/>
          </p:nvPr>
        </p:nvSpPr>
        <p:spPr>
          <a:xfrm rot="5400000">
            <a:off x="3920400" y="-1256575"/>
            <a:ext cx="4351200" cy="10515600"/>
          </a:xfrm>
          <a:prstGeom prst="rect">
            <a:avLst/>
          </a:prstGeom>
          <a:noFill/>
          <a:ln>
            <a:noFill/>
          </a:ln>
        </p:spPr>
        <p:txBody>
          <a:bodyPr spcFirstLastPara="1" wrap="square" lIns="68575" tIns="34275" rIns="68575" bIns="34275" anchor="t" anchorCtr="0">
            <a:no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71" name="Google Shape;71;p11"/>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fld id="{B5B4735D-76F8-4B6D-9A1E-1499F949BDD5}" type="datetime1">
              <a:rPr lang="mn-MN" smtClean="0"/>
              <a:t>2026.05.27</a:t>
            </a:fld>
            <a:endParaRPr/>
          </a:p>
        </p:txBody>
      </p:sp>
      <p:sp>
        <p:nvSpPr>
          <p:cNvPr id="72" name="Google Shape;72;p11"/>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1"/>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15600" y="593367"/>
            <a:ext cx="11360800" cy="763600"/>
          </a:xfrm>
          <a:prstGeom prst="rect">
            <a:avLst/>
          </a:prstGeom>
        </p:spPr>
        <p:txBody>
          <a:bodyPr spcFirstLastPara="1" wrap="square" lIns="68575" tIns="34275" rIns="68575" bIns="34275" anchor="ctr"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2" name="Google Shape;82;p13"/>
          <p:cNvSpPr txBox="1">
            <a:spLocks noGrp="1"/>
          </p:cNvSpPr>
          <p:nvPr>
            <p:ph type="body" idx="1"/>
          </p:nvPr>
        </p:nvSpPr>
        <p:spPr>
          <a:xfrm>
            <a:off x="415600" y="1536633"/>
            <a:ext cx="11360800" cy="4555200"/>
          </a:xfrm>
          <a:prstGeom prst="rect">
            <a:avLst/>
          </a:prstGeom>
        </p:spPr>
        <p:txBody>
          <a:bodyPr spcFirstLastPara="1" wrap="square" lIns="68575" tIns="34275" rIns="68575" bIns="34275" anchor="t" anchorCtr="0">
            <a:noAutofit/>
          </a:bodyPr>
          <a:lstStyle>
            <a:lvl1pPr marL="609585" lvl="0" indent="-482588" rtl="0">
              <a:spcBef>
                <a:spcPts val="1067"/>
              </a:spcBef>
              <a:spcAft>
                <a:spcPts val="0"/>
              </a:spcAft>
              <a:buSzPts val="2100"/>
              <a:buChar char="•"/>
              <a:defRPr/>
            </a:lvl1pPr>
            <a:lvl2pPr marL="1219170" lvl="1" indent="-457189" rtl="0">
              <a:spcBef>
                <a:spcPts val="533"/>
              </a:spcBef>
              <a:spcAft>
                <a:spcPts val="0"/>
              </a:spcAft>
              <a:buSzPts val="1800"/>
              <a:buChar char="•"/>
              <a:defRPr/>
            </a:lvl2pPr>
            <a:lvl3pPr marL="1828754" lvl="2" indent="-431789" rtl="0">
              <a:spcBef>
                <a:spcPts val="533"/>
              </a:spcBef>
              <a:spcAft>
                <a:spcPts val="0"/>
              </a:spcAft>
              <a:buSzPts val="1500"/>
              <a:buChar char="•"/>
              <a:defRPr/>
            </a:lvl3pPr>
            <a:lvl4pPr marL="2438339" lvl="3" indent="-423323" rtl="0">
              <a:spcBef>
                <a:spcPts val="533"/>
              </a:spcBef>
              <a:spcAft>
                <a:spcPts val="0"/>
              </a:spcAft>
              <a:buSzPts val="1400"/>
              <a:buChar char="•"/>
              <a:defRPr/>
            </a:lvl4pPr>
            <a:lvl5pPr marL="3047924" lvl="4" indent="-423323" rtl="0">
              <a:spcBef>
                <a:spcPts val="533"/>
              </a:spcBef>
              <a:spcAft>
                <a:spcPts val="0"/>
              </a:spcAft>
              <a:buSzPts val="1400"/>
              <a:buChar char="•"/>
              <a:defRPr/>
            </a:lvl5pPr>
            <a:lvl6pPr marL="3657509" lvl="5" indent="-423323" rtl="0">
              <a:spcBef>
                <a:spcPts val="533"/>
              </a:spcBef>
              <a:spcAft>
                <a:spcPts val="0"/>
              </a:spcAft>
              <a:buSzPts val="1400"/>
              <a:buChar char="•"/>
              <a:defRPr/>
            </a:lvl6pPr>
            <a:lvl7pPr marL="4267093" lvl="6" indent="-423323" rtl="0">
              <a:spcBef>
                <a:spcPts val="533"/>
              </a:spcBef>
              <a:spcAft>
                <a:spcPts val="0"/>
              </a:spcAft>
              <a:buSzPts val="1400"/>
              <a:buChar char="•"/>
              <a:defRPr/>
            </a:lvl7pPr>
            <a:lvl8pPr marL="4876678" lvl="7" indent="-423323" rtl="0">
              <a:spcBef>
                <a:spcPts val="533"/>
              </a:spcBef>
              <a:spcAft>
                <a:spcPts val="0"/>
              </a:spcAft>
              <a:buSzPts val="1400"/>
              <a:buChar char="•"/>
              <a:defRPr/>
            </a:lvl8pPr>
            <a:lvl9pPr marL="5486263" lvl="8" indent="-423323" rtl="0">
              <a:spcBef>
                <a:spcPts val="533"/>
              </a:spcBef>
              <a:spcAft>
                <a:spcPts val="0"/>
              </a:spcAft>
              <a:buSzPts val="1400"/>
              <a:buChar char="•"/>
              <a:defRPr/>
            </a:lvl9pPr>
          </a:lstStyle>
          <a:p>
            <a:endParaRPr/>
          </a:p>
        </p:txBody>
      </p:sp>
      <p:sp>
        <p:nvSpPr>
          <p:cNvPr id="9" name="Date Placeholder 8">
            <a:extLst>
              <a:ext uri="{FF2B5EF4-FFF2-40B4-BE49-F238E27FC236}">
                <a16:creationId xmlns:a16="http://schemas.microsoft.com/office/drawing/2014/main" id="{E0664542-C72E-4EAB-A728-F66849F3443A}"/>
              </a:ext>
            </a:extLst>
          </p:cNvPr>
          <p:cNvSpPr>
            <a:spLocks noGrp="1"/>
          </p:cNvSpPr>
          <p:nvPr>
            <p:ph type="dt" idx="10"/>
          </p:nvPr>
        </p:nvSpPr>
        <p:spPr>
          <a:xfrm>
            <a:off x="8567406" y="6356351"/>
            <a:ext cx="1828345" cy="275268"/>
          </a:xfrm>
        </p:spPr>
        <p:txBody>
          <a:bodyPr/>
          <a:lstStyle>
            <a:lvl1pPr algn="r">
              <a:defRPr>
                <a:solidFill>
                  <a:srgbClr val="1F1A6C"/>
                </a:solidFill>
              </a:defRPr>
            </a:lvl1pPr>
          </a:lstStyle>
          <a:p>
            <a:fld id="{E24B3B50-9E6E-4F25-A631-8F17A7F36BEA}" type="datetime1">
              <a:rPr lang="mn-MN" smtClean="0"/>
              <a:pPr/>
              <a:t>2026.05.27</a:t>
            </a:fld>
            <a:endParaRPr lang="mn-MN"/>
          </a:p>
        </p:txBody>
      </p:sp>
      <p:sp>
        <p:nvSpPr>
          <p:cNvPr id="10" name="Footer Placeholder 9">
            <a:extLst>
              <a:ext uri="{FF2B5EF4-FFF2-40B4-BE49-F238E27FC236}">
                <a16:creationId xmlns:a16="http://schemas.microsoft.com/office/drawing/2014/main" id="{DAC78CFC-765A-4C4D-8763-00D7E687CF02}"/>
              </a:ext>
            </a:extLst>
          </p:cNvPr>
          <p:cNvSpPr>
            <a:spLocks noGrp="1"/>
          </p:cNvSpPr>
          <p:nvPr>
            <p:ph type="ftr" idx="11"/>
          </p:nvPr>
        </p:nvSpPr>
        <p:spPr>
          <a:xfrm>
            <a:off x="4038600" y="6356351"/>
            <a:ext cx="4114800" cy="275268"/>
          </a:xfrm>
        </p:spPr>
        <p:txBody>
          <a:bodyPr/>
          <a:lstStyle>
            <a:lvl1pPr>
              <a:defRPr>
                <a:solidFill>
                  <a:srgbClr val="1F1A6C"/>
                </a:solidFill>
              </a:defRPr>
            </a:lvl1pPr>
          </a:lstStyle>
          <a:p>
            <a:endParaRPr lang="en-US"/>
          </a:p>
        </p:txBody>
      </p:sp>
      <p:sp>
        <p:nvSpPr>
          <p:cNvPr id="11" name="Slide Number Placeholder 10">
            <a:extLst>
              <a:ext uri="{FF2B5EF4-FFF2-40B4-BE49-F238E27FC236}">
                <a16:creationId xmlns:a16="http://schemas.microsoft.com/office/drawing/2014/main" id="{EA66525B-5C79-4C1F-B5C9-EC0AE994134D}"/>
              </a:ext>
            </a:extLst>
          </p:cNvPr>
          <p:cNvSpPr>
            <a:spLocks noGrp="1"/>
          </p:cNvSpPr>
          <p:nvPr>
            <p:ph type="sldNum" idx="12"/>
          </p:nvPr>
        </p:nvSpPr>
        <p:spPr>
          <a:xfrm>
            <a:off x="11301274" y="6356351"/>
            <a:ext cx="475125" cy="275268"/>
          </a:xfrm>
        </p:spPr>
        <p:txBody>
          <a:bodyPr/>
          <a:lstStyle>
            <a:lvl1pPr algn="l">
              <a:defRPr>
                <a:solidFill>
                  <a:srgbClr val="1F1A6C"/>
                </a:solidFill>
              </a:defRPr>
            </a:lvl1pPr>
          </a:lstStyle>
          <a:p>
            <a:fld id="{00000000-1234-1234-1234-123412341234}" type="slidenum">
              <a:rPr lang="mn" smtClean="0"/>
              <a:pPr/>
              <a:t>‹#›</a:t>
            </a:fld>
            <a:endParaRPr lang="m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2400"/>
              <a:buFont typeface="Montserrat"/>
              <a:buNone/>
              <a:defRPr sz="2400" i="0" u="none" strike="noStrike" cap="none">
                <a:solidFill>
                  <a:schemeClr val="dk1"/>
                </a:solidFill>
                <a:latin typeface="Montserrat"/>
                <a:ea typeface="Montserrat"/>
                <a:cs typeface="Montserrat"/>
                <a:sym typeface="Montserrat"/>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Montserrat"/>
              <a:buChar char="•"/>
              <a:defRPr sz="2100" i="0" u="none" strike="noStrike" cap="none">
                <a:solidFill>
                  <a:schemeClr val="dk1"/>
                </a:solidFill>
                <a:latin typeface="Montserrat"/>
                <a:ea typeface="Montserrat"/>
                <a:cs typeface="Montserrat"/>
                <a:sym typeface="Montserrat"/>
              </a:defRPr>
            </a:lvl1pPr>
            <a:lvl2pPr marL="914400" marR="0" lvl="1" indent="-342900" algn="l" rtl="0">
              <a:lnSpc>
                <a:spcPct val="90000"/>
              </a:lnSpc>
              <a:spcBef>
                <a:spcPts val="400"/>
              </a:spcBef>
              <a:spcAft>
                <a:spcPts val="0"/>
              </a:spcAft>
              <a:buClr>
                <a:schemeClr val="dk1"/>
              </a:buClr>
              <a:buSzPts val="1800"/>
              <a:buFont typeface="Montserrat"/>
              <a:buChar char="•"/>
              <a:defRPr sz="1800" i="0" u="none" strike="noStrike" cap="none">
                <a:solidFill>
                  <a:schemeClr val="dk1"/>
                </a:solidFill>
                <a:latin typeface="Montserrat"/>
                <a:ea typeface="Montserrat"/>
                <a:cs typeface="Montserrat"/>
                <a:sym typeface="Montserrat"/>
              </a:defRPr>
            </a:lvl2pPr>
            <a:lvl3pPr marL="1371600" marR="0" lvl="2" indent="-323850" algn="l" rtl="0">
              <a:lnSpc>
                <a:spcPct val="90000"/>
              </a:lnSpc>
              <a:spcBef>
                <a:spcPts val="400"/>
              </a:spcBef>
              <a:spcAft>
                <a:spcPts val="0"/>
              </a:spcAft>
              <a:buClr>
                <a:schemeClr val="dk1"/>
              </a:buClr>
              <a:buSzPts val="1500"/>
              <a:buFont typeface="Montserrat"/>
              <a:buChar char="•"/>
              <a:defRPr sz="1500" i="0" u="none" strike="noStrike" cap="none">
                <a:solidFill>
                  <a:schemeClr val="dk1"/>
                </a:solidFill>
                <a:latin typeface="Montserrat"/>
                <a:ea typeface="Montserrat"/>
                <a:cs typeface="Montserrat"/>
                <a:sym typeface="Montserrat"/>
              </a:defRPr>
            </a:lvl3pPr>
            <a:lvl4pPr marL="1828800" marR="0" lvl="3"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4pPr>
            <a:lvl5pPr marL="2286000" marR="0" lvl="4"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5pPr>
            <a:lvl6pPr marL="2743200" marR="0" lvl="5"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6pPr>
            <a:lvl7pPr marL="3200400" marR="0" lvl="6"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7pPr>
            <a:lvl8pPr marL="3657600" marR="0" lvl="7"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8pPr>
            <a:lvl9pPr marL="4114800" marR="0" lvl="8" indent="-317500" algn="l" rtl="0">
              <a:lnSpc>
                <a:spcPct val="90000"/>
              </a:lnSpc>
              <a:spcBef>
                <a:spcPts val="400"/>
              </a:spcBef>
              <a:spcAft>
                <a:spcPts val="0"/>
              </a:spcAft>
              <a:buClr>
                <a:schemeClr val="dk1"/>
              </a:buClr>
              <a:buSzPts val="1400"/>
              <a:buFont typeface="Montserrat"/>
              <a:buChar char="•"/>
              <a:defRPr sz="1400" i="0" u="none" strike="noStrike" cap="none">
                <a:solidFill>
                  <a:schemeClr val="dk1"/>
                </a:solidFill>
                <a:latin typeface="Montserrat"/>
                <a:ea typeface="Montserrat"/>
                <a:cs typeface="Montserrat"/>
                <a:sym typeface="Montserrat"/>
              </a:defRPr>
            </a:lvl9pPr>
          </a:lstStyle>
          <a:p>
            <a:endParaRPr/>
          </a:p>
        </p:txBody>
      </p:sp>
      <p:sp>
        <p:nvSpPr>
          <p:cNvPr id="8" name="Google Shape;8;p1"/>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9pPr>
          </a:lstStyle>
          <a:p>
            <a:fld id="{C013C0A4-16F6-4724-B6F9-DF527348F887}" type="datetime1">
              <a:rPr lang="mn-MN" smtClean="0"/>
              <a:t>2026.05.27</a:t>
            </a:fld>
            <a:endParaRPr/>
          </a:p>
        </p:txBody>
      </p:sp>
      <p:sp>
        <p:nvSpPr>
          <p:cNvPr id="9" name="Google Shape;9;p1"/>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m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tangle 1"/>
          <p:cNvSpPr/>
          <p:nvPr/>
        </p:nvSpPr>
        <p:spPr>
          <a:xfrm>
            <a:off x="898064" y="5813013"/>
            <a:ext cx="10093378" cy="369332"/>
          </a:xfrm>
          <a:prstGeom prst="rect">
            <a:avLst/>
          </a:prstGeom>
        </p:spPr>
        <p:txBody>
          <a:bodyPr wrap="square" lIns="91440" tIns="45720" rIns="91440" bIns="45720" anchor="t">
            <a:spAutoFit/>
          </a:bodyPr>
          <a:lstStyle/>
          <a:p>
            <a:pPr algn="ctr"/>
            <a:r>
              <a:rPr lang="mn-MN" b="1">
                <a:solidFill>
                  <a:srgbClr val="1F1A6C"/>
                </a:solidFill>
                <a:latin typeface="Open Sans"/>
                <a:ea typeface="Open Sans"/>
                <a:cs typeface="Open Sans"/>
                <a:sym typeface="Montserrat"/>
              </a:rPr>
              <a:t>Улаанбаатар 2026 он</a:t>
            </a:r>
            <a:endParaRPr lang="en-GB">
              <a:latin typeface="Open Sans"/>
              <a:ea typeface="Open Sans"/>
              <a:cs typeface="Open Sans"/>
            </a:endParaRPr>
          </a:p>
        </p:txBody>
      </p:sp>
      <p:sp>
        <p:nvSpPr>
          <p:cNvPr id="3" name="Subtitle 2">
            <a:extLst>
              <a:ext uri="{FF2B5EF4-FFF2-40B4-BE49-F238E27FC236}">
                <a16:creationId xmlns:a16="http://schemas.microsoft.com/office/drawing/2014/main" id="{0817932B-FBE3-4CCB-BF21-09F903A50E1B}"/>
              </a:ext>
            </a:extLst>
          </p:cNvPr>
          <p:cNvSpPr>
            <a:spLocks noGrp="1"/>
          </p:cNvSpPr>
          <p:nvPr>
            <p:ph type="subTitle" idx="1"/>
          </p:nvPr>
        </p:nvSpPr>
        <p:spPr>
          <a:xfrm>
            <a:off x="898064" y="4089120"/>
            <a:ext cx="10093378" cy="1544764"/>
          </a:xfrm>
        </p:spPr>
        <p:txBody>
          <a:bodyPr/>
          <a:lstStyle/>
          <a:p>
            <a:pPr algn="just"/>
            <a:r>
              <a:rPr lang="mn-MN" sz="1600" dirty="0">
                <a:solidFill>
                  <a:schemeClr val="tx1"/>
                </a:solidFill>
                <a:latin typeface="Open Sans"/>
                <a:ea typeface="Open Sans"/>
                <a:cs typeface="Open Sans"/>
              </a:rPr>
              <a:t>Удирдагч багш: Б</a:t>
            </a:r>
            <a:r>
              <a:rPr lang="en-US" sz="1600" dirty="0">
                <a:solidFill>
                  <a:schemeClr val="tx1"/>
                </a:solidFill>
                <a:latin typeface="Open Sans"/>
                <a:ea typeface="Open Sans"/>
                <a:cs typeface="Open Sans"/>
              </a:rPr>
              <a:t>.</a:t>
            </a:r>
            <a:r>
              <a:rPr lang="mn-MN" sz="1600" dirty="0">
                <a:solidFill>
                  <a:schemeClr val="tx1"/>
                </a:solidFill>
                <a:latin typeface="Open Sans"/>
                <a:ea typeface="Open Sans"/>
                <a:cs typeface="Open Sans"/>
              </a:rPr>
              <a:t>Мөнхбуян</a:t>
            </a:r>
          </a:p>
          <a:p>
            <a:pPr algn="just"/>
            <a:r>
              <a:rPr lang="mn-MN" sz="1600" dirty="0">
                <a:solidFill>
                  <a:schemeClr val="tx1"/>
                </a:solidFill>
                <a:latin typeface="Open Sans"/>
                <a:ea typeface="Open Sans"/>
                <a:cs typeface="Open Sans"/>
              </a:rPr>
              <a:t>Зөвлөх багш: Д</a:t>
            </a:r>
            <a:r>
              <a:rPr lang="en-US" sz="1600" dirty="0">
                <a:solidFill>
                  <a:schemeClr val="tx1"/>
                </a:solidFill>
                <a:latin typeface="Open Sans"/>
                <a:ea typeface="Open Sans"/>
                <a:cs typeface="Open Sans"/>
              </a:rPr>
              <a:t>.</a:t>
            </a:r>
            <a:r>
              <a:rPr lang="mn-MN" sz="1600" dirty="0">
                <a:solidFill>
                  <a:schemeClr val="tx1"/>
                </a:solidFill>
                <a:latin typeface="Open Sans"/>
                <a:ea typeface="Open Sans"/>
                <a:cs typeface="Open Sans"/>
              </a:rPr>
              <a:t>Сарангэрэл</a:t>
            </a:r>
            <a:endParaRPr lang="en-US" sz="1600" dirty="0">
              <a:solidFill>
                <a:schemeClr val="tx1"/>
              </a:solidFill>
              <a:latin typeface="Open Sans"/>
              <a:ea typeface="Open Sans"/>
              <a:cs typeface="Open Sans"/>
            </a:endParaRPr>
          </a:p>
          <a:p>
            <a:pPr algn="just"/>
            <a:endParaRPr lang="mn-MN" sz="1600" dirty="0">
              <a:solidFill>
                <a:schemeClr val="tx1"/>
              </a:solidFill>
              <a:latin typeface="Open Sans"/>
              <a:ea typeface="Open Sans"/>
              <a:cs typeface="Open Sans"/>
            </a:endParaRPr>
          </a:p>
        </p:txBody>
      </p:sp>
      <p:sp>
        <p:nvSpPr>
          <p:cNvPr id="7" name="Rectangle 6">
            <a:extLst>
              <a:ext uri="{FF2B5EF4-FFF2-40B4-BE49-F238E27FC236}">
                <a16:creationId xmlns:a16="http://schemas.microsoft.com/office/drawing/2014/main" id="{D5CCAAE7-814B-49F7-86A3-D1CC9907C49D}"/>
              </a:ext>
            </a:extLst>
          </p:cNvPr>
          <p:cNvSpPr/>
          <p:nvPr/>
        </p:nvSpPr>
        <p:spPr>
          <a:xfrm>
            <a:off x="898064" y="1761963"/>
            <a:ext cx="10093378" cy="707886"/>
          </a:xfrm>
          <a:prstGeom prst="rect">
            <a:avLst/>
          </a:prstGeom>
        </p:spPr>
        <p:txBody>
          <a:bodyPr wrap="square" lIns="91440" tIns="45720" rIns="91440" bIns="45720" anchor="t">
            <a:spAutoFit/>
          </a:bodyPr>
          <a:lstStyle/>
          <a:p>
            <a:r>
              <a:rPr lang="mn-MN" sz="2000" dirty="0"/>
              <a:t>Нийгмийн сүлжээний өгөгдлийн автомат цуглуулга ба таамаглалт шинжилгээний систем</a:t>
            </a:r>
            <a:endParaRPr lang="mn-MN" sz="2000" dirty="0">
              <a:latin typeface="Open Sans"/>
              <a:ea typeface="Open Sans"/>
              <a:cs typeface="Open Sans"/>
            </a:endParaRPr>
          </a:p>
        </p:txBody>
      </p:sp>
      <p:sp>
        <p:nvSpPr>
          <p:cNvPr id="5" name="TextBox 4">
            <a:extLst>
              <a:ext uri="{FF2B5EF4-FFF2-40B4-BE49-F238E27FC236}">
                <a16:creationId xmlns:a16="http://schemas.microsoft.com/office/drawing/2014/main" id="{495E13AB-FD1F-4AF4-1FEE-08A8D3E462A1}"/>
              </a:ext>
            </a:extLst>
          </p:cNvPr>
          <p:cNvSpPr txBox="1"/>
          <p:nvPr/>
        </p:nvSpPr>
        <p:spPr>
          <a:xfrm>
            <a:off x="898064" y="2626854"/>
            <a:ext cx="6096000" cy="1477328"/>
          </a:xfrm>
          <a:prstGeom prst="rect">
            <a:avLst/>
          </a:prstGeom>
          <a:noFill/>
        </p:spPr>
        <p:txBody>
          <a:bodyPr wrap="square">
            <a:spAutoFit/>
          </a:bodyPr>
          <a:lstStyle/>
          <a:p>
            <a:r>
              <a:rPr lang="en-US" dirty="0"/>
              <a:t>Sentiment Analysis </a:t>
            </a:r>
            <a:r>
              <a:rPr lang="mn-MN" dirty="0"/>
              <a:t>ба ойролцоогоор хэрэглэгч оролцооны таамаглал </a:t>
            </a:r>
            <a:endParaRPr lang="en-US" dirty="0"/>
          </a:p>
          <a:p>
            <a:endParaRPr lang="en-US" dirty="0"/>
          </a:p>
          <a:p>
            <a:r>
              <a:rPr lang="ru-RU" i="1" dirty="0"/>
              <a:t>Оюутан:</a:t>
            </a:r>
            <a:r>
              <a:rPr lang="ru-RU" dirty="0"/>
              <a:t> Ө.Хүслэ</a:t>
            </a:r>
            <a:r>
              <a:rPr lang="mn-MN" dirty="0"/>
              <a:t>н</a:t>
            </a:r>
            <a:br>
              <a:rPr lang="mn-MN" dirty="0"/>
            </a:br>
            <a:endParaRPr lang="en-US" dirty="0"/>
          </a:p>
        </p:txBody>
      </p:sp>
    </p:spTree>
    <p:extLst>
      <p:ext uri="{BB962C8B-B14F-4D97-AF65-F5344CB8AC3E}">
        <p14:creationId xmlns:p14="http://schemas.microsoft.com/office/powerpoint/2010/main" val="120952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4800" b="1" dirty="0">
                <a:solidFill>
                  <a:srgbClr val="003366"/>
                </a:solidFill>
              </a:rPr>
              <a:t>АГУУЛГА</a:t>
            </a:r>
            <a:endParaRPr lang="en-US" sz="4800" b="1" cap="all" dirty="0">
              <a:latin typeface="Times New Roman"/>
              <a:cs typeface="Times New Roman"/>
            </a:endParaRPr>
          </a:p>
        </p:txBody>
      </p:sp>
      <p:sp>
        <p:nvSpPr>
          <p:cNvPr id="3" name="Content Placeholder 5">
            <a:extLst>
              <a:ext uri="{FF2B5EF4-FFF2-40B4-BE49-F238E27FC236}">
                <a16:creationId xmlns:a16="http://schemas.microsoft.com/office/drawing/2014/main" id="{5F56F0A5-7DDB-4E24-A152-6CC272AA5BFA}"/>
              </a:ext>
            </a:extLst>
          </p:cNvPr>
          <p:cNvSpPr txBox="1">
            <a:spLocks/>
          </p:cNvSpPr>
          <p:nvPr/>
        </p:nvSpPr>
        <p:spPr>
          <a:xfrm>
            <a:off x="484441" y="1030257"/>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a:defRPr sz="2000"/>
            </a:pPr>
            <a:r>
              <a:rPr lang="mn-MN" sz="2400" dirty="0"/>
              <a:t>Судалгааны үндэслэл</a:t>
            </a:r>
          </a:p>
          <a:p>
            <a:pPr>
              <a:defRPr sz="2000"/>
            </a:pPr>
            <a:r>
              <a:rPr lang="mn-MN" sz="2400" dirty="0"/>
              <a:t>Системийн зорилго</a:t>
            </a:r>
          </a:p>
          <a:p>
            <a:pPr>
              <a:defRPr sz="2000"/>
            </a:pPr>
            <a:r>
              <a:rPr lang="mn-MN" sz="2400" dirty="0"/>
              <a:t>Системийн архитектур</a:t>
            </a:r>
          </a:p>
          <a:p>
            <a:pPr>
              <a:defRPr sz="2000"/>
            </a:pPr>
            <a:r>
              <a:rPr lang="mn-MN" sz="2400" dirty="0"/>
              <a:t>Технологийн сонголт</a:t>
            </a:r>
          </a:p>
          <a:p>
            <a:pPr>
              <a:defRPr sz="2000"/>
            </a:pPr>
            <a:r>
              <a:rPr lang="mn-MN" sz="2400" dirty="0"/>
              <a:t>Өгөгдлийн урсгал</a:t>
            </a:r>
          </a:p>
          <a:p>
            <a:pPr>
              <a:defRPr sz="2000"/>
            </a:pPr>
            <a:r>
              <a:rPr lang="en-US" sz="2400" dirty="0"/>
              <a:t>Frontend / Backend</a:t>
            </a:r>
          </a:p>
          <a:p>
            <a:pPr>
              <a:defRPr sz="2000"/>
            </a:pPr>
            <a:r>
              <a:rPr lang="en-US" sz="2400" dirty="0"/>
              <a:t>Analysis </a:t>
            </a:r>
            <a:r>
              <a:rPr lang="mn-MN" sz="2400" dirty="0"/>
              <a:t>ба </a:t>
            </a:r>
            <a:r>
              <a:rPr lang="en-US" sz="2400" dirty="0"/>
              <a:t>AI Report</a:t>
            </a:r>
          </a:p>
          <a:p>
            <a:pPr>
              <a:defRPr sz="2000"/>
            </a:pPr>
            <a:r>
              <a:rPr lang="en-US" sz="2400" dirty="0"/>
              <a:t>UML </a:t>
            </a:r>
            <a:r>
              <a:rPr lang="mn-MN" sz="2400" dirty="0"/>
              <a:t>диаграммууд</a:t>
            </a:r>
          </a:p>
          <a:p>
            <a:pPr>
              <a:defRPr sz="2000"/>
            </a:pPr>
            <a:r>
              <a:rPr lang="mn-MN" sz="2400" dirty="0"/>
              <a:t>Дүгнэлт</a:t>
            </a:r>
          </a:p>
        </p:txBody>
      </p:sp>
      <p:sp>
        <p:nvSpPr>
          <p:cNvPr id="5" name="Date Placeholder 4">
            <a:extLst>
              <a:ext uri="{FF2B5EF4-FFF2-40B4-BE49-F238E27FC236}">
                <a16:creationId xmlns:a16="http://schemas.microsoft.com/office/drawing/2014/main" id="{9E37FB82-DA6F-4CA4-901A-AD84B4FE826F}"/>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8F11E433-E459-4D20-8C8C-B99839EED0AE}"/>
              </a:ext>
            </a:extLst>
          </p:cNvPr>
          <p:cNvSpPr>
            <a:spLocks noGrp="1"/>
          </p:cNvSpPr>
          <p:nvPr>
            <p:ph type="sldNum" idx="12"/>
          </p:nvPr>
        </p:nvSpPr>
        <p:spPr/>
        <p:txBody>
          <a:bodyPr/>
          <a:lstStyle/>
          <a:p>
            <a:fld id="{00000000-1234-1234-1234-123412341234}" type="slidenum">
              <a:rPr lang="mn" smtClean="0"/>
              <a:pPr/>
              <a:t>2</a:t>
            </a:fld>
            <a:endParaRPr lang="mn"/>
          </a:p>
        </p:txBody>
      </p:sp>
    </p:spTree>
    <p:extLst>
      <p:ext uri="{BB962C8B-B14F-4D97-AF65-F5344CB8AC3E}">
        <p14:creationId xmlns:p14="http://schemas.microsoft.com/office/powerpoint/2010/main" val="81655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584DFA99-F96E-CCA4-7DD7-176333D11642}"/>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273E6F87-6D34-1783-A3B4-43A161F79259}"/>
              </a:ext>
            </a:extLst>
          </p:cNvPr>
          <p:cNvSpPr txBox="1">
            <a:spLocks noGrp="1"/>
          </p:cNvSpPr>
          <p:nvPr>
            <p:ph type="title"/>
          </p:nvPr>
        </p:nvSpPr>
        <p:spPr>
          <a:xfrm>
            <a:off x="884903" y="281177"/>
            <a:ext cx="11538478" cy="714439"/>
          </a:xfrm>
          <a:prstGeom prst="rect">
            <a:avLst/>
          </a:prstGeom>
        </p:spPr>
        <p:txBody>
          <a:bodyPr spcFirstLastPara="1" wrap="square" lIns="91433" tIns="45700" rIns="91433" bIns="45700" anchor="ctr" anchorCtr="0">
            <a:noAutofit/>
          </a:bodyPr>
          <a:lstStyle/>
          <a:p>
            <a:pPr lvl="0">
              <a:lnSpc>
                <a:spcPct val="120000"/>
              </a:lnSpc>
              <a:buClr>
                <a:srgbClr val="000000"/>
              </a:buClr>
              <a:buSzPts val="3600"/>
            </a:pPr>
            <a:r>
              <a:rPr lang="mn-MN" b="1" dirty="0">
                <a:solidFill>
                  <a:srgbClr val="003366"/>
                </a:solidFill>
              </a:rPr>
              <a:t>СУДАЛГААНЫ ҮНДЭСЛЭЛ</a:t>
            </a:r>
            <a:endParaRPr lang="mn-MN" dirty="0">
              <a:solidFill>
                <a:srgbClr val="000000"/>
              </a:solidFill>
              <a:latin typeface="Arial"/>
              <a:ea typeface="Arial"/>
              <a:cs typeface="Arial"/>
              <a:sym typeface="Arial"/>
            </a:endParaRPr>
          </a:p>
        </p:txBody>
      </p:sp>
      <p:sp>
        <p:nvSpPr>
          <p:cNvPr id="3" name="Content Placeholder 5">
            <a:extLst>
              <a:ext uri="{FF2B5EF4-FFF2-40B4-BE49-F238E27FC236}">
                <a16:creationId xmlns:a16="http://schemas.microsoft.com/office/drawing/2014/main" id="{38ED6934-59CC-84B2-B436-2340FF7A6D76}"/>
              </a:ext>
            </a:extLst>
          </p:cNvPr>
          <p:cNvSpPr txBox="1">
            <a:spLocks/>
          </p:cNvSpPr>
          <p:nvPr/>
        </p:nvSpPr>
        <p:spPr>
          <a:xfrm>
            <a:off x="572931" y="701827"/>
            <a:ext cx="8738218" cy="5454345"/>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endParaRPr lang="mn-MN" sz="800" dirty="0"/>
          </a:p>
        </p:txBody>
      </p:sp>
      <p:sp>
        <p:nvSpPr>
          <p:cNvPr id="5" name="Date Placeholder 4">
            <a:extLst>
              <a:ext uri="{FF2B5EF4-FFF2-40B4-BE49-F238E27FC236}">
                <a16:creationId xmlns:a16="http://schemas.microsoft.com/office/drawing/2014/main" id="{F52DD374-26E2-44BD-A07F-DB14D73EA8F6}"/>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6D1C0F1B-351D-F43D-0FDA-286F78FDBFD3}"/>
              </a:ext>
            </a:extLst>
          </p:cNvPr>
          <p:cNvSpPr>
            <a:spLocks noGrp="1"/>
          </p:cNvSpPr>
          <p:nvPr>
            <p:ph type="sldNum" idx="12"/>
          </p:nvPr>
        </p:nvSpPr>
        <p:spPr/>
        <p:txBody>
          <a:bodyPr/>
          <a:lstStyle/>
          <a:p>
            <a:fld id="{00000000-1234-1234-1234-123412341234}" type="slidenum">
              <a:rPr lang="mn" smtClean="0"/>
              <a:pPr/>
              <a:t>3</a:t>
            </a:fld>
            <a:endParaRPr lang="mn"/>
          </a:p>
        </p:txBody>
      </p:sp>
    </p:spTree>
    <p:extLst>
      <p:ext uri="{BB962C8B-B14F-4D97-AF65-F5344CB8AC3E}">
        <p14:creationId xmlns:p14="http://schemas.microsoft.com/office/powerpoint/2010/main" val="108106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12B21E34-95B9-DBF7-ADC1-8964BB25736C}"/>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0E2A42B5-7BED-1A8E-8B02-F2A9CD0BA178}"/>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СИСТЕМИЙН ЗОРИЛГО</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ED592E83-69E1-8EE6-BC83-A612DCA01D6C}"/>
              </a:ext>
            </a:extLst>
          </p:cNvPr>
          <p:cNvSpPr txBox="1">
            <a:spLocks/>
          </p:cNvSpPr>
          <p:nvPr/>
        </p:nvSpPr>
        <p:spPr>
          <a:xfrm>
            <a:off x="484441" y="1030257"/>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1100" b="1" dirty="0"/>
              <a:t>Системийн Зорилго</a:t>
            </a:r>
            <a:endParaRPr lang="mn-MN" sz="1100" dirty="0"/>
          </a:p>
          <a:p>
            <a:r>
              <a:rPr lang="mn-MN" sz="1100" b="1" dirty="0"/>
              <a:t>Ерөнхий зорилго:</a:t>
            </a:r>
            <a:r>
              <a:rPr lang="mn-MN" sz="1100" dirty="0"/>
              <a:t> Олон нийтийн сүлжээний Монгол хэл дээрх өгөгдлийг цуглуулж, боловсруулж, текстийн хандлагыг автоматжуулсан аргаар дүгнэх, тэдгээр үр дүнг шийдвэр гаргахад ашиглахуйц тайлан болон визуалчлал болгон хэрэглэхэд чиглэсэн цогц систем хөгжүүлэх.</a:t>
            </a:r>
          </a:p>
          <a:p>
            <a:r>
              <a:rPr lang="mn-MN" sz="1100" b="1" dirty="0"/>
              <a:t>Өгөгдөл цуглуулах зорилго:</a:t>
            </a:r>
            <a:r>
              <a:rPr lang="mn-MN" sz="1100" dirty="0"/>
              <a:t> Олон нийтийн сүлжээ (</a:t>
            </a:r>
            <a:r>
              <a:rPr lang="en-US" sz="1100" dirty="0"/>
              <a:t>Facebook, X </a:t>
            </a:r>
            <a:r>
              <a:rPr lang="mn-MN" sz="1100" dirty="0"/>
              <a:t>зэрэг)–ээс тогтмол, найдвартай өгөгдөл цуглуулж, </a:t>
            </a:r>
            <a:r>
              <a:rPr lang="en-US" sz="1100" dirty="0"/>
              <a:t>ETL </a:t>
            </a:r>
            <a:r>
              <a:rPr lang="mn-MN" sz="1100" dirty="0"/>
              <a:t>процессоор өгөгдлийг цэвэрлэн хадгалах.</a:t>
            </a:r>
          </a:p>
          <a:p>
            <a:r>
              <a:rPr lang="en-US" sz="1100" b="1" dirty="0"/>
              <a:t>NLP/ML </a:t>
            </a:r>
            <a:r>
              <a:rPr lang="mn-MN" sz="1100" b="1" dirty="0"/>
              <a:t>зорилго:</a:t>
            </a:r>
            <a:r>
              <a:rPr lang="mn-MN" sz="1100" dirty="0"/>
              <a:t> Монгол хэлний онцлогт тохирсон гибрид хандлагын ангиллын механизм (</a:t>
            </a:r>
            <a:r>
              <a:rPr lang="en-US" sz="1100" dirty="0" err="1"/>
              <a:t>TextBlob</a:t>
            </a:r>
            <a:r>
              <a:rPr lang="en-US" sz="1100" dirty="0"/>
              <a:t>/scikit-learn + keyword fallback) </a:t>
            </a:r>
            <a:r>
              <a:rPr lang="mn-MN" sz="1100" dirty="0"/>
              <a:t>боловсруулж, текстийг </a:t>
            </a:r>
            <a:r>
              <a:rPr lang="en-US" sz="1100" dirty="0"/>
              <a:t>Positive/Negative/Neutral </a:t>
            </a:r>
            <a:r>
              <a:rPr lang="mn-MN" sz="1100" dirty="0"/>
              <a:t>ангилалд өндөр найдвартайгаар ангилах.</a:t>
            </a:r>
          </a:p>
          <a:p>
            <a:r>
              <a:rPr lang="en-US" sz="1100" b="1" dirty="0"/>
              <a:t>AI </a:t>
            </a:r>
            <a:r>
              <a:rPr lang="mn-MN" sz="1100" b="1" dirty="0"/>
              <a:t>тайлагнах зорилго:</a:t>
            </a:r>
            <a:r>
              <a:rPr lang="mn-MN" sz="1100" dirty="0"/>
              <a:t> Том хэлний загварыг (</a:t>
            </a:r>
            <a:r>
              <a:rPr lang="en-US" sz="1100" dirty="0"/>
              <a:t>Google Gemini) </a:t>
            </a:r>
            <a:r>
              <a:rPr lang="mn-MN" sz="1100" dirty="0"/>
              <a:t>интеграцлан аналитик тоон үзүүлэлт дээр тулгуурласан хүний хэлээр тайлбарласан, </a:t>
            </a:r>
            <a:r>
              <a:rPr lang="en-US" sz="1100" dirty="0"/>
              <a:t>actionable </a:t>
            </a:r>
            <a:r>
              <a:rPr lang="mn-MN" sz="1100" dirty="0"/>
              <a:t>тайлан үүсгэх функциональ байдал бий болгох.</a:t>
            </a:r>
          </a:p>
          <a:p>
            <a:r>
              <a:rPr lang="mn-MN" sz="1100" b="1" dirty="0"/>
              <a:t>Визуалчлал ба хэрэглэгчийн интерфейс зорилго:</a:t>
            </a:r>
            <a:r>
              <a:rPr lang="mn-MN" sz="1100" dirty="0"/>
              <a:t> Хэрэглэгчдэд ойлгомжтой, хурдан нэвтрэх боломжтой </a:t>
            </a:r>
            <a:r>
              <a:rPr lang="en-US" sz="1100" dirty="0"/>
              <a:t>dashboard </a:t>
            </a:r>
            <a:r>
              <a:rPr lang="mn-MN" sz="1100" dirty="0"/>
              <a:t>боловсруулж, аналитик үр дүн болон тайланг интерактив график хэлбэрээр үзүүлэх.</a:t>
            </a:r>
          </a:p>
          <a:p>
            <a:r>
              <a:rPr lang="mn-MN" sz="1100" b="1" dirty="0"/>
              <a:t>Үйл ажиллагаа ба найдвартай байдал:</a:t>
            </a:r>
            <a:r>
              <a:rPr lang="mn-MN" sz="1100" dirty="0"/>
              <a:t> Системийн хурд (</a:t>
            </a:r>
            <a:r>
              <a:rPr lang="en-US" sz="1100" dirty="0"/>
              <a:t>latency), </a:t>
            </a:r>
            <a:r>
              <a:rPr lang="mn-MN" sz="1100" dirty="0"/>
              <a:t>дамжуулалтын чадвар (</a:t>
            </a:r>
            <a:r>
              <a:rPr lang="en-US" sz="1100" dirty="0"/>
              <a:t>throughput), </a:t>
            </a:r>
            <a:r>
              <a:rPr lang="mn-MN" sz="1100" dirty="0"/>
              <a:t>болон тасралтгүй ажиллагааг хангах (</a:t>
            </a:r>
            <a:r>
              <a:rPr lang="en-US" sz="1100" dirty="0"/>
              <a:t>availability, retry/fallback) </a:t>
            </a:r>
            <a:r>
              <a:rPr lang="mn-MN" sz="1100" dirty="0"/>
              <a:t>инженерийн шийдлийг нэвтрүүлэх.</a:t>
            </a:r>
          </a:p>
          <a:p>
            <a:r>
              <a:rPr lang="mn-MN" sz="1100" b="1" dirty="0"/>
              <a:t>Үнэлгээ ба баталгаажуулалт:</a:t>
            </a:r>
            <a:r>
              <a:rPr lang="mn-MN" sz="1100" dirty="0"/>
              <a:t> Моделын үнэн зөвлөлт (</a:t>
            </a:r>
            <a:r>
              <a:rPr lang="en-US" sz="1100" dirty="0"/>
              <a:t>accuracy, precision, recall), </a:t>
            </a:r>
            <a:r>
              <a:rPr lang="mn-MN" sz="1100" dirty="0"/>
              <a:t>системийн гүйцэтгэл, болон хэрэглэгчийн мэдээлэл хэрэгцээнд нийцэхүйг бодит өгөгдлөөр туршиж үнэлэх.</a:t>
            </a:r>
          </a:p>
          <a:p>
            <a:r>
              <a:rPr lang="mn-MN" sz="1100" b="1" dirty="0"/>
              <a:t>Практик нөлөө:</a:t>
            </a:r>
            <a:r>
              <a:rPr lang="mn-MN" sz="1100" dirty="0"/>
              <a:t> Байгууллага, маркетинг, судалгаа зэрэг хэрэглэгчдэд сошиал орчин дахь хандлагыг хурдан илрүүлэх, шийдвэр гаргахад дэмжлэг үзүүлэх хэрэгслийг нийлүүлэх.</a:t>
            </a:r>
          </a:p>
        </p:txBody>
      </p:sp>
      <p:sp>
        <p:nvSpPr>
          <p:cNvPr id="5" name="Date Placeholder 4">
            <a:extLst>
              <a:ext uri="{FF2B5EF4-FFF2-40B4-BE49-F238E27FC236}">
                <a16:creationId xmlns:a16="http://schemas.microsoft.com/office/drawing/2014/main" id="{3A26208D-3E62-7F6A-E42D-A6D74C04B5B9}"/>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C98EED51-DE9C-726A-6CFB-553894D289F6}"/>
              </a:ext>
            </a:extLst>
          </p:cNvPr>
          <p:cNvSpPr>
            <a:spLocks noGrp="1"/>
          </p:cNvSpPr>
          <p:nvPr>
            <p:ph type="sldNum" idx="12"/>
          </p:nvPr>
        </p:nvSpPr>
        <p:spPr/>
        <p:txBody>
          <a:bodyPr/>
          <a:lstStyle/>
          <a:p>
            <a:fld id="{00000000-1234-1234-1234-123412341234}" type="slidenum">
              <a:rPr lang="mn" smtClean="0"/>
              <a:pPr/>
              <a:t>4</a:t>
            </a:fld>
            <a:endParaRPr lang="mn"/>
          </a:p>
        </p:txBody>
      </p:sp>
    </p:spTree>
    <p:extLst>
      <p:ext uri="{BB962C8B-B14F-4D97-AF65-F5344CB8AC3E}">
        <p14:creationId xmlns:p14="http://schemas.microsoft.com/office/powerpoint/2010/main" val="2780544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E38BBDE6-8C3F-3377-6DE0-BDA2D0AF95D4}"/>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2A1F8B28-1224-5796-878C-DD04D2132AEE}"/>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СИСТЕМИЙН ҮНДСЭН ЗОРИЛТ</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4F40A3FC-0ACB-8CD6-3618-D94D419CB45F}"/>
              </a:ext>
            </a:extLst>
          </p:cNvPr>
          <p:cNvSpPr txBox="1">
            <a:spLocks/>
          </p:cNvSpPr>
          <p:nvPr/>
        </p:nvSpPr>
        <p:spPr>
          <a:xfrm>
            <a:off x="484441" y="1030257"/>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1400" b="1" dirty="0"/>
              <a:t>Ерөнхий зорилт:</a:t>
            </a:r>
            <a:r>
              <a:rPr lang="mn-MN" sz="1400" dirty="0"/>
              <a:t> Олон нийтийн сүлжээний Монгол хэл дээрх өгөгдлийг цуглуулж, боловсруулж, хэрэглэгчдийн сэтгэл хөдлөл, хандлагыг автоматжуулсан аргаар тодорхойлж, шийдвэр гаргагчдад ашигтай тайлан болгон өгөх.</a:t>
            </a:r>
          </a:p>
          <a:p>
            <a:r>
              <a:rPr lang="mn-MN" sz="1400" b="1" dirty="0"/>
              <a:t>Өгөгдөл менежмент:</a:t>
            </a:r>
            <a:r>
              <a:rPr lang="mn-MN" sz="1400" dirty="0"/>
              <a:t> Тогтмол, найдвартай веб-скрейпинг болон </a:t>
            </a:r>
            <a:r>
              <a:rPr lang="en-US" sz="1400" dirty="0"/>
              <a:t>ETL </a:t>
            </a:r>
            <a:r>
              <a:rPr lang="mn-MN" sz="1400" dirty="0"/>
              <a:t>процессээр өгөгдлийг цэвэрлэн, өгөгдлийн санд хадгалж, аналитикад бэлэн болгох.</a:t>
            </a:r>
          </a:p>
          <a:p>
            <a:r>
              <a:rPr lang="mn-MN" sz="1400" b="1" dirty="0"/>
              <a:t>Аналитик зорилт:</a:t>
            </a:r>
            <a:r>
              <a:rPr lang="mn-MN" sz="1400" dirty="0"/>
              <a:t> Монгол хэлний онцлогт нийцсэн гибрид </a:t>
            </a:r>
            <a:r>
              <a:rPr lang="en-US" sz="1400" dirty="0"/>
              <a:t>NLP/ML </a:t>
            </a:r>
            <a:r>
              <a:rPr lang="mn-MN" sz="1400" dirty="0"/>
              <a:t>аргаар (</a:t>
            </a:r>
            <a:r>
              <a:rPr lang="en-US" sz="1400" dirty="0" err="1"/>
              <a:t>TextBlob</a:t>
            </a:r>
            <a:r>
              <a:rPr lang="en-US" sz="1400" dirty="0"/>
              <a:t> + scikit-learn + keyword fallback) </a:t>
            </a:r>
            <a:r>
              <a:rPr lang="mn-MN" sz="1400" dirty="0"/>
              <a:t>текстийн хандлагыг өндөр найдвартайгаар ангилах.</a:t>
            </a:r>
          </a:p>
          <a:p>
            <a:r>
              <a:rPr lang="en-US" sz="1400" b="1" dirty="0"/>
              <a:t>AI </a:t>
            </a:r>
            <a:r>
              <a:rPr lang="mn-MN" sz="1400" b="1" dirty="0"/>
              <a:t>тайлагнах зорилт:</a:t>
            </a:r>
            <a:r>
              <a:rPr lang="mn-MN" sz="1400" dirty="0"/>
              <a:t> Том хэлний загвар (</a:t>
            </a:r>
            <a:r>
              <a:rPr lang="en-US" sz="1400" dirty="0"/>
              <a:t>Google Gemini) </a:t>
            </a:r>
            <a:r>
              <a:rPr lang="mn-MN" sz="1400" dirty="0"/>
              <a:t>ашиглан тоон статистик дээр тулгуурласан, хүний хэлтэй зохицсон, </a:t>
            </a:r>
            <a:r>
              <a:rPr lang="en-US" sz="1400" dirty="0"/>
              <a:t>actionable </a:t>
            </a:r>
            <a:r>
              <a:rPr lang="mn-MN" sz="1400" dirty="0"/>
              <a:t>тайлан автоматаар үүсгэх.</a:t>
            </a:r>
          </a:p>
          <a:p>
            <a:r>
              <a:rPr lang="mn-MN" sz="1400" b="1" dirty="0"/>
              <a:t>Интерфейс ба визуалчлал:</a:t>
            </a:r>
            <a:r>
              <a:rPr lang="mn-MN" sz="1400" dirty="0"/>
              <a:t> Хэрэглэгчдэд ойлгомжтой </a:t>
            </a:r>
            <a:r>
              <a:rPr lang="en-US" sz="1400" dirty="0"/>
              <a:t>dashboard-</a:t>
            </a:r>
            <a:r>
              <a:rPr lang="mn-MN" sz="1400" dirty="0"/>
              <a:t>ыг бүтээж, аналитик үр дүн, диаграмм, тайланг интерактив байдлаар харуулах.</a:t>
            </a:r>
          </a:p>
          <a:p>
            <a:r>
              <a:rPr lang="mn-MN" sz="1400" b="1" dirty="0"/>
              <a:t>Найдвартай байдал ба гүйцэтгэл:</a:t>
            </a:r>
            <a:r>
              <a:rPr lang="mn-MN" sz="1400" dirty="0"/>
              <a:t> Системийн латенси, дамжуулалтын чадвар, тасралтгүй үйл ажиллагааг хангах </a:t>
            </a:r>
            <a:r>
              <a:rPr lang="en-US" sz="1400" dirty="0"/>
              <a:t>retry/fallback </a:t>
            </a:r>
            <a:r>
              <a:rPr lang="mn-MN" sz="1400" dirty="0"/>
              <a:t>бодлого, мониторингийг хэрэгжүүлэх.</a:t>
            </a:r>
          </a:p>
          <a:p>
            <a:r>
              <a:rPr lang="mn-MN" sz="1400" b="1" dirty="0"/>
              <a:t>Үнэлгээ ба баталгаажуулалт:</a:t>
            </a:r>
            <a:r>
              <a:rPr lang="mn-MN" sz="1400" dirty="0"/>
              <a:t> Моделын хийц (</a:t>
            </a:r>
            <a:r>
              <a:rPr lang="en-US" sz="1400" dirty="0"/>
              <a:t>accuracy, precision, recall) </a:t>
            </a:r>
            <a:r>
              <a:rPr lang="mn-MN" sz="1400" dirty="0"/>
              <a:t>болон системийн ажиллах чадварыг бодит өгөгдлөөр шалгаж, үр дүнг илтгэх метрик гаргах.</a:t>
            </a:r>
          </a:p>
        </p:txBody>
      </p:sp>
      <p:sp>
        <p:nvSpPr>
          <p:cNvPr id="5" name="Date Placeholder 4">
            <a:extLst>
              <a:ext uri="{FF2B5EF4-FFF2-40B4-BE49-F238E27FC236}">
                <a16:creationId xmlns:a16="http://schemas.microsoft.com/office/drawing/2014/main" id="{CB92D44D-6DE1-B6DB-FD71-68C0E641A824}"/>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AD4EEB30-3F92-1DCB-CE6D-9C8C47AA5CC7}"/>
              </a:ext>
            </a:extLst>
          </p:cNvPr>
          <p:cNvSpPr>
            <a:spLocks noGrp="1"/>
          </p:cNvSpPr>
          <p:nvPr>
            <p:ph type="sldNum" idx="12"/>
          </p:nvPr>
        </p:nvSpPr>
        <p:spPr/>
        <p:txBody>
          <a:bodyPr/>
          <a:lstStyle/>
          <a:p>
            <a:fld id="{00000000-1234-1234-1234-123412341234}" type="slidenum">
              <a:rPr lang="mn" smtClean="0"/>
              <a:pPr/>
              <a:t>5</a:t>
            </a:fld>
            <a:endParaRPr lang="mn"/>
          </a:p>
        </p:txBody>
      </p:sp>
    </p:spTree>
    <p:extLst>
      <p:ext uri="{BB962C8B-B14F-4D97-AF65-F5344CB8AC3E}">
        <p14:creationId xmlns:p14="http://schemas.microsoft.com/office/powerpoint/2010/main" val="2732715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4107D452-D3BF-9F49-2810-96F1A56B3EF2}"/>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A75CF96D-C068-7310-283A-E5CE34841823}"/>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АШИГЛАСАН ТЕХНОЛОГИ</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25369CF6-69A3-5DF3-2E01-B08F2D704D57}"/>
              </a:ext>
            </a:extLst>
          </p:cNvPr>
          <p:cNvSpPr txBox="1">
            <a:spLocks/>
          </p:cNvSpPr>
          <p:nvPr/>
        </p:nvSpPr>
        <p:spPr>
          <a:xfrm>
            <a:off x="547020" y="745121"/>
            <a:ext cx="11097959"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6997" indent="0">
              <a:buNone/>
            </a:pPr>
            <a:r>
              <a:rPr lang="mn-MN" sz="800" b="1" dirty="0"/>
              <a:t>Ашигласан технологи (</a:t>
            </a:r>
            <a:r>
              <a:rPr lang="en-US" sz="800" b="1" dirty="0"/>
              <a:t>Technologies Used)</a:t>
            </a:r>
            <a:endParaRPr lang="en-US" sz="800" dirty="0"/>
          </a:p>
          <a:p>
            <a:r>
              <a:rPr lang="mn-MN" sz="800" b="1" dirty="0"/>
              <a:t>Фронтенд (</a:t>
            </a:r>
            <a:r>
              <a:rPr lang="en-US" sz="800" b="1" dirty="0"/>
              <a:t>Frontend):</a:t>
            </a:r>
            <a:endParaRPr lang="en-US" sz="800" dirty="0"/>
          </a:p>
          <a:p>
            <a:pPr lvl="1"/>
            <a:r>
              <a:rPr lang="en-US" sz="800" dirty="0"/>
              <a:t>React + TypeScript: </a:t>
            </a:r>
            <a:r>
              <a:rPr lang="mn-MN" sz="800" dirty="0"/>
              <a:t>Оролт, </a:t>
            </a:r>
            <a:r>
              <a:rPr lang="en-US" sz="800" dirty="0"/>
              <a:t>dashboard </a:t>
            </a:r>
            <a:r>
              <a:rPr lang="mn-MN" sz="800" dirty="0"/>
              <a:t>болон интерактив </a:t>
            </a:r>
            <a:r>
              <a:rPr lang="en-US" sz="800" dirty="0"/>
              <a:t>UI-</a:t>
            </a:r>
            <a:r>
              <a:rPr lang="mn-MN" sz="800" dirty="0"/>
              <a:t>ийг хөгжүүлэхэд ашигласан.</a:t>
            </a:r>
          </a:p>
          <a:p>
            <a:pPr lvl="1"/>
            <a:r>
              <a:rPr lang="en-US" sz="800" dirty="0"/>
              <a:t>Vite: </a:t>
            </a:r>
            <a:r>
              <a:rPr lang="mn-MN" sz="800" dirty="0"/>
              <a:t>Хөгжүүлэлтийн хурд болон хялбар хялбар засварын тулд хэрэглэсэн тасралтгүй хөгжүүлэлтийн туслах хэрэгсэл.</a:t>
            </a:r>
          </a:p>
          <a:p>
            <a:pPr lvl="1"/>
            <a:r>
              <a:rPr lang="en-US" sz="800" dirty="0"/>
              <a:t>Chart.js / Recharts (</a:t>
            </a:r>
            <a:r>
              <a:rPr lang="mn-MN" sz="800" dirty="0"/>
              <a:t>эсвэл төслийн дотор ашигласан график номын сан): Аналитик график, диаграмм зурах.</a:t>
            </a:r>
          </a:p>
          <a:p>
            <a:r>
              <a:rPr lang="mn-MN" sz="800" b="1" dirty="0"/>
              <a:t>Бэкенд (</a:t>
            </a:r>
            <a:r>
              <a:rPr lang="en-US" sz="800" b="1" dirty="0"/>
              <a:t>Backend):</a:t>
            </a:r>
            <a:endParaRPr lang="en-US" sz="800" dirty="0"/>
          </a:p>
          <a:p>
            <a:pPr lvl="1"/>
            <a:r>
              <a:rPr lang="en-US" sz="800" dirty="0" err="1"/>
              <a:t>FastAPI</a:t>
            </a:r>
            <a:r>
              <a:rPr lang="en-US" sz="800" dirty="0"/>
              <a:t> (Python): REST API </a:t>
            </a:r>
            <a:r>
              <a:rPr lang="mn-MN" sz="800" dirty="0"/>
              <a:t>үүсгэхэд ашигласан, өндөр гүйцэтгэлтэй, документлагдсан </a:t>
            </a:r>
            <a:r>
              <a:rPr lang="en-US" sz="800" dirty="0"/>
              <a:t>endpoint-</a:t>
            </a:r>
            <a:r>
              <a:rPr lang="mn-MN" sz="800" dirty="0"/>
              <a:t>уудтай.</a:t>
            </a:r>
          </a:p>
          <a:p>
            <a:pPr lvl="1"/>
            <a:r>
              <a:rPr lang="en-US" sz="800" dirty="0" err="1"/>
              <a:t>Uvicorn</a:t>
            </a:r>
            <a:r>
              <a:rPr lang="en-US" sz="800" dirty="0"/>
              <a:t>/</a:t>
            </a:r>
            <a:r>
              <a:rPr lang="en-US" sz="800" dirty="0" err="1"/>
              <a:t>Gunicorn</a:t>
            </a:r>
            <a:r>
              <a:rPr lang="en-US" sz="800" dirty="0"/>
              <a:t>: ASGI </a:t>
            </a:r>
            <a:r>
              <a:rPr lang="mn-MN" sz="800" dirty="0"/>
              <a:t>сервер болон үйлдвэрлэлийн дэд бүтцийг хангах.</a:t>
            </a:r>
          </a:p>
          <a:p>
            <a:r>
              <a:rPr lang="mn-MN" sz="800" b="1" dirty="0"/>
              <a:t>Өгөгдлийн сан (</a:t>
            </a:r>
            <a:r>
              <a:rPr lang="en-US" sz="800" b="1" dirty="0"/>
              <a:t>Data Storage):</a:t>
            </a:r>
            <a:endParaRPr lang="en-US" sz="800" dirty="0"/>
          </a:p>
          <a:p>
            <a:pPr lvl="1"/>
            <a:r>
              <a:rPr lang="en-US" sz="800" dirty="0"/>
              <a:t>PostgreSQL </a:t>
            </a:r>
            <a:r>
              <a:rPr lang="mn-MN" sz="800" dirty="0"/>
              <a:t>эсвэл </a:t>
            </a:r>
            <a:r>
              <a:rPr lang="en-US" sz="800" dirty="0"/>
              <a:t>Firebase (</a:t>
            </a:r>
            <a:r>
              <a:rPr lang="mn-MN" sz="800" dirty="0"/>
              <a:t>проектын тохируулгаас хамаарч): Цуглуулсан пост, шинжилгээний үр дүнг хадгалах.</a:t>
            </a:r>
          </a:p>
          <a:p>
            <a:pPr lvl="1"/>
            <a:r>
              <a:rPr lang="en-US" sz="800" dirty="0" err="1"/>
              <a:t>SQLAlchemy</a:t>
            </a:r>
            <a:r>
              <a:rPr lang="en-US" sz="800" dirty="0"/>
              <a:t> / Alembic (Python): ORM </a:t>
            </a:r>
            <a:r>
              <a:rPr lang="mn-MN" sz="800" dirty="0"/>
              <a:t>болон дата өгөгдлийн шилжилтүүдийг удирдах.</a:t>
            </a:r>
          </a:p>
          <a:p>
            <a:r>
              <a:rPr lang="mn-MN" sz="800" b="1" dirty="0"/>
              <a:t>Машин сургалт ба </a:t>
            </a:r>
            <a:r>
              <a:rPr lang="en-US" sz="800" b="1" dirty="0"/>
              <a:t>NLP (ML &amp; NLP):</a:t>
            </a:r>
            <a:endParaRPr lang="en-US" sz="800" dirty="0"/>
          </a:p>
          <a:p>
            <a:pPr lvl="1"/>
            <a:r>
              <a:rPr lang="en-US" sz="800" dirty="0" err="1"/>
              <a:t>TextBlob</a:t>
            </a:r>
            <a:r>
              <a:rPr lang="en-US" sz="800" dirty="0"/>
              <a:t>: </a:t>
            </a:r>
            <a:r>
              <a:rPr lang="mn-MN" sz="800" dirty="0"/>
              <a:t>Эхний шугаман дээрх </a:t>
            </a:r>
            <a:r>
              <a:rPr lang="en-US" sz="800" dirty="0"/>
              <a:t>Sentiment Analysis (Polarity, Subjectivity) </a:t>
            </a:r>
            <a:r>
              <a:rPr lang="mn-MN" sz="800" dirty="0"/>
              <a:t>хийхэд ашигласан.</a:t>
            </a:r>
          </a:p>
          <a:p>
            <a:pPr lvl="1"/>
            <a:r>
              <a:rPr lang="en-US" sz="800" dirty="0"/>
              <a:t>scikit-learn: </a:t>
            </a:r>
            <a:r>
              <a:rPr lang="mn-MN" sz="800" dirty="0"/>
              <a:t>Тэмдэглэгээ, </a:t>
            </a:r>
            <a:r>
              <a:rPr lang="en-US" sz="800" dirty="0"/>
              <a:t>feature engineering </a:t>
            </a:r>
            <a:r>
              <a:rPr lang="mn-MN" sz="800" dirty="0"/>
              <a:t>болон шаардлагатай тоон алгоритмуудыг хэрэглэхэд ашигласан.</a:t>
            </a:r>
          </a:p>
          <a:p>
            <a:pPr lvl="1"/>
            <a:r>
              <a:rPr lang="en-US" sz="800" dirty="0"/>
              <a:t>Hugging Face Transformers / Google Gemini (integration): </a:t>
            </a:r>
            <a:r>
              <a:rPr lang="mn-MN" sz="800" dirty="0"/>
              <a:t>Том хэлний загвар (</a:t>
            </a:r>
            <a:r>
              <a:rPr lang="en-US" sz="800" dirty="0"/>
              <a:t>LLM) </a:t>
            </a:r>
            <a:r>
              <a:rPr lang="mn-MN" sz="800" dirty="0"/>
              <a:t>эсвэл тэдгээртэй холбохад хэрэглэсэн.</a:t>
            </a:r>
          </a:p>
          <a:p>
            <a:r>
              <a:rPr lang="mn-MN" sz="800" b="1" dirty="0"/>
              <a:t>Интеграци ба Автоматжуулалт (</a:t>
            </a:r>
            <a:r>
              <a:rPr lang="en-US" sz="800" b="1" dirty="0"/>
              <a:t>Integration &amp; Automation):</a:t>
            </a:r>
            <a:endParaRPr lang="en-US" sz="800" dirty="0"/>
          </a:p>
          <a:p>
            <a:pPr lvl="1"/>
            <a:r>
              <a:rPr lang="en-US" sz="800" dirty="0"/>
              <a:t>Google Gemini API: AI </a:t>
            </a:r>
            <a:r>
              <a:rPr lang="mn-MN" sz="800" dirty="0"/>
              <a:t>тайлан үүсгэх, </a:t>
            </a:r>
            <a:r>
              <a:rPr lang="en-US" sz="800" dirty="0"/>
              <a:t>prompt engineering-</a:t>
            </a:r>
            <a:r>
              <a:rPr lang="mn-MN" sz="800" dirty="0"/>
              <a:t>д интеграц хийх.</a:t>
            </a:r>
          </a:p>
          <a:p>
            <a:pPr lvl="1"/>
            <a:r>
              <a:rPr lang="en-US" sz="800" dirty="0"/>
              <a:t>Docker: </a:t>
            </a:r>
            <a:r>
              <a:rPr lang="mn-MN" sz="800" dirty="0"/>
              <a:t>Орчин бүрдүүлэх, контейнержуулалт, тест болон </a:t>
            </a:r>
            <a:r>
              <a:rPr lang="en-US" sz="800" dirty="0"/>
              <a:t>deployment-</a:t>
            </a:r>
            <a:r>
              <a:rPr lang="mn-MN" sz="800" dirty="0"/>
              <a:t>д ашиглах.</a:t>
            </a:r>
          </a:p>
          <a:p>
            <a:pPr lvl="1"/>
            <a:r>
              <a:rPr lang="en-US" sz="800" dirty="0"/>
              <a:t>Git / GitHub: </a:t>
            </a:r>
            <a:r>
              <a:rPr lang="mn-MN" sz="800" dirty="0"/>
              <a:t>Хувилбар хяналт, салбарын менежмент (</a:t>
            </a:r>
            <a:r>
              <a:rPr lang="en-US" sz="800" dirty="0"/>
              <a:t>demo-presentation </a:t>
            </a:r>
            <a:r>
              <a:rPr lang="mn-MN" sz="800" dirty="0"/>
              <a:t>салбарт ажлууд хийгдсэн).</a:t>
            </a:r>
          </a:p>
          <a:p>
            <a:r>
              <a:rPr lang="mn-MN" sz="800" b="1" dirty="0"/>
              <a:t>Туршилт ба Чанарын хяналт (</a:t>
            </a:r>
            <a:r>
              <a:rPr lang="en-US" sz="800" b="1" dirty="0"/>
              <a:t>Testing &amp; CI):</a:t>
            </a:r>
            <a:endParaRPr lang="en-US" sz="800" dirty="0"/>
          </a:p>
          <a:p>
            <a:pPr lvl="1"/>
            <a:r>
              <a:rPr lang="en-US" sz="800" dirty="0" err="1"/>
              <a:t>pytest</a:t>
            </a:r>
            <a:r>
              <a:rPr lang="en-US" sz="800" dirty="0"/>
              <a:t>: Python </a:t>
            </a:r>
            <a:r>
              <a:rPr lang="mn-MN" sz="800" dirty="0"/>
              <a:t>модулуудын нэгж болон интеграцийн тестүүд.</a:t>
            </a:r>
          </a:p>
          <a:p>
            <a:pPr lvl="1"/>
            <a:r>
              <a:rPr lang="en-US" sz="800" dirty="0"/>
              <a:t>GitHub Actions / Render / </a:t>
            </a:r>
            <a:r>
              <a:rPr lang="en-US" sz="800" dirty="0" err="1"/>
              <a:t>Vercel</a:t>
            </a:r>
            <a:r>
              <a:rPr lang="en-US" sz="800" dirty="0"/>
              <a:t> (</a:t>
            </a:r>
            <a:r>
              <a:rPr lang="mn-MN" sz="800" dirty="0"/>
              <a:t>эсвэл төслийн тохируулга): </a:t>
            </a:r>
            <a:r>
              <a:rPr lang="en-US" sz="800" dirty="0"/>
              <a:t>CI/CD, </a:t>
            </a:r>
            <a:r>
              <a:rPr lang="mn-MN" sz="800" dirty="0"/>
              <a:t>автомат тест гүйцэтгэл, </a:t>
            </a:r>
            <a:r>
              <a:rPr lang="en-US" sz="800" dirty="0"/>
              <a:t>deployment.</a:t>
            </a:r>
          </a:p>
          <a:p>
            <a:r>
              <a:rPr lang="mn-MN" sz="800" b="1" dirty="0"/>
              <a:t>Баримтжуулалт ба Бусад (</a:t>
            </a:r>
            <a:r>
              <a:rPr lang="en-US" sz="800" b="1" dirty="0"/>
              <a:t>Docs &amp; Aux):</a:t>
            </a:r>
            <a:endParaRPr lang="en-US" sz="800" dirty="0"/>
          </a:p>
          <a:p>
            <a:pPr lvl="1"/>
            <a:r>
              <a:rPr lang="en-US" sz="800" dirty="0"/>
              <a:t>LaTeX (</a:t>
            </a:r>
            <a:r>
              <a:rPr lang="en-US" sz="800" dirty="0" err="1"/>
              <a:t>pdflatex</a:t>
            </a:r>
            <a:r>
              <a:rPr lang="en-US" sz="800" dirty="0"/>
              <a:t>): </a:t>
            </a:r>
            <a:r>
              <a:rPr lang="mn-MN" sz="800" dirty="0"/>
              <a:t>Дипломын тайлан боловсруулалт, диаграм, зураг оруулах.</a:t>
            </a:r>
          </a:p>
          <a:p>
            <a:pPr lvl="1"/>
            <a:r>
              <a:rPr lang="en-US" sz="800" dirty="0"/>
              <a:t>Mermaid / mermaid-cli: </a:t>
            </a:r>
            <a:r>
              <a:rPr lang="mn-MN" sz="800" dirty="0"/>
              <a:t>Системийн диаграмм (</a:t>
            </a:r>
            <a:r>
              <a:rPr lang="en-US" sz="800" dirty="0"/>
              <a:t>UML, sequence) </a:t>
            </a:r>
            <a:r>
              <a:rPr lang="mn-MN" sz="800" dirty="0"/>
              <a:t>үүсгэх.</a:t>
            </a:r>
          </a:p>
          <a:p>
            <a:pPr lvl="1"/>
            <a:r>
              <a:rPr lang="en-US" sz="800" dirty="0"/>
              <a:t>pandas, </a:t>
            </a:r>
            <a:r>
              <a:rPr lang="en-US" sz="800" dirty="0" err="1"/>
              <a:t>numpy</a:t>
            </a:r>
            <a:r>
              <a:rPr lang="en-US" sz="800" dirty="0"/>
              <a:t>: </a:t>
            </a:r>
            <a:r>
              <a:rPr lang="mn-MN" sz="800" dirty="0"/>
              <a:t>Өгөгдлийн боловсруулалт, дата анализ хийхэд ашигласан.</a:t>
            </a:r>
          </a:p>
        </p:txBody>
      </p:sp>
      <p:sp>
        <p:nvSpPr>
          <p:cNvPr id="5" name="Date Placeholder 4">
            <a:extLst>
              <a:ext uri="{FF2B5EF4-FFF2-40B4-BE49-F238E27FC236}">
                <a16:creationId xmlns:a16="http://schemas.microsoft.com/office/drawing/2014/main" id="{E8C6B6BD-1133-31C8-B6F5-369D4A93163D}"/>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E5362AFB-1EF8-EBD0-9AEE-B1F21CF0380B}"/>
              </a:ext>
            </a:extLst>
          </p:cNvPr>
          <p:cNvSpPr>
            <a:spLocks noGrp="1"/>
          </p:cNvSpPr>
          <p:nvPr>
            <p:ph type="sldNum" idx="12"/>
          </p:nvPr>
        </p:nvSpPr>
        <p:spPr/>
        <p:txBody>
          <a:bodyPr/>
          <a:lstStyle/>
          <a:p>
            <a:fld id="{00000000-1234-1234-1234-123412341234}" type="slidenum">
              <a:rPr lang="mn" smtClean="0"/>
              <a:pPr/>
              <a:t>6</a:t>
            </a:fld>
            <a:endParaRPr lang="mn"/>
          </a:p>
        </p:txBody>
      </p:sp>
    </p:spTree>
    <p:extLst>
      <p:ext uri="{BB962C8B-B14F-4D97-AF65-F5344CB8AC3E}">
        <p14:creationId xmlns:p14="http://schemas.microsoft.com/office/powerpoint/2010/main" val="289447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15F579AD-EA7F-AE79-2F9F-AD1769595D94}"/>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12131D79-B00C-5332-E5CD-8C3C2C0F6643}"/>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r>
              <a:rPr lang="mn-MN" sz="2000" b="1" dirty="0"/>
              <a:t>Функциональ шаардлагууд</a:t>
            </a:r>
            <a:endParaRPr lang="mn-MN" sz="2000" dirty="0"/>
          </a:p>
        </p:txBody>
      </p:sp>
      <p:sp>
        <p:nvSpPr>
          <p:cNvPr id="3" name="Content Placeholder 5">
            <a:extLst>
              <a:ext uri="{FF2B5EF4-FFF2-40B4-BE49-F238E27FC236}">
                <a16:creationId xmlns:a16="http://schemas.microsoft.com/office/drawing/2014/main" id="{ADC5D9A4-3129-134F-E23A-75885D68D90D}"/>
              </a:ext>
            </a:extLst>
          </p:cNvPr>
          <p:cNvSpPr txBox="1">
            <a:spLocks/>
          </p:cNvSpPr>
          <p:nvPr/>
        </p:nvSpPr>
        <p:spPr>
          <a:xfrm>
            <a:off x="547020" y="745121"/>
            <a:ext cx="11097959"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6997" indent="0">
              <a:buNone/>
            </a:pPr>
            <a:endParaRPr lang="mn-MN" sz="1000" dirty="0"/>
          </a:p>
          <a:p>
            <a:r>
              <a:rPr lang="mn-MN" sz="1000" dirty="0"/>
              <a:t>Систем нь </a:t>
            </a:r>
            <a:r>
              <a:rPr lang="en-US" sz="1000" dirty="0"/>
              <a:t>Facebook </a:t>
            </a:r>
            <a:r>
              <a:rPr lang="mn-MN" sz="1000" dirty="0"/>
              <a:t>зэрэг сошиал медиа платформоос постын мэдээлэл цуглуулна.</a:t>
            </a:r>
          </a:p>
          <a:p>
            <a:r>
              <a:rPr lang="mn-MN" sz="1000" dirty="0"/>
              <a:t>Систем нь цуглуулсан пост, сэтгэгдэл, лайк, шэйр, огноо, зохиогч болон хандалтын мэдээллийг өгөгдлийн санд хадгална.</a:t>
            </a:r>
          </a:p>
          <a:p>
            <a:r>
              <a:rPr lang="mn-MN" sz="1000" dirty="0"/>
              <a:t>Систем нь цуглуулсан сошиал медиа өгөгдлийг хянах самбарт харуулна.</a:t>
            </a:r>
          </a:p>
          <a:p>
            <a:r>
              <a:rPr lang="mn-MN" sz="1000" dirty="0"/>
              <a:t>Систем нь нийт постын тоо, нийт хандалт, хүрэлт болон хандлагын оноо зэрэг гол үзүүлэлтүүдийг харуулна.</a:t>
            </a:r>
          </a:p>
          <a:p>
            <a:r>
              <a:rPr lang="mn-MN" sz="1000" dirty="0"/>
              <a:t>Систем нь хандалтын чиг хандлагыг график, диаграмаар дүрслэн харуулна.</a:t>
            </a:r>
          </a:p>
          <a:p>
            <a:r>
              <a:rPr lang="mn-MN" sz="1000" dirty="0"/>
              <a:t>Систем нь сүүлийн үеийн постууд болон тэдгээрийн хандалтын мэдээллийг харах боломж олгоно.</a:t>
            </a:r>
          </a:p>
          <a:p>
            <a:r>
              <a:rPr lang="mn-MN" sz="1000" dirty="0"/>
              <a:t>Систем нь сошиал медиа контентыг хиймэл оюун ухааны тусламжтай шинжилнэ.</a:t>
            </a:r>
          </a:p>
          <a:p>
            <a:r>
              <a:rPr lang="mn-MN" sz="1000" dirty="0"/>
              <a:t>Систем нь цуглуулсан өгөгдөл дээр үндэслэн товч дүгнэлт, ойлголт болон тайлан үүсгэнэ.</a:t>
            </a:r>
          </a:p>
          <a:p>
            <a:r>
              <a:rPr lang="mn-MN" sz="1000" dirty="0"/>
              <a:t>Систем нь өмнөх хандалтын өгөгдөлд үндэслэн урьдчилан таамаглах шинжилгээ хийнэ.</a:t>
            </a:r>
          </a:p>
          <a:p>
            <a:r>
              <a:rPr lang="mn-MN" sz="1000" dirty="0"/>
              <a:t>Систем нь өгөгдлийн эх сурвалж болон системийн төлөвийг хянах админ удирдлагын хэсэгтэй байна.</a:t>
            </a:r>
          </a:p>
          <a:p>
            <a:r>
              <a:rPr lang="mn-MN" sz="1000" dirty="0"/>
              <a:t>Систем нь хянах самбарын өгөгдлийг шинэчлэх боломжтой байна.</a:t>
            </a:r>
          </a:p>
          <a:p>
            <a:r>
              <a:rPr lang="mn-MN" sz="1000" dirty="0"/>
              <a:t>Систем нь </a:t>
            </a:r>
            <a:r>
              <a:rPr lang="en-US" sz="1000" dirty="0"/>
              <a:t>backend API </a:t>
            </a:r>
            <a:r>
              <a:rPr lang="mn-MN" sz="1000" dirty="0"/>
              <a:t>үйлчилгээгээр дамжуулан хадгалагдсан сошиал медиа өгөгдлийг авч боловсруулна.</a:t>
            </a:r>
          </a:p>
          <a:p>
            <a:r>
              <a:rPr lang="en-US" sz="1000" dirty="0"/>
              <a:t>Backend </a:t>
            </a:r>
            <a:r>
              <a:rPr lang="mn-MN" sz="1000" dirty="0"/>
              <a:t>өгөгдөл ашиглах боломжгүй үед систем нь туршилтын өгөгдөл харуулах боломжтой байна.</a:t>
            </a:r>
          </a:p>
          <a:p>
            <a:r>
              <a:rPr lang="mn-MN" sz="1000" dirty="0"/>
              <a:t>Систем нь </a:t>
            </a:r>
            <a:r>
              <a:rPr lang="en-US" sz="1000" dirty="0"/>
              <a:t>API endpoint </a:t>
            </a:r>
            <a:r>
              <a:rPr lang="mn-MN" sz="1000" dirty="0"/>
              <a:t>болон орчны хувьсагчийн тохиргоог дэмжинэ.</a:t>
            </a:r>
          </a:p>
        </p:txBody>
      </p:sp>
      <p:sp>
        <p:nvSpPr>
          <p:cNvPr id="5" name="Date Placeholder 4">
            <a:extLst>
              <a:ext uri="{FF2B5EF4-FFF2-40B4-BE49-F238E27FC236}">
                <a16:creationId xmlns:a16="http://schemas.microsoft.com/office/drawing/2014/main" id="{312C4780-A690-D4BF-D905-A1D8F0980ECF}"/>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BC546995-052E-0AED-FCCA-A6E814308E95}"/>
              </a:ext>
            </a:extLst>
          </p:cNvPr>
          <p:cNvSpPr>
            <a:spLocks noGrp="1"/>
          </p:cNvSpPr>
          <p:nvPr>
            <p:ph type="sldNum" idx="12"/>
          </p:nvPr>
        </p:nvSpPr>
        <p:spPr/>
        <p:txBody>
          <a:bodyPr/>
          <a:lstStyle/>
          <a:p>
            <a:fld id="{00000000-1234-1234-1234-123412341234}" type="slidenum">
              <a:rPr lang="mn" smtClean="0"/>
              <a:pPr/>
              <a:t>7</a:t>
            </a:fld>
            <a:endParaRPr lang="mn"/>
          </a:p>
        </p:txBody>
      </p:sp>
    </p:spTree>
    <p:extLst>
      <p:ext uri="{BB962C8B-B14F-4D97-AF65-F5344CB8AC3E}">
        <p14:creationId xmlns:p14="http://schemas.microsoft.com/office/powerpoint/2010/main" val="2853575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C925FFF-2BFC-371A-74AB-1FA3D33EAD27}"/>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F596216D-2C03-CC1B-3992-F3FE33B05B2F}"/>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r>
              <a:rPr lang="mn-MN" sz="2000" b="1" dirty="0"/>
              <a:t>Функциональ бус шаардлагууд</a:t>
            </a:r>
            <a:endParaRPr lang="mn-MN" sz="2000" dirty="0"/>
          </a:p>
        </p:txBody>
      </p:sp>
      <p:sp>
        <p:nvSpPr>
          <p:cNvPr id="3" name="Content Placeholder 5">
            <a:extLst>
              <a:ext uri="{FF2B5EF4-FFF2-40B4-BE49-F238E27FC236}">
                <a16:creationId xmlns:a16="http://schemas.microsoft.com/office/drawing/2014/main" id="{C3DE79DE-D6E6-AF62-22F8-AA436736EFC4}"/>
              </a:ext>
            </a:extLst>
          </p:cNvPr>
          <p:cNvSpPr txBox="1">
            <a:spLocks/>
          </p:cNvSpPr>
          <p:nvPr/>
        </p:nvSpPr>
        <p:spPr>
          <a:xfrm>
            <a:off x="547020" y="745121"/>
            <a:ext cx="11097959"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1000" dirty="0"/>
              <a:t>Системийн хэрэглэгчийн интерфэйс нь </a:t>
            </a:r>
            <a:r>
              <a:rPr lang="en-US" sz="1000" dirty="0"/>
              <a:t>desktop </a:t>
            </a:r>
            <a:r>
              <a:rPr lang="mn-MN" sz="1000" dirty="0"/>
              <a:t>болон </a:t>
            </a:r>
            <a:r>
              <a:rPr lang="en-US" sz="1000" dirty="0"/>
              <a:t>mobile </a:t>
            </a:r>
            <a:r>
              <a:rPr lang="mn-MN" sz="1000" dirty="0"/>
              <a:t>төхөөрөмж дээр зөв ажилладаг байна.</a:t>
            </a:r>
          </a:p>
          <a:p>
            <a:r>
              <a:rPr lang="mn-MN" sz="1000" dirty="0"/>
              <a:t>Систем нь хурдан ачаалж, хянах самбарын хэсгүүдийн хооронд саадгүй шилждэг байна.</a:t>
            </a:r>
          </a:p>
          <a:p>
            <a:r>
              <a:rPr lang="en-US" sz="1000" dirty="0"/>
              <a:t>Backend </a:t>
            </a:r>
            <a:r>
              <a:rPr lang="mn-MN" sz="1000" dirty="0"/>
              <a:t>ажиллахгүй үед систем нь </a:t>
            </a:r>
            <a:r>
              <a:rPr lang="en-US" sz="1000" dirty="0"/>
              <a:t>demo </a:t>
            </a:r>
            <a:r>
              <a:rPr lang="mn-MN" sz="1000" dirty="0"/>
              <a:t>эсвэл нөөц өгөгдөл харуулж, найдвартай ажиллагааг хангана.</a:t>
            </a:r>
          </a:p>
          <a:p>
            <a:r>
              <a:rPr lang="en-US" sz="1000" dirty="0"/>
              <a:t>API key, token </a:t>
            </a:r>
            <a:r>
              <a:rPr lang="mn-MN" sz="1000" dirty="0"/>
              <a:t>зэрэг нууц тохиргооны мэдээллийг орчны хувьсагчаар хамгаална.</a:t>
            </a:r>
          </a:p>
          <a:p>
            <a:r>
              <a:rPr lang="en-US" sz="1000" dirty="0"/>
              <a:t>Frontend component, backend logic, API utility </a:t>
            </a:r>
            <a:r>
              <a:rPr lang="mn-MN" sz="1000" dirty="0"/>
              <a:t>болон </a:t>
            </a:r>
            <a:r>
              <a:rPr lang="en-US" sz="1000" dirty="0"/>
              <a:t>database logic-</a:t>
            </a:r>
            <a:r>
              <a:rPr lang="mn-MN" sz="1000" dirty="0"/>
              <a:t>ийг тусгаарлаж, засвар үйлчилгээ хийхэд хялбар байна.</a:t>
            </a:r>
          </a:p>
          <a:p>
            <a:r>
              <a:rPr lang="mn-MN" sz="1000" dirty="0"/>
              <a:t>Цаашид нэмэлт сошиал медиа платформ эсвэл шинжилгээний модуль нэмэх боломжтой, өргөтгөх чадвартай байна.</a:t>
            </a:r>
          </a:p>
          <a:p>
            <a:r>
              <a:rPr lang="mn-MN" sz="1000" dirty="0"/>
              <a:t>Систем нь өгөгдлийг ойлгомжтой тайлбарлах боломжтой график, зохион байгуулалттай </a:t>
            </a:r>
            <a:r>
              <a:rPr lang="en-US" sz="1000" dirty="0"/>
              <a:t>dashboard-</a:t>
            </a:r>
            <a:r>
              <a:rPr lang="mn-MN" sz="1000" dirty="0"/>
              <a:t>оор хангана.</a:t>
            </a:r>
          </a:p>
          <a:p>
            <a:r>
              <a:rPr lang="en-US" sz="1000" dirty="0"/>
              <a:t>API </a:t>
            </a:r>
            <a:r>
              <a:rPr lang="mn-MN" sz="1000" dirty="0"/>
              <a:t>хүсэлт, өгөгдлийн сангийн холболт, </a:t>
            </a:r>
            <a:r>
              <a:rPr lang="en-US" sz="1000" dirty="0"/>
              <a:t>AI </a:t>
            </a:r>
            <a:r>
              <a:rPr lang="mn-MN" sz="1000" dirty="0"/>
              <a:t>шинжилгээ амжилтгүй болсон үед алдааг зөв зохицуулна.</a:t>
            </a:r>
          </a:p>
          <a:p>
            <a:r>
              <a:rPr lang="mn-MN" sz="1000" dirty="0"/>
              <a:t>Өгөгдлийн санд пост хадгалах болон унших үед өгөгдлийн бүрэн бүтэн байдлыг хангана.</a:t>
            </a:r>
          </a:p>
          <a:p>
            <a:r>
              <a:rPr lang="mn-MN" sz="1000" dirty="0"/>
              <a:t>Систем нь </a:t>
            </a:r>
            <a:r>
              <a:rPr lang="en-US" sz="1000" dirty="0" err="1"/>
              <a:t>Vercel</a:t>
            </a:r>
            <a:r>
              <a:rPr lang="en-US" sz="1000" dirty="0"/>
              <a:t>, Render, </a:t>
            </a:r>
            <a:r>
              <a:rPr lang="en-US" sz="1000" dirty="0" err="1"/>
              <a:t>Supabase</a:t>
            </a:r>
            <a:r>
              <a:rPr lang="en-US" sz="1000" dirty="0"/>
              <a:t> </a:t>
            </a:r>
            <a:r>
              <a:rPr lang="mn-MN" sz="1000" dirty="0"/>
              <a:t>зэрэг </a:t>
            </a:r>
            <a:r>
              <a:rPr lang="en-US" sz="1000" dirty="0"/>
              <a:t>cloud </a:t>
            </a:r>
            <a:r>
              <a:rPr lang="mn-MN" sz="1000" dirty="0"/>
              <a:t>платформд байршуулан ажиллуулах боломжтой байна.</a:t>
            </a:r>
          </a:p>
          <a:p>
            <a:r>
              <a:rPr lang="mn-MN" sz="1000" dirty="0"/>
              <a:t>Хамгаалагдсан </a:t>
            </a:r>
            <a:r>
              <a:rPr lang="en-US" sz="1000" dirty="0"/>
              <a:t>backend </a:t>
            </a:r>
            <a:r>
              <a:rPr lang="mn-MN" sz="1000" dirty="0"/>
              <a:t>үйлдлүүдэд </a:t>
            </a:r>
            <a:r>
              <a:rPr lang="en-US" sz="1000" dirty="0"/>
              <a:t>authentication </a:t>
            </a:r>
            <a:r>
              <a:rPr lang="mn-MN" sz="1000" dirty="0"/>
              <a:t>эсвэл </a:t>
            </a:r>
            <a:r>
              <a:rPr lang="en-US" sz="1000" dirty="0"/>
              <a:t>API token </a:t>
            </a:r>
            <a:r>
              <a:rPr lang="mn-MN" sz="1000" dirty="0"/>
              <a:t>ашиглана.</a:t>
            </a:r>
          </a:p>
          <a:p>
            <a:r>
              <a:rPr lang="mn-MN" sz="1000" dirty="0"/>
              <a:t>Систем нь техникийн бус хэрэглэгч ашиглахад ойлгомжтой, цэвэр </a:t>
            </a:r>
            <a:r>
              <a:rPr lang="en-US" sz="1000" dirty="0"/>
              <a:t>dashboard </a:t>
            </a:r>
            <a:r>
              <a:rPr lang="mn-MN" sz="1000" dirty="0"/>
              <a:t>интерфэйстэй байна.</a:t>
            </a:r>
          </a:p>
          <a:p>
            <a:r>
              <a:rPr lang="mn-MN" sz="1000" dirty="0"/>
              <a:t>Зардал болон гүйцэтгэлийг сайжруулахын тулд шаардлагагүй </a:t>
            </a:r>
            <a:r>
              <a:rPr lang="en-US" sz="1000" dirty="0"/>
              <a:t>AI </a:t>
            </a:r>
            <a:r>
              <a:rPr lang="mn-MN" sz="1000" dirty="0"/>
              <a:t>хүсэлтийг багасгана.</a:t>
            </a:r>
          </a:p>
          <a:p>
            <a:r>
              <a:rPr lang="mn-MN" sz="1000" dirty="0"/>
              <a:t>Систем нь орчин үеийн </a:t>
            </a:r>
            <a:r>
              <a:rPr lang="en-US" sz="1000" dirty="0"/>
              <a:t>web browser-</a:t>
            </a:r>
            <a:r>
              <a:rPr lang="mn-MN" sz="1000" dirty="0"/>
              <a:t>уудтай нийцтэй байна.</a:t>
            </a:r>
          </a:p>
        </p:txBody>
      </p:sp>
      <p:sp>
        <p:nvSpPr>
          <p:cNvPr id="5" name="Date Placeholder 4">
            <a:extLst>
              <a:ext uri="{FF2B5EF4-FFF2-40B4-BE49-F238E27FC236}">
                <a16:creationId xmlns:a16="http://schemas.microsoft.com/office/drawing/2014/main" id="{6D376FF1-59E8-6243-3DC2-27ACCAF694B7}"/>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F36C5A30-7C33-801C-5F17-3E911963729C}"/>
              </a:ext>
            </a:extLst>
          </p:cNvPr>
          <p:cNvSpPr>
            <a:spLocks noGrp="1"/>
          </p:cNvSpPr>
          <p:nvPr>
            <p:ph type="sldNum" idx="12"/>
          </p:nvPr>
        </p:nvSpPr>
        <p:spPr/>
        <p:txBody>
          <a:bodyPr/>
          <a:lstStyle/>
          <a:p>
            <a:fld id="{00000000-1234-1234-1234-123412341234}" type="slidenum">
              <a:rPr lang="mn" smtClean="0"/>
              <a:pPr/>
              <a:t>8</a:t>
            </a:fld>
            <a:endParaRPr lang="mn"/>
          </a:p>
        </p:txBody>
      </p:sp>
    </p:spTree>
    <p:extLst>
      <p:ext uri="{BB962C8B-B14F-4D97-AF65-F5344CB8AC3E}">
        <p14:creationId xmlns:p14="http://schemas.microsoft.com/office/powerpoint/2010/main" val="1189876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55B80975-ACB1-1117-19AF-D2DE0E2B89E8}"/>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D486D295-A8C1-4407-49E5-17314D042409}"/>
              </a:ext>
            </a:extLst>
          </p:cNvPr>
          <p:cNvSpPr txBox="1">
            <a:spLocks noGrp="1"/>
          </p:cNvSpPr>
          <p:nvPr>
            <p:ph type="title"/>
          </p:nvPr>
        </p:nvSpPr>
        <p:spPr>
          <a:xfrm>
            <a:off x="1062581" y="105281"/>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СИСТЕМИЙН АРХИТЕКТУР</a:t>
            </a:r>
            <a:endParaRPr lang="en-US" sz="2000" b="1" cap="all" dirty="0">
              <a:latin typeface="Times New Roman"/>
              <a:cs typeface="Times New Roman"/>
            </a:endParaRPr>
          </a:p>
        </p:txBody>
      </p:sp>
      <p:sp>
        <p:nvSpPr>
          <p:cNvPr id="5" name="Date Placeholder 4">
            <a:extLst>
              <a:ext uri="{FF2B5EF4-FFF2-40B4-BE49-F238E27FC236}">
                <a16:creationId xmlns:a16="http://schemas.microsoft.com/office/drawing/2014/main" id="{CD6BA80D-8BBB-2E80-6635-43598EE9C864}"/>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3DE1E678-D77C-4AE6-A408-410D832914C8}"/>
              </a:ext>
            </a:extLst>
          </p:cNvPr>
          <p:cNvSpPr>
            <a:spLocks noGrp="1"/>
          </p:cNvSpPr>
          <p:nvPr>
            <p:ph type="sldNum" idx="12"/>
          </p:nvPr>
        </p:nvSpPr>
        <p:spPr/>
        <p:txBody>
          <a:bodyPr/>
          <a:lstStyle/>
          <a:p>
            <a:fld id="{00000000-1234-1234-1234-123412341234}" type="slidenum">
              <a:rPr lang="mn" smtClean="0"/>
              <a:pPr/>
              <a:t>9</a:t>
            </a:fld>
            <a:endParaRPr lang="mn"/>
          </a:p>
        </p:txBody>
      </p:sp>
      <p:pic>
        <p:nvPicPr>
          <p:cNvPr id="3" name="Picture 2">
            <a:extLst>
              <a:ext uri="{FF2B5EF4-FFF2-40B4-BE49-F238E27FC236}">
                <a16:creationId xmlns:a16="http://schemas.microsoft.com/office/drawing/2014/main" id="{304E848B-452A-6CD3-9DF4-EDF57963403C}"/>
              </a:ext>
            </a:extLst>
          </p:cNvPr>
          <p:cNvPicPr>
            <a:picLocks noChangeAspect="1"/>
          </p:cNvPicPr>
          <p:nvPr/>
        </p:nvPicPr>
        <p:blipFill>
          <a:blip r:embed="rId4"/>
          <a:stretch>
            <a:fillRect/>
          </a:stretch>
        </p:blipFill>
        <p:spPr>
          <a:xfrm>
            <a:off x="1065939" y="711303"/>
            <a:ext cx="10063480" cy="5435393"/>
          </a:xfrm>
          <a:prstGeom prst="rect">
            <a:avLst/>
          </a:prstGeom>
        </p:spPr>
      </p:pic>
    </p:spTree>
    <p:extLst>
      <p:ext uri="{BB962C8B-B14F-4D97-AF65-F5344CB8AC3E}">
        <p14:creationId xmlns:p14="http://schemas.microsoft.com/office/powerpoint/2010/main" val="3554548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BD70123F-9A68-2119-4BA2-B46E6D9297F9}"/>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E8E3C26E-083F-4958-08F9-8C3CCA709AB7}"/>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ӨГӨГДЛИЙН УРСГАЛ</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26AED4FA-953E-3832-ABA8-0C2F2591404F}"/>
              </a:ext>
            </a:extLst>
          </p:cNvPr>
          <p:cNvSpPr txBox="1">
            <a:spLocks/>
          </p:cNvSpPr>
          <p:nvPr/>
        </p:nvSpPr>
        <p:spPr>
          <a:xfrm>
            <a:off x="474609"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pPr marL="127000" indent="0" algn="just" defTabSz="914400">
              <a:lnSpc>
                <a:spcPct val="100000"/>
              </a:lnSpc>
              <a:buNone/>
            </a:pPr>
            <a:endParaRPr lang="en-US" sz="1600" dirty="0">
              <a:latin typeface="Arial"/>
              <a:ea typeface="Roboto" panose="02000000000000000000" pitchFamily="2" charset="0"/>
              <a:cs typeface="Times New Roman"/>
            </a:endParaRPr>
          </a:p>
          <a:p>
            <a:pPr marL="127000" indent="0" algn="just" defTabSz="914400">
              <a:lnSpc>
                <a:spcPct val="100000"/>
              </a:lnSpc>
              <a:buNone/>
            </a:pPr>
            <a:endParaRPr lang="en-US" sz="1600" dirty="0">
              <a:latin typeface="Arial"/>
              <a:ea typeface="Roboto" panose="02000000000000000000" pitchFamily="2" charset="0"/>
              <a:cs typeface="Times New Roman"/>
            </a:endParaRPr>
          </a:p>
          <a:p>
            <a:pPr marL="127000" indent="0" algn="just" defTabSz="914400">
              <a:lnSpc>
                <a:spcPct val="100000"/>
              </a:lnSpc>
              <a:buNone/>
            </a:pPr>
            <a:endParaRPr lang="en-US" sz="1600" dirty="0">
              <a:latin typeface="Arial"/>
              <a:ea typeface="Roboto" panose="02000000000000000000" pitchFamily="2" charset="0"/>
              <a:cs typeface="Times New Roman"/>
            </a:endParaRPr>
          </a:p>
          <a:p>
            <a:pPr marL="127000" indent="0" algn="just" defTabSz="914400">
              <a:lnSpc>
                <a:spcPct val="100000"/>
              </a:lnSpc>
              <a:buNone/>
            </a:pPr>
            <a:endParaRPr lang="en-US" sz="1600" dirty="0">
              <a:latin typeface="Arial"/>
              <a:ea typeface="Roboto" panose="02000000000000000000" pitchFamily="2" charset="0"/>
              <a:cs typeface="Times New Roman"/>
            </a:endParaRPr>
          </a:p>
          <a:p>
            <a:pPr marL="127000" indent="0" algn="just" defTabSz="914400">
              <a:lnSpc>
                <a:spcPct val="100000"/>
              </a:lnSpc>
              <a:buNone/>
            </a:pPr>
            <a:endParaRPr lang="en-US" sz="1600" dirty="0">
              <a:latin typeface="Arial"/>
              <a:ea typeface="Roboto" panose="02000000000000000000" pitchFamily="2" charset="0"/>
              <a:cs typeface="Times New Roman"/>
            </a:endParaRPr>
          </a:p>
          <a:p>
            <a:pPr marL="127000" indent="0" algn="just" defTabSz="914400">
              <a:lnSpc>
                <a:spcPct val="100000"/>
              </a:lnSpc>
              <a:buNone/>
            </a:pPr>
            <a:endParaRPr lang="en-US" sz="1600" dirty="0"/>
          </a:p>
          <a:p>
            <a:pPr marL="127000" indent="0" algn="just" defTabSz="914400">
              <a:lnSpc>
                <a:spcPct val="100000"/>
              </a:lnSpc>
              <a:buNone/>
            </a:pPr>
            <a:endParaRPr lang="en-US" sz="1600" dirty="0"/>
          </a:p>
          <a:p>
            <a:pPr marL="127000" indent="0" algn="just" defTabSz="914400">
              <a:lnSpc>
                <a:spcPct val="100000"/>
              </a:lnSpc>
              <a:buNone/>
            </a:pPr>
            <a:r>
              <a:rPr lang="mn-MN" sz="1600" dirty="0"/>
              <a:t>Тайлбар:</a:t>
            </a:r>
            <a:endParaRPr lang="en-US" sz="1600" dirty="0"/>
          </a:p>
          <a:p>
            <a:pPr marL="127000" indent="0" algn="just" defTabSz="914400">
              <a:lnSpc>
                <a:spcPct val="100000"/>
              </a:lnSpc>
              <a:buNone/>
            </a:pPr>
            <a:r>
              <a:rPr lang="en-US" sz="1600" dirty="0"/>
              <a:t>Frontend (React/Vite) </a:t>
            </a:r>
            <a:r>
              <a:rPr lang="mn-MN" sz="1600" dirty="0"/>
              <a:t>нь </a:t>
            </a:r>
            <a:r>
              <a:rPr lang="en-US" sz="1600" dirty="0" err="1"/>
              <a:t>FastAPI</a:t>
            </a:r>
            <a:r>
              <a:rPr lang="en-US" sz="1600" dirty="0"/>
              <a:t> Backend-</a:t>
            </a:r>
            <a:r>
              <a:rPr lang="mn-MN" sz="1600" dirty="0"/>
              <a:t>тэй харилцах бөгөөд цааш </a:t>
            </a:r>
            <a:r>
              <a:rPr lang="en-US" sz="1600" dirty="0"/>
              <a:t>Scraper (Selenium+BS4), Analysis (BERT/VADER), Database (PostgreSQL/</a:t>
            </a:r>
            <a:r>
              <a:rPr lang="en-US" sz="1600" dirty="0" err="1"/>
              <a:t>Supabase</a:t>
            </a:r>
            <a:r>
              <a:rPr lang="en-US" sz="1600" dirty="0"/>
              <a:t>), </a:t>
            </a:r>
            <a:r>
              <a:rPr lang="mn-MN" sz="1600" dirty="0"/>
              <a:t>болон </a:t>
            </a:r>
            <a:r>
              <a:rPr lang="en-US" sz="1600" dirty="0"/>
              <a:t>AI Orchestrator (Gemini/Claude) </a:t>
            </a:r>
            <a:r>
              <a:rPr lang="mn-MN" sz="1600" dirty="0"/>
              <a:t>зэрэг модулиудтай уялдан ажиллах ерөнхий бүтэц.</a:t>
            </a:r>
            <a:endParaRPr lang="en-US" sz="1600" dirty="0">
              <a:latin typeface="Arial"/>
              <a:ea typeface="Roboto" panose="02000000000000000000" pitchFamily="2" charset="0"/>
              <a:cs typeface="Times New Roman"/>
            </a:endParaRPr>
          </a:p>
        </p:txBody>
      </p:sp>
      <p:sp>
        <p:nvSpPr>
          <p:cNvPr id="5" name="Date Placeholder 4">
            <a:extLst>
              <a:ext uri="{FF2B5EF4-FFF2-40B4-BE49-F238E27FC236}">
                <a16:creationId xmlns:a16="http://schemas.microsoft.com/office/drawing/2014/main" id="{9042BD0D-5E43-9B3A-10AF-2E825BECCAF5}"/>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DEC6A506-5F1B-6F1A-73E5-09BF82D5B2E7}"/>
              </a:ext>
            </a:extLst>
          </p:cNvPr>
          <p:cNvSpPr>
            <a:spLocks noGrp="1"/>
          </p:cNvSpPr>
          <p:nvPr>
            <p:ph type="sldNum" idx="12"/>
          </p:nvPr>
        </p:nvSpPr>
        <p:spPr/>
        <p:txBody>
          <a:bodyPr/>
          <a:lstStyle/>
          <a:p>
            <a:fld id="{00000000-1234-1234-1234-123412341234}" type="slidenum">
              <a:rPr lang="mn" smtClean="0"/>
              <a:pPr/>
              <a:t>10</a:t>
            </a:fld>
            <a:endParaRPr lang="mn"/>
          </a:p>
        </p:txBody>
      </p:sp>
      <p:pic>
        <p:nvPicPr>
          <p:cNvPr id="7" name="Picture 6">
            <a:extLst>
              <a:ext uri="{FF2B5EF4-FFF2-40B4-BE49-F238E27FC236}">
                <a16:creationId xmlns:a16="http://schemas.microsoft.com/office/drawing/2014/main" id="{E158F5AA-6887-B3B8-7459-AA1B245A0724}"/>
              </a:ext>
            </a:extLst>
          </p:cNvPr>
          <p:cNvPicPr>
            <a:picLocks noChangeAspect="1"/>
          </p:cNvPicPr>
          <p:nvPr/>
        </p:nvPicPr>
        <p:blipFill>
          <a:blip r:embed="rId4"/>
          <a:stretch>
            <a:fillRect/>
          </a:stretch>
        </p:blipFill>
        <p:spPr>
          <a:xfrm>
            <a:off x="3193046" y="1100901"/>
            <a:ext cx="5277587" cy="2705478"/>
          </a:xfrm>
          <a:prstGeom prst="rect">
            <a:avLst/>
          </a:prstGeom>
        </p:spPr>
      </p:pic>
    </p:spTree>
    <p:extLst>
      <p:ext uri="{BB962C8B-B14F-4D97-AF65-F5344CB8AC3E}">
        <p14:creationId xmlns:p14="http://schemas.microsoft.com/office/powerpoint/2010/main" val="124075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4CDF43B8-6FA5-C86C-DDFA-1EF4AC833E13}"/>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CEB29AE4-AF5F-36B5-3A95-A4EA43D60CB8}"/>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2000" b="1" dirty="0">
                <a:solidFill>
                  <a:srgbClr val="003366"/>
                </a:solidFill>
              </a:rPr>
              <a:t>FRONTEND </a:t>
            </a:r>
            <a:r>
              <a:rPr lang="mn-MN" sz="2000" b="1" dirty="0">
                <a:solidFill>
                  <a:srgbClr val="003366"/>
                </a:solidFill>
              </a:rPr>
              <a:t>ХЭРЭГЖИЛТ</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BD9DC40F-10FD-CE68-8C70-73859B9E1D2F}"/>
              </a:ext>
            </a:extLst>
          </p:cNvPr>
          <p:cNvSpPr txBox="1">
            <a:spLocks/>
          </p:cNvSpPr>
          <p:nvPr/>
        </p:nvSpPr>
        <p:spPr>
          <a:xfrm>
            <a:off x="895909"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800" b="1" dirty="0"/>
              <a:t>Хэрэглэгчийн интерфэйсийн хэрэгжилт (</a:t>
            </a:r>
            <a:r>
              <a:rPr lang="en-US" sz="800" b="1" dirty="0"/>
              <a:t>Frontend Implementation)</a:t>
            </a:r>
          </a:p>
          <a:p>
            <a:r>
              <a:rPr lang="mn-MN" sz="800" dirty="0"/>
              <a:t>Системийн хэрэглэгчийн интерфэйс (</a:t>
            </a:r>
            <a:r>
              <a:rPr lang="en-US" sz="800" dirty="0"/>
              <a:t>Frontend) </a:t>
            </a:r>
            <a:r>
              <a:rPr lang="mn-MN" sz="800" dirty="0"/>
              <a:t>нь цуглуулсан их хэмжээний өгөгдлийг хэрэглэгчид ойлгомжтой, хүртээмжтэй хэлбэрээр харуулах, системийг удирдах гол гүүр болж ажиллана. Хөгжүүлэлтийн хурд болон кодын чанарыг сайжруулах үүднээс орчин үеийн </a:t>
            </a:r>
            <a:r>
              <a:rPr lang="en-US" sz="800" b="1" dirty="0"/>
              <a:t>React</a:t>
            </a:r>
            <a:r>
              <a:rPr lang="en-US" sz="800" dirty="0"/>
              <a:t> </a:t>
            </a:r>
            <a:r>
              <a:rPr lang="mn-MN" sz="800" dirty="0"/>
              <a:t>санг </a:t>
            </a:r>
            <a:r>
              <a:rPr lang="en-US" sz="800" b="1" dirty="0"/>
              <a:t>Vite</a:t>
            </a:r>
            <a:r>
              <a:rPr lang="en-US" sz="800" dirty="0"/>
              <a:t> </a:t>
            </a:r>
            <a:r>
              <a:rPr lang="mn-MN" sz="800" dirty="0"/>
              <a:t>хөгжүүлэлтийн орчин болон </a:t>
            </a:r>
            <a:r>
              <a:rPr lang="en-US" sz="800" b="1" dirty="0"/>
              <a:t>TypeScript</a:t>
            </a:r>
            <a:r>
              <a:rPr lang="en-US" sz="800" dirty="0"/>
              <a:t> </a:t>
            </a:r>
            <a:r>
              <a:rPr lang="mn-MN" sz="800" dirty="0"/>
              <a:t>хэл дээр суурилан хөгжүүлсэн.</a:t>
            </a:r>
          </a:p>
          <a:p>
            <a:r>
              <a:rPr lang="mn-MN" sz="800" dirty="0"/>
              <a:t>Хэрэглэгчийн интерфэйс нь дараах үндсэн модулиудаас бүрдэнэ:</a:t>
            </a:r>
          </a:p>
          <a:p>
            <a:r>
              <a:rPr lang="mn-MN" sz="800" b="1" dirty="0"/>
              <a:t>1. Технологийн стек ба архитектур</a:t>
            </a:r>
            <a:br>
              <a:rPr lang="mn-MN" sz="800" dirty="0"/>
            </a:br>
            <a:r>
              <a:rPr lang="en-US" sz="800" dirty="0"/>
              <a:t>Frontend </a:t>
            </a:r>
            <a:r>
              <a:rPr lang="mn-MN" sz="800" dirty="0"/>
              <a:t>нь компонент дээр суурилсан (</a:t>
            </a:r>
            <a:r>
              <a:rPr lang="en-US" sz="800" dirty="0"/>
              <a:t>component-based) </a:t>
            </a:r>
            <a:r>
              <a:rPr lang="mn-MN" sz="800" dirty="0"/>
              <a:t>архитектуртай. Төрөлжсөн (</a:t>
            </a:r>
            <a:r>
              <a:rPr lang="en-US" sz="800" dirty="0"/>
              <a:t>strongly-typed) TypeScript </a:t>
            </a:r>
            <a:r>
              <a:rPr lang="mn-MN" sz="800" dirty="0"/>
              <a:t>ашигласан нь хөгжүүлэлтийн явцад гарч болох алдааг бууруулсан бол, </a:t>
            </a:r>
            <a:r>
              <a:rPr lang="en-US" sz="800" dirty="0"/>
              <a:t>Tailwind CSS </a:t>
            </a:r>
            <a:r>
              <a:rPr lang="mn-MN" sz="800" dirty="0"/>
              <a:t>ашиглан гар утас болон суурин компьютерт зохицсон (</a:t>
            </a:r>
            <a:r>
              <a:rPr lang="en-US" sz="800" dirty="0"/>
              <a:t>responsive) </a:t>
            </a:r>
            <a:r>
              <a:rPr lang="mn-MN" sz="800" dirty="0"/>
              <a:t>загварчлалыг маш хурдан бөгөөд нэгдсэн стандартаар хийж гүйцэтгэсэн. Системийн бүх цонх, товч болон мэдээллүүдийг Монгол хэл (Кирилл) дээр бүрэн нутагшуулж хөгжүүлсэн.</a:t>
            </a:r>
          </a:p>
          <a:p>
            <a:r>
              <a:rPr lang="mn-MN" sz="800" b="1" dirty="0"/>
              <a:t>2. Хяналтын самбар (</a:t>
            </a:r>
            <a:r>
              <a:rPr lang="en-US" sz="800" b="1" dirty="0"/>
              <a:t>Dashboard)</a:t>
            </a:r>
            <a:br>
              <a:rPr lang="en-US" sz="800" dirty="0"/>
            </a:br>
            <a:r>
              <a:rPr lang="mn-MN" sz="800" dirty="0"/>
              <a:t>Системийн нүүр хуудас болох </a:t>
            </a:r>
            <a:r>
              <a:rPr lang="en-US" sz="800" dirty="0"/>
              <a:t>Dashboard </a:t>
            </a:r>
            <a:r>
              <a:rPr lang="mn-MN" sz="800" dirty="0"/>
              <a:t>нь </a:t>
            </a:r>
            <a:r>
              <a:rPr lang="en-US" sz="800" dirty="0"/>
              <a:t>Backend-</a:t>
            </a:r>
            <a:r>
              <a:rPr lang="mn-MN" sz="800" dirty="0"/>
              <a:t>ийн </a:t>
            </a:r>
            <a:r>
              <a:rPr lang="en-US" sz="800" dirty="0"/>
              <a:t>REST API (/</a:t>
            </a:r>
            <a:r>
              <a:rPr lang="en-US" sz="800" dirty="0" err="1"/>
              <a:t>api</a:t>
            </a:r>
            <a:r>
              <a:rPr lang="en-US" sz="800" dirty="0"/>
              <a:t>/v1/posts, /</a:t>
            </a:r>
            <a:r>
              <a:rPr lang="en-US" sz="800" dirty="0" err="1"/>
              <a:t>api</a:t>
            </a:r>
            <a:r>
              <a:rPr lang="en-US" sz="800" dirty="0"/>
              <a:t>/v1/stats)-</a:t>
            </a:r>
            <a:r>
              <a:rPr lang="mn-MN" sz="800" dirty="0"/>
              <a:t>тай шууд холбогдон бодит өгөгдлийг уншиж харуулна. Хэрэв </a:t>
            </a:r>
            <a:r>
              <a:rPr lang="en-US" sz="800" dirty="0"/>
              <a:t>Backend </a:t>
            </a:r>
            <a:r>
              <a:rPr lang="mn-MN" sz="800" dirty="0"/>
              <a:t>сервэртэй холбогдох боломжгүй үед систем автоматаар "</a:t>
            </a:r>
            <a:r>
              <a:rPr lang="en-US" sz="800" dirty="0"/>
              <a:t>Demo Fallback" </a:t>
            </a:r>
            <a:r>
              <a:rPr lang="mn-MN" sz="800" dirty="0"/>
              <a:t>горимд шилжиж, өөрт суулгасан жишээ өгөгдлийг харуулах байдлаар алдаанд тэсвэртэй (</a:t>
            </a:r>
            <a:r>
              <a:rPr lang="en-US" sz="800" dirty="0"/>
              <a:t>fault-tolerant) </a:t>
            </a:r>
            <a:r>
              <a:rPr lang="mn-MN" sz="800" dirty="0"/>
              <a:t>зохиомжлогдсон. Өгөгдлийн тренд, хандлагыг хэрэглэгчид харуулахын тулд </a:t>
            </a:r>
            <a:r>
              <a:rPr lang="en-US" sz="800" dirty="0"/>
              <a:t>Recharts </a:t>
            </a:r>
            <a:r>
              <a:rPr lang="mn-MN" sz="800" dirty="0"/>
              <a:t>сан ашиглан интерактив графикуудыг байрлуулсан.</a:t>
            </a:r>
          </a:p>
          <a:p>
            <a:r>
              <a:rPr lang="mn-MN" sz="800" b="1" dirty="0"/>
              <a:t>3. Өгөгдлийн эх сурвалж ба Удирдлага (</a:t>
            </a:r>
            <a:r>
              <a:rPr lang="en-US" sz="800" b="1" dirty="0"/>
              <a:t>Data Sources &amp; Admin Control)</a:t>
            </a:r>
            <a:br>
              <a:rPr lang="en-US" sz="800" dirty="0"/>
            </a:br>
            <a:r>
              <a:rPr lang="mn-MN" sz="800" dirty="0"/>
              <a:t>Энэ модуль нь мэдээлэл цуглуулагч буюу </a:t>
            </a:r>
            <a:r>
              <a:rPr lang="en-US" sz="800" dirty="0"/>
              <a:t>Scraper-</a:t>
            </a:r>
            <a:r>
              <a:rPr lang="mn-MN" sz="800" dirty="0"/>
              <a:t>ийг удирдах хэсэг юм.</a:t>
            </a:r>
          </a:p>
          <a:p>
            <a:r>
              <a:rPr lang="mn-MN" sz="800" b="1" dirty="0"/>
              <a:t>Зорилтот хуудсууд:</a:t>
            </a:r>
            <a:r>
              <a:rPr lang="mn-MN" sz="800" dirty="0"/>
              <a:t> Хэрэглэгч шинээр мэдээлэл татах </a:t>
            </a:r>
            <a:r>
              <a:rPr lang="en-US" sz="800" dirty="0"/>
              <a:t>Facebook </a:t>
            </a:r>
            <a:r>
              <a:rPr lang="mn-MN" sz="800" dirty="0"/>
              <a:t>хуудасны </a:t>
            </a:r>
            <a:r>
              <a:rPr lang="en-US" sz="800" dirty="0"/>
              <a:t>URL-</a:t>
            </a:r>
            <a:r>
              <a:rPr lang="mn-MN" sz="800" dirty="0"/>
              <a:t>ийг оруулах, устгах, </a:t>
            </a:r>
            <a:r>
              <a:rPr lang="en-US" sz="800" dirty="0"/>
              <a:t>pages.txt </a:t>
            </a:r>
            <a:r>
              <a:rPr lang="mn-MN" sz="800" dirty="0"/>
              <a:t>файлыг шинэчлэх боломжтой.</a:t>
            </a:r>
          </a:p>
          <a:p>
            <a:r>
              <a:rPr lang="mn-MN" sz="800" b="1" dirty="0"/>
              <a:t>Процесс хяналт:</a:t>
            </a:r>
            <a:r>
              <a:rPr lang="mn-MN" sz="800" dirty="0"/>
              <a:t> </a:t>
            </a:r>
            <a:r>
              <a:rPr lang="en-US" sz="800" dirty="0"/>
              <a:t>Scraper-</a:t>
            </a:r>
            <a:r>
              <a:rPr lang="mn-MN" sz="800" dirty="0"/>
              <a:t>ийг </a:t>
            </a:r>
            <a:r>
              <a:rPr lang="en-US" sz="800" dirty="0"/>
              <a:t>UI-</a:t>
            </a:r>
            <a:r>
              <a:rPr lang="mn-MN" sz="800" dirty="0"/>
              <a:t>аас шууд асаах (</a:t>
            </a:r>
            <a:r>
              <a:rPr lang="en-US" sz="800" dirty="0"/>
              <a:t>start) </a:t>
            </a:r>
            <a:r>
              <a:rPr lang="mn-MN" sz="800" dirty="0"/>
              <a:t>болон зогсоох үйлдэл хийх бөгөөд ард явагдаж буй үйлдлийн лог (</a:t>
            </a:r>
            <a:r>
              <a:rPr lang="en-US" sz="800" dirty="0"/>
              <a:t>log) </a:t>
            </a:r>
            <a:r>
              <a:rPr lang="mn-MN" sz="800" dirty="0"/>
              <a:t>мэдээллийг терминал хэлбэрээр (</a:t>
            </a:r>
            <a:r>
              <a:rPr lang="en-US" sz="800" dirty="0"/>
              <a:t>Polling-</a:t>
            </a:r>
            <a:r>
              <a:rPr lang="mn-MN" sz="800" dirty="0"/>
              <a:t>оор) интерфейс дээр бодит хугацаанд харуулдаг.</a:t>
            </a:r>
          </a:p>
          <a:p>
            <a:r>
              <a:rPr lang="mn-MN" sz="800" b="1" dirty="0"/>
              <a:t>4. </a:t>
            </a:r>
            <a:r>
              <a:rPr lang="en-US" sz="800" b="1" dirty="0"/>
              <a:t>AI </a:t>
            </a:r>
            <a:r>
              <a:rPr lang="en-US" sz="800" b="1" dirty="0" err="1"/>
              <a:t>AI</a:t>
            </a:r>
            <a:r>
              <a:rPr lang="en-US" sz="800" b="1" dirty="0"/>
              <a:t> </a:t>
            </a:r>
            <a:r>
              <a:rPr lang="mn-MN" sz="800" b="1" dirty="0"/>
              <a:t>Шинжилгээ ба Тайлан (</a:t>
            </a:r>
            <a:r>
              <a:rPr lang="en-US" sz="800" b="1" dirty="0"/>
              <a:t>Predictive Analysis &amp; Gemini QA)</a:t>
            </a:r>
            <a:br>
              <a:rPr lang="en-US" sz="800" dirty="0"/>
            </a:br>
            <a:r>
              <a:rPr lang="mn-MN" sz="800" dirty="0"/>
              <a:t>Энэ хэсэг нь системийн хамгийн чухал үнэ цэнийг бүтээх хэсэг юм. Цуглуулсан сошиал медиа постуудыг нэгтгэн </a:t>
            </a:r>
            <a:r>
              <a:rPr lang="en-US" sz="800" b="1" dirty="0"/>
              <a:t>Google Gemini API</a:t>
            </a:r>
            <a:r>
              <a:rPr lang="en-US" sz="800" dirty="0"/>
              <a:t> </a:t>
            </a:r>
            <a:r>
              <a:rPr lang="mn-MN" sz="800" dirty="0"/>
              <a:t>руу илгээж, хиймэл оюун ухааны тусламжтайгаар нарийвчилсан дүн шинжилгээ, хураангуй тайлан үүсгэдэг.</a:t>
            </a:r>
            <a:br>
              <a:rPr lang="mn-MN" sz="800" dirty="0"/>
            </a:br>
            <a:r>
              <a:rPr lang="mn-MN" sz="800" dirty="0"/>
              <a:t>Тайлангууд нь зөвхөн тоон мэдээлэл бус, бизнесийн дүгнэлт, цаашид авах арга хэмжээний зөвлөмжүүдийг Монгол хэлээр цэвэр, уншигдахуйц </a:t>
            </a:r>
            <a:r>
              <a:rPr lang="en-US" sz="800" dirty="0"/>
              <a:t>Markdown </a:t>
            </a:r>
            <a:r>
              <a:rPr lang="mn-MN" sz="800" dirty="0"/>
              <a:t>форматтайгаар хэрэглэгчид эргүүлэн харуулдгаараа онцлогтой. Мөн хэрэглэгч</a:t>
            </a:r>
            <a:r>
              <a:rPr lang="en-US" sz="800" dirty="0"/>
              <a:t>AI </a:t>
            </a:r>
            <a:r>
              <a:rPr lang="mn-MN" sz="800" dirty="0"/>
              <a:t>туслахтай (</a:t>
            </a:r>
            <a:r>
              <a:rPr lang="en-US" sz="800" dirty="0"/>
              <a:t>AI Assistant) </a:t>
            </a:r>
            <a:r>
              <a:rPr lang="mn-MN" sz="800" dirty="0"/>
              <a:t>өгөгдлийн талаар чатлах (</a:t>
            </a:r>
            <a:r>
              <a:rPr lang="en-US" sz="800" dirty="0"/>
              <a:t>Q&amp;A) </a:t>
            </a:r>
            <a:r>
              <a:rPr lang="mn-MN" sz="800" dirty="0"/>
              <a:t>байдлаар харилцах интерфейсийг амжилттай нэвтрүүлсэн.</a:t>
            </a:r>
          </a:p>
          <a:p>
            <a:r>
              <a:rPr lang="mn-MN" sz="800" b="1" dirty="0"/>
              <a:t>5. Бодит хугацааны шинэчлэлт (</a:t>
            </a:r>
            <a:r>
              <a:rPr lang="en-US" sz="800" b="1" dirty="0"/>
              <a:t>Real-time update)</a:t>
            </a:r>
            <a:br>
              <a:rPr lang="en-US" sz="800" dirty="0"/>
            </a:br>
            <a:r>
              <a:rPr lang="mn-MN" sz="800" dirty="0"/>
              <a:t>Мэдээллийн санд шинээр пост болон коммент нэмэгдэх үед хэрэглэгч хуудсаа заавал </a:t>
            </a:r>
            <a:r>
              <a:rPr lang="en-US" sz="800" dirty="0"/>
              <a:t>Refresh </a:t>
            </a:r>
            <a:r>
              <a:rPr lang="mn-MN" sz="800" dirty="0"/>
              <a:t>хийх шаардлагагүйгээр өгөгдлүүд автоматаар шинэчлэгдэж байх логикийг (</a:t>
            </a:r>
            <a:r>
              <a:rPr lang="en-US" sz="800" dirty="0"/>
              <a:t>React hooks </a:t>
            </a:r>
            <a:r>
              <a:rPr lang="mn-MN" sz="800" dirty="0"/>
              <a:t>болон </a:t>
            </a:r>
            <a:r>
              <a:rPr lang="en-US" sz="800" dirty="0"/>
              <a:t>polling </a:t>
            </a:r>
            <a:r>
              <a:rPr lang="mn-MN" sz="800" dirty="0"/>
              <a:t>эсвэл </a:t>
            </a:r>
            <a:r>
              <a:rPr lang="en-US" sz="800" dirty="0"/>
              <a:t>WebSocket / </a:t>
            </a:r>
            <a:r>
              <a:rPr lang="en-US" sz="800" dirty="0" err="1"/>
              <a:t>Supabase</a:t>
            </a:r>
            <a:r>
              <a:rPr lang="en-US" sz="800" dirty="0"/>
              <a:t> channel </a:t>
            </a:r>
            <a:r>
              <a:rPr lang="mn-MN" sz="800" dirty="0"/>
              <a:t>ашиглан) хэрэгжүүлсэн нь хэрэглэгчийн туршлагыг (</a:t>
            </a:r>
            <a:r>
              <a:rPr lang="en-US" sz="800" dirty="0"/>
              <a:t>UX) </a:t>
            </a:r>
            <a:r>
              <a:rPr lang="mn-MN" sz="800" dirty="0"/>
              <a:t>ихээхэн сайжруулсан.</a:t>
            </a:r>
          </a:p>
          <a:p>
            <a:pPr marL="127000" indent="0" algn="just" defTabSz="914400">
              <a:lnSpc>
                <a:spcPct val="100000"/>
              </a:lnSpc>
              <a:buNone/>
            </a:pPr>
            <a:endParaRPr lang="en-US" sz="800" dirty="0">
              <a:latin typeface="Arial"/>
              <a:ea typeface="Roboto" panose="02000000000000000000" pitchFamily="2" charset="0"/>
              <a:cs typeface="Times New Roman"/>
            </a:endParaRPr>
          </a:p>
        </p:txBody>
      </p:sp>
      <p:sp>
        <p:nvSpPr>
          <p:cNvPr id="5" name="Date Placeholder 4">
            <a:extLst>
              <a:ext uri="{FF2B5EF4-FFF2-40B4-BE49-F238E27FC236}">
                <a16:creationId xmlns:a16="http://schemas.microsoft.com/office/drawing/2014/main" id="{556CF390-531D-366E-5E00-2C3B8BFC3F60}"/>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F4581155-4BD7-6D4D-FD31-34165E7A3272}"/>
              </a:ext>
            </a:extLst>
          </p:cNvPr>
          <p:cNvSpPr>
            <a:spLocks noGrp="1"/>
          </p:cNvSpPr>
          <p:nvPr>
            <p:ph type="sldNum" idx="12"/>
          </p:nvPr>
        </p:nvSpPr>
        <p:spPr/>
        <p:txBody>
          <a:bodyPr/>
          <a:lstStyle/>
          <a:p>
            <a:fld id="{00000000-1234-1234-1234-123412341234}" type="slidenum">
              <a:rPr lang="mn" smtClean="0"/>
              <a:pPr/>
              <a:t>11</a:t>
            </a:fld>
            <a:endParaRPr lang="mn"/>
          </a:p>
        </p:txBody>
      </p:sp>
    </p:spTree>
    <p:extLst>
      <p:ext uri="{BB962C8B-B14F-4D97-AF65-F5344CB8AC3E}">
        <p14:creationId xmlns:p14="http://schemas.microsoft.com/office/powerpoint/2010/main" val="3038117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0D413686-2C14-ABD5-F19A-20ADE2DF09D1}"/>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9D655BC1-DE2D-A63B-CB0F-47FC2A1A8C42}"/>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2000" b="1" dirty="0">
                <a:solidFill>
                  <a:srgbClr val="003366"/>
                </a:solidFill>
              </a:rPr>
              <a:t>BACKEND API</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390A3D84-068D-3D01-EBCA-B07CF2FB47C4}"/>
              </a:ext>
            </a:extLst>
          </p:cNvPr>
          <p:cNvSpPr txBox="1">
            <a:spLocks/>
          </p:cNvSpPr>
          <p:nvPr/>
        </p:nvSpPr>
        <p:spPr>
          <a:xfrm>
            <a:off x="484441" y="1030257"/>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800" b="1" dirty="0"/>
              <a:t>Бакэнд болон </a:t>
            </a:r>
            <a:r>
              <a:rPr lang="en-US" sz="800" b="1" dirty="0"/>
              <a:t>API </a:t>
            </a:r>
            <a:r>
              <a:rPr lang="mn-MN" sz="800" b="1" dirty="0"/>
              <a:t>хэрэгжилт (</a:t>
            </a:r>
            <a:r>
              <a:rPr lang="en-US" sz="800" b="1" dirty="0"/>
              <a:t>Backend API Implementation)</a:t>
            </a:r>
          </a:p>
          <a:p>
            <a:r>
              <a:rPr lang="mn-MN" sz="800" dirty="0"/>
              <a:t>Системийн өгөгдөл боловсруулах, мэдээллийн сантай харилцах болон хиймэл оюун ухааны модулиудыг удирдах тархи буюу Бакэнд (</a:t>
            </a:r>
            <a:r>
              <a:rPr lang="en-US" sz="800" dirty="0"/>
              <a:t>Backend) </a:t>
            </a:r>
            <a:r>
              <a:rPr lang="mn-MN" sz="800" dirty="0"/>
              <a:t>үйлчилгээг </a:t>
            </a:r>
            <a:r>
              <a:rPr lang="en-US" sz="800" b="1" dirty="0"/>
              <a:t>Python</a:t>
            </a:r>
            <a:r>
              <a:rPr lang="en-US" sz="800" dirty="0"/>
              <a:t> </a:t>
            </a:r>
            <a:r>
              <a:rPr lang="mn-MN" sz="800" dirty="0"/>
              <a:t>програмчлалын хэл дээр суурилсан </a:t>
            </a:r>
            <a:r>
              <a:rPr lang="en-US" sz="800" b="1" dirty="0" err="1"/>
              <a:t>FastAPI</a:t>
            </a:r>
            <a:r>
              <a:rPr lang="en-US" sz="800" dirty="0"/>
              <a:t> </a:t>
            </a:r>
            <a:r>
              <a:rPr lang="mn-MN" sz="800" dirty="0"/>
              <a:t>фреймворк ашиглан хэрэгжүүлсэн. </a:t>
            </a:r>
            <a:r>
              <a:rPr lang="en-US" sz="800" dirty="0" err="1"/>
              <a:t>FastAPI</a:t>
            </a:r>
            <a:r>
              <a:rPr lang="en-US" sz="800" dirty="0"/>
              <a:t> </a:t>
            </a:r>
            <a:r>
              <a:rPr lang="mn-MN" sz="800" dirty="0"/>
              <a:t>нь өгөгдлийн төрлийг нарийн шалгадаг (</a:t>
            </a:r>
            <a:r>
              <a:rPr lang="en-US" sz="800" dirty="0" err="1"/>
              <a:t>Pydantic</a:t>
            </a:r>
            <a:r>
              <a:rPr lang="en-US" sz="800" dirty="0"/>
              <a:t> validation), </a:t>
            </a:r>
            <a:r>
              <a:rPr lang="mn-MN" sz="800" dirty="0"/>
              <a:t>асинхрон (</a:t>
            </a:r>
            <a:r>
              <a:rPr lang="en-US" sz="800" dirty="0"/>
              <a:t>Asynchronous) </a:t>
            </a:r>
            <a:r>
              <a:rPr lang="mn-MN" sz="800" dirty="0"/>
              <a:t>ажиллагааг маш сайн дэмждэг орчин үеийн, өндөр хурдны вэб фреймворк юм.</a:t>
            </a:r>
          </a:p>
          <a:p>
            <a:r>
              <a:rPr lang="mn-MN" sz="800" dirty="0"/>
              <a:t>Бакэнд </a:t>
            </a:r>
            <a:r>
              <a:rPr lang="en-US" sz="800" dirty="0"/>
              <a:t>API </a:t>
            </a:r>
            <a:r>
              <a:rPr lang="mn-MN" sz="800" dirty="0"/>
              <a:t>нь дараах үндсэн чиг үүрэг, модулиудыг гүйцэтгэнэ:</a:t>
            </a:r>
          </a:p>
          <a:p>
            <a:r>
              <a:rPr lang="mn-MN" sz="800" b="1" dirty="0"/>
              <a:t>1. </a:t>
            </a:r>
            <a:r>
              <a:rPr lang="en-US" sz="800" b="1" dirty="0"/>
              <a:t>RESTful </a:t>
            </a:r>
            <a:r>
              <a:rPr lang="mn-MN" sz="800" b="1" dirty="0"/>
              <a:t>Архитектур ба Өгөгдөл дамжуулалт</a:t>
            </a:r>
            <a:br>
              <a:rPr lang="mn-MN" sz="800" dirty="0"/>
            </a:br>
            <a:r>
              <a:rPr lang="mn-MN" sz="800" dirty="0"/>
              <a:t>Фронтенд болон Бакэндийн хоорондын харилцааг </a:t>
            </a:r>
            <a:r>
              <a:rPr lang="en-US" sz="800" dirty="0"/>
              <a:t>RESTful API </a:t>
            </a:r>
            <a:r>
              <a:rPr lang="mn-MN" sz="800" dirty="0"/>
              <a:t>стандартаар зохион байгуулсан. </a:t>
            </a:r>
            <a:r>
              <a:rPr lang="en-US" sz="800" dirty="0"/>
              <a:t>API </a:t>
            </a:r>
            <a:r>
              <a:rPr lang="mn-MN" sz="800" dirty="0"/>
              <a:t>нь хэрэглэгчийн интерфейс рүү </a:t>
            </a:r>
            <a:r>
              <a:rPr lang="en-US" sz="800" dirty="0"/>
              <a:t>JSON </a:t>
            </a:r>
            <a:r>
              <a:rPr lang="mn-MN" sz="800" dirty="0"/>
              <a:t>форматаар өгөгдлийг дамжуулах бөгөөд /</a:t>
            </a:r>
            <a:r>
              <a:rPr lang="en-US" sz="800" dirty="0" err="1"/>
              <a:t>api</a:t>
            </a:r>
            <a:r>
              <a:rPr lang="en-US" sz="800" dirty="0"/>
              <a:t>/v1/posts, /</a:t>
            </a:r>
            <a:r>
              <a:rPr lang="en-US" sz="800" dirty="0" err="1"/>
              <a:t>api</a:t>
            </a:r>
            <a:r>
              <a:rPr lang="en-US" sz="800" dirty="0"/>
              <a:t>/v1/stats </a:t>
            </a:r>
            <a:r>
              <a:rPr lang="mn-MN" sz="800" dirty="0"/>
              <a:t>зэрэг эндпойнт (</a:t>
            </a:r>
            <a:r>
              <a:rPr lang="en-US" sz="800" dirty="0"/>
              <a:t>endpoint)-</a:t>
            </a:r>
            <a:r>
              <a:rPr lang="mn-MN" sz="800" dirty="0"/>
              <a:t>уудын тусламжтайгаар нийт цуглуулсан пост, сэтгэгдэл (</a:t>
            </a:r>
            <a:r>
              <a:rPr lang="en-US" sz="800" dirty="0"/>
              <a:t>comments), </a:t>
            </a:r>
            <a:r>
              <a:rPr lang="mn-MN" sz="800" dirty="0"/>
              <a:t>болон хандалтын (</a:t>
            </a:r>
            <a:r>
              <a:rPr lang="en-US" sz="800" dirty="0"/>
              <a:t>engagement) </a:t>
            </a:r>
            <a:r>
              <a:rPr lang="mn-MN" sz="800" dirty="0"/>
              <a:t>статистик мэдээллүүдийг шуурхай, найдвартай уншиж буцаадаг. Мөн </a:t>
            </a:r>
            <a:r>
              <a:rPr lang="en-US" sz="800" dirty="0" err="1"/>
              <a:t>FastAPI</a:t>
            </a:r>
            <a:r>
              <a:rPr lang="en-US" sz="800" dirty="0"/>
              <a:t>-</a:t>
            </a:r>
            <a:r>
              <a:rPr lang="mn-MN" sz="800" dirty="0"/>
              <a:t>ийн давуу талыг ашиглан </a:t>
            </a:r>
            <a:r>
              <a:rPr lang="en-US" sz="800" dirty="0"/>
              <a:t>API-</a:t>
            </a:r>
            <a:r>
              <a:rPr lang="mn-MN" sz="800" dirty="0"/>
              <a:t>ийн баримт бичгийг (</a:t>
            </a:r>
            <a:r>
              <a:rPr lang="en-US" sz="800" dirty="0"/>
              <a:t>Swagger UI </a:t>
            </a:r>
            <a:r>
              <a:rPr lang="mn-MN" sz="800" dirty="0"/>
              <a:t>болон </a:t>
            </a:r>
            <a:r>
              <a:rPr lang="en-US" sz="800" dirty="0" err="1"/>
              <a:t>ReDoc</a:t>
            </a:r>
            <a:r>
              <a:rPr lang="en-US" sz="800" dirty="0"/>
              <a:t>) </a:t>
            </a:r>
            <a:r>
              <a:rPr lang="mn-MN" sz="800" dirty="0"/>
              <a:t>автоматаар үүсгэсэн.</a:t>
            </a:r>
          </a:p>
          <a:p>
            <a:r>
              <a:rPr lang="mn-MN" sz="800" b="1" dirty="0"/>
              <a:t>2. Мэдээлэл цуглуулагчийн удирдлага (</a:t>
            </a:r>
            <a:r>
              <a:rPr lang="en-US" sz="800" b="1" dirty="0"/>
              <a:t>Scraper Control)</a:t>
            </a:r>
            <a:br>
              <a:rPr lang="en-US" sz="800" dirty="0"/>
            </a:br>
            <a:r>
              <a:rPr lang="mn-MN" sz="800" dirty="0"/>
              <a:t>Системд өгөгдөл татах (</a:t>
            </a:r>
            <a:r>
              <a:rPr lang="en-US" sz="800" dirty="0"/>
              <a:t>Scraping) </a:t>
            </a:r>
            <a:r>
              <a:rPr lang="mn-MN" sz="800" dirty="0"/>
              <a:t>үйл явц нь маш их цаг шаарддаг тул Бакэнд </a:t>
            </a:r>
            <a:r>
              <a:rPr lang="en-US" sz="800" dirty="0"/>
              <a:t>API </a:t>
            </a:r>
            <a:r>
              <a:rPr lang="mn-MN" sz="800" dirty="0"/>
              <a:t>нь түүнийг "Арын процесс" (</a:t>
            </a:r>
            <a:r>
              <a:rPr lang="en-US" sz="800" dirty="0"/>
              <a:t>Background task) </a:t>
            </a:r>
            <a:r>
              <a:rPr lang="mn-MN" sz="800" dirty="0"/>
              <a:t>горимоор ажиллуулдаг.</a:t>
            </a:r>
          </a:p>
          <a:p>
            <a:r>
              <a:rPr lang="mn-MN" sz="800" dirty="0"/>
              <a:t>/</a:t>
            </a:r>
            <a:r>
              <a:rPr lang="en-US" sz="800" dirty="0" err="1"/>
              <a:t>api</a:t>
            </a:r>
            <a:r>
              <a:rPr lang="en-US" sz="800" dirty="0"/>
              <a:t>/v1/pages </a:t>
            </a:r>
            <a:r>
              <a:rPr lang="mn-MN" sz="800" dirty="0"/>
              <a:t>эндпойнтоор дамжуулан зорилтот хуудсуудын жагсаалтыг удирдах,</a:t>
            </a:r>
          </a:p>
          <a:p>
            <a:r>
              <a:rPr lang="mn-MN" sz="800" dirty="0"/>
              <a:t>/</a:t>
            </a:r>
            <a:r>
              <a:rPr lang="en-US" sz="800" dirty="0" err="1"/>
              <a:t>api</a:t>
            </a:r>
            <a:r>
              <a:rPr lang="en-US" sz="800" dirty="0"/>
              <a:t>/v1/scraper/run </a:t>
            </a:r>
            <a:r>
              <a:rPr lang="mn-MN" sz="800" dirty="0"/>
              <a:t>эндпойнтоор скраперийг ажиллуулах,</a:t>
            </a:r>
          </a:p>
          <a:p>
            <a:r>
              <a:rPr lang="mn-MN" sz="800" dirty="0"/>
              <a:t>/</a:t>
            </a:r>
            <a:r>
              <a:rPr lang="en-US" sz="800" dirty="0" err="1"/>
              <a:t>api</a:t>
            </a:r>
            <a:r>
              <a:rPr lang="en-US" sz="800" dirty="0"/>
              <a:t>/v1/scraper/status </a:t>
            </a:r>
            <a:r>
              <a:rPr lang="mn-MN" sz="800" dirty="0"/>
              <a:t>болон </a:t>
            </a:r>
            <a:r>
              <a:rPr lang="en-US" sz="800" dirty="0"/>
              <a:t>logs </a:t>
            </a:r>
            <a:r>
              <a:rPr lang="mn-MN" sz="800" dirty="0"/>
              <a:t>руу хандан ачааллын төлөв, лог мэдээллийг хянах гэсэн бүрэн хяналтын урсгалыг </a:t>
            </a:r>
            <a:r>
              <a:rPr lang="en-US" sz="800" dirty="0"/>
              <a:t>API-</a:t>
            </a:r>
            <a:r>
              <a:rPr lang="mn-MN" sz="800" dirty="0"/>
              <a:t>аар дамжуулан зохион байгуулсан. Энэ нь систем гацах, хэрэглэгчийн хүсэлт хүлээгдэх (</a:t>
            </a:r>
            <a:r>
              <a:rPr lang="en-US" sz="800" dirty="0"/>
              <a:t>timeout) </a:t>
            </a:r>
            <a:r>
              <a:rPr lang="mn-MN" sz="800" dirty="0"/>
              <a:t>зэрэг эрсдэлээс бүрэн сэргийлдэг.</a:t>
            </a:r>
          </a:p>
          <a:p>
            <a:r>
              <a:rPr lang="mn-MN" sz="800" b="1" dirty="0"/>
              <a:t>3. Хиймэл оюун ухаан ба Моделийн интеграци (</a:t>
            </a:r>
            <a:r>
              <a:rPr lang="en-US" sz="800" b="1" dirty="0"/>
              <a:t>AI &amp; ML Integration)</a:t>
            </a:r>
            <a:br>
              <a:rPr lang="en-US" sz="800" dirty="0"/>
            </a:br>
            <a:r>
              <a:rPr lang="mn-MN" sz="800" dirty="0"/>
              <a:t>Мэдээллийн санд орж ирсэн түүхий өгөгдөлд дүн шинжилгээ хийх бизнес логикийг </a:t>
            </a:r>
            <a:r>
              <a:rPr lang="en-US" sz="800" dirty="0"/>
              <a:t>API </a:t>
            </a:r>
            <a:r>
              <a:rPr lang="mn-MN" sz="800" dirty="0"/>
              <a:t>дотор тусгайлан хэрэгжүүлсэн.</a:t>
            </a:r>
          </a:p>
          <a:p>
            <a:r>
              <a:rPr lang="mn-MN" sz="800" b="1" dirty="0"/>
              <a:t>Текст боловсруулалт ба </a:t>
            </a:r>
            <a:r>
              <a:rPr lang="en-US" sz="800" b="1" dirty="0"/>
              <a:t>NLP:</a:t>
            </a:r>
            <a:r>
              <a:rPr lang="en-US" sz="800" dirty="0"/>
              <a:t> /</a:t>
            </a:r>
            <a:r>
              <a:rPr lang="en-US" sz="800" dirty="0" err="1"/>
              <a:t>api</a:t>
            </a:r>
            <a:r>
              <a:rPr lang="en-US" sz="800" dirty="0"/>
              <a:t>/v1/sentiment, /</a:t>
            </a:r>
            <a:r>
              <a:rPr lang="en-US" sz="800" dirty="0" err="1"/>
              <a:t>api</a:t>
            </a:r>
            <a:r>
              <a:rPr lang="en-US" sz="800" dirty="0"/>
              <a:t>/v1/topics </a:t>
            </a:r>
            <a:r>
              <a:rPr lang="mn-MN" sz="800" dirty="0"/>
              <a:t>эндпойнтууд нь </a:t>
            </a:r>
            <a:r>
              <a:rPr lang="en-US" sz="800" dirty="0" err="1"/>
              <a:t>TextBlob</a:t>
            </a:r>
            <a:r>
              <a:rPr lang="en-US" sz="800" dirty="0"/>
              <a:t>, Scikit-learn (LDA modeling) </a:t>
            </a:r>
            <a:r>
              <a:rPr lang="mn-MN" sz="800" dirty="0"/>
              <a:t>сангуудыг дуудаж, текстийн хандлага болон гол сэдвүүдийг илрүүлдэг.</a:t>
            </a:r>
          </a:p>
          <a:p>
            <a:r>
              <a:rPr lang="en-US" sz="800" b="1" dirty="0"/>
              <a:t>Gemini LLM </a:t>
            </a:r>
            <a:r>
              <a:rPr lang="mn-MN" sz="800" b="1" dirty="0"/>
              <a:t>Интеграци:</a:t>
            </a:r>
            <a:r>
              <a:rPr lang="mn-MN" sz="800" dirty="0"/>
              <a:t> /</a:t>
            </a:r>
            <a:r>
              <a:rPr lang="en-US" sz="800" dirty="0" err="1"/>
              <a:t>gemini</a:t>
            </a:r>
            <a:r>
              <a:rPr lang="en-US" sz="800" dirty="0"/>
              <a:t>/analyze </a:t>
            </a:r>
            <a:r>
              <a:rPr lang="mn-MN" sz="800" dirty="0"/>
              <a:t>болон /</a:t>
            </a:r>
            <a:r>
              <a:rPr lang="en-US" sz="800" dirty="0" err="1"/>
              <a:t>gemini</a:t>
            </a:r>
            <a:r>
              <a:rPr lang="en-US" sz="800" dirty="0"/>
              <a:t>/ask </a:t>
            </a:r>
            <a:r>
              <a:rPr lang="mn-MN" sz="800" dirty="0"/>
              <a:t>эндпойнтууд нь системийн өгөгдлийг нэгтгэн багцлаад </a:t>
            </a:r>
            <a:r>
              <a:rPr lang="en-US" sz="800" dirty="0"/>
              <a:t>Google Gemini API </a:t>
            </a:r>
            <a:r>
              <a:rPr lang="mn-MN" sz="800" dirty="0"/>
              <a:t>руу илгээдэг. Ингэснээр нарийн төвөгтэй өгөгдлийн бүтцээс ухаалаг тайлан, зөвлөмж үүсгэх промпт (</a:t>
            </a:r>
            <a:r>
              <a:rPr lang="en-US" sz="800" dirty="0"/>
              <a:t>prompt) </a:t>
            </a:r>
            <a:r>
              <a:rPr lang="mn-MN" sz="800" dirty="0"/>
              <a:t>инженерчлэлийг бакэнд талдаа аюулгүйгээр гүйцэтгэсэн.</a:t>
            </a:r>
          </a:p>
          <a:p>
            <a:r>
              <a:rPr lang="mn-MN" sz="800" b="1" dirty="0"/>
              <a:t>4. Баазын холболт ба Аюулгүй байдал (</a:t>
            </a:r>
            <a:r>
              <a:rPr lang="en-US" sz="800" b="1" dirty="0"/>
              <a:t>Database ORM &amp; Health checks)</a:t>
            </a:r>
            <a:br>
              <a:rPr lang="en-US" sz="800" dirty="0"/>
            </a:br>
            <a:r>
              <a:rPr lang="mn-MN" sz="800" dirty="0"/>
              <a:t>Өгөгдлийн сантай </a:t>
            </a:r>
            <a:r>
              <a:rPr lang="en-US" sz="800" dirty="0"/>
              <a:t>DDL </a:t>
            </a:r>
            <a:r>
              <a:rPr lang="mn-MN" sz="800" dirty="0"/>
              <a:t>болон </a:t>
            </a:r>
            <a:r>
              <a:rPr lang="en-US" sz="800" dirty="0"/>
              <a:t>DML </a:t>
            </a:r>
            <a:r>
              <a:rPr lang="mn-MN" sz="800" dirty="0"/>
              <a:t>үйлдэл хийхдээ </a:t>
            </a:r>
            <a:r>
              <a:rPr lang="en-US" sz="800" b="1" dirty="0" err="1"/>
              <a:t>SQLAlchemy</a:t>
            </a:r>
            <a:r>
              <a:rPr lang="en-US" sz="800" dirty="0"/>
              <a:t> ORM (Object-Relational Mapping)-</a:t>
            </a:r>
            <a:r>
              <a:rPr lang="mn-MN" sz="800" dirty="0"/>
              <a:t>ийг ашигласан. Энэ нь </a:t>
            </a:r>
            <a:r>
              <a:rPr lang="en-US" sz="800" dirty="0"/>
              <a:t>SQL injection </a:t>
            </a:r>
            <a:r>
              <a:rPr lang="mn-MN" sz="800" dirty="0"/>
              <a:t>халдлагаас сэргийлж, кодын түвшинд өгөгдлийн бүтэцтэй харьцах боломжийг бүрдүүлсэн. Мөн /</a:t>
            </a:r>
            <a:r>
              <a:rPr lang="en-US" sz="800" dirty="0"/>
              <a:t>health </a:t>
            </a:r>
            <a:r>
              <a:rPr lang="mn-MN" sz="800" dirty="0"/>
              <a:t>эндпойнт нь мэдээллийн сан, </a:t>
            </a:r>
            <a:r>
              <a:rPr lang="en-US" sz="800" dirty="0"/>
              <a:t>AI </a:t>
            </a:r>
            <a:r>
              <a:rPr lang="mn-MN" sz="800" dirty="0"/>
              <a:t>хөдөлгүүр болон бусад гуравдагч үйлчилгээнүүдийн (</a:t>
            </a:r>
            <a:r>
              <a:rPr lang="en-US" sz="800" dirty="0"/>
              <a:t>Google Sheets </a:t>
            </a:r>
            <a:r>
              <a:rPr lang="mn-MN" sz="800" dirty="0"/>
              <a:t>зэрэг) хэвийн ажиллаж буй эсэхийг байнга шалгаж (</a:t>
            </a:r>
            <a:r>
              <a:rPr lang="en-US" sz="800" dirty="0"/>
              <a:t>Health check), </a:t>
            </a:r>
            <a:r>
              <a:rPr lang="mn-MN" sz="800" dirty="0"/>
              <a:t>систем доголдох үед алдааг яаралтай илрүүлэх хяналтын механизмыг давхар хангаж өгсөн болно.</a:t>
            </a:r>
          </a:p>
        </p:txBody>
      </p:sp>
      <p:sp>
        <p:nvSpPr>
          <p:cNvPr id="5" name="Date Placeholder 4">
            <a:extLst>
              <a:ext uri="{FF2B5EF4-FFF2-40B4-BE49-F238E27FC236}">
                <a16:creationId xmlns:a16="http://schemas.microsoft.com/office/drawing/2014/main" id="{C8F3B6B4-282B-CC35-0BA5-D5E2CF196F07}"/>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CE4BE3E3-ED75-CC5A-16D3-8C29DB971AEE}"/>
              </a:ext>
            </a:extLst>
          </p:cNvPr>
          <p:cNvSpPr>
            <a:spLocks noGrp="1"/>
          </p:cNvSpPr>
          <p:nvPr>
            <p:ph type="sldNum" idx="12"/>
          </p:nvPr>
        </p:nvSpPr>
        <p:spPr/>
        <p:txBody>
          <a:bodyPr/>
          <a:lstStyle/>
          <a:p>
            <a:fld id="{00000000-1234-1234-1234-123412341234}" type="slidenum">
              <a:rPr lang="mn" smtClean="0"/>
              <a:pPr/>
              <a:t>12</a:t>
            </a:fld>
            <a:endParaRPr lang="mn"/>
          </a:p>
        </p:txBody>
      </p:sp>
    </p:spTree>
    <p:extLst>
      <p:ext uri="{BB962C8B-B14F-4D97-AF65-F5344CB8AC3E}">
        <p14:creationId xmlns:p14="http://schemas.microsoft.com/office/powerpoint/2010/main" val="1757260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4FD50353-1B8A-61F3-EAF1-FC5B48C59B33}"/>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0A5AA781-6166-C7B5-B2FB-748D5C94F1DB}"/>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2000" b="1" dirty="0">
                <a:solidFill>
                  <a:srgbClr val="003366"/>
                </a:solidFill>
              </a:rPr>
              <a:t>SENTIMENT ANALYSIS</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944A1B76-A621-333B-7FED-8C230F1ED2E8}"/>
              </a:ext>
            </a:extLst>
          </p:cNvPr>
          <p:cNvSpPr txBox="1">
            <a:spLocks/>
          </p:cNvSpPr>
          <p:nvPr/>
        </p:nvSpPr>
        <p:spPr>
          <a:xfrm>
            <a:off x="729237" y="962171"/>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800" b="1" dirty="0"/>
              <a:t>Текстийн хандлагын шинжилгээний хэрэгжилт (</a:t>
            </a:r>
            <a:r>
              <a:rPr lang="en-US" sz="800" b="1" dirty="0"/>
              <a:t>Sentiment Analysis Implementation)</a:t>
            </a:r>
          </a:p>
          <a:p>
            <a:r>
              <a:rPr lang="mn-MN" sz="800" dirty="0"/>
              <a:t>Олон нийтийн сүлжээнээс цуглуулсан түүхий өгөгдлийг (пост, сэтгэгдэл) зүгээр хадгалаад зогсохгүй, тухайн мэдээлэлд хэрэглэгчид ямар сэтгэл хөдлөл, хандлагатай хандаж байгааг тодорхойлох нь энэхүү системийн шинжилгээний гол цөм юм. Энэхүү ажлыг хэрэгжүүлэхийн тулд Бакэнд талд хандлагын шинжилгээний (</a:t>
            </a:r>
            <a:r>
              <a:rPr lang="en-US" sz="800" dirty="0"/>
              <a:t>Sentiment Analysis) </a:t>
            </a:r>
            <a:r>
              <a:rPr lang="mn-MN" sz="800" dirty="0"/>
              <a:t>тусгай модулийг </a:t>
            </a:r>
            <a:r>
              <a:rPr lang="en-US" sz="800" dirty="0"/>
              <a:t>Python </a:t>
            </a:r>
            <a:r>
              <a:rPr lang="mn-MN" sz="800" dirty="0"/>
              <a:t>хэл дээр зохион байгуулсан.</a:t>
            </a:r>
          </a:p>
          <a:p>
            <a:r>
              <a:rPr lang="mn-MN" sz="800" dirty="0"/>
              <a:t>Хандлагын шинжилгээг хэрэгжүүлэхдээ системийн найдвартай ажиллагааг хангах үүднээс шатлан ажиллах (</a:t>
            </a:r>
            <a:r>
              <a:rPr lang="en-US" sz="800" dirty="0"/>
              <a:t>Graceful Fallback) </a:t>
            </a:r>
            <a:r>
              <a:rPr lang="mn-MN" sz="800" dirty="0"/>
              <a:t>архитектурыг ашигласан бөгөөд дараах хоёр үе шаттайгаар ажилладаг:</a:t>
            </a:r>
          </a:p>
          <a:p>
            <a:r>
              <a:rPr lang="mn-MN" sz="800" b="1" dirty="0"/>
              <a:t>1. </a:t>
            </a:r>
            <a:r>
              <a:rPr lang="en-US" sz="800" b="1" dirty="0"/>
              <a:t>NLP </a:t>
            </a:r>
            <a:r>
              <a:rPr lang="mn-MN" sz="800" b="1" dirty="0"/>
              <a:t>болон </a:t>
            </a:r>
            <a:r>
              <a:rPr lang="en-US" sz="800" b="1" dirty="0" err="1"/>
              <a:t>TextBlob</a:t>
            </a:r>
            <a:r>
              <a:rPr lang="en-US" sz="800" b="1" dirty="0"/>
              <a:t> </a:t>
            </a:r>
            <a:r>
              <a:rPr lang="mn-MN" sz="800" b="1" dirty="0"/>
              <a:t>ашигласан үндсэн шинжилгээ</a:t>
            </a:r>
            <a:br>
              <a:rPr lang="mn-MN" sz="800" dirty="0"/>
            </a:br>
            <a:r>
              <a:rPr lang="mn-MN" sz="800" dirty="0"/>
              <a:t>Хандлагын шинжилгээг гүйцэтгэх үндсэн хөдөлгүүрээр Байгалийн хэл боловсруулалтын (</a:t>
            </a:r>
            <a:r>
              <a:rPr lang="en-US" sz="800" dirty="0"/>
              <a:t>Natural Language Processing) </a:t>
            </a:r>
            <a:r>
              <a:rPr lang="mn-MN" sz="800" dirty="0"/>
              <a:t>алдартай сан болох </a:t>
            </a:r>
            <a:r>
              <a:rPr lang="en-US" sz="800" b="1" dirty="0" err="1"/>
              <a:t>TextBlob</a:t>
            </a:r>
            <a:r>
              <a:rPr lang="en-US" sz="800" dirty="0"/>
              <a:t>-</a:t>
            </a:r>
            <a:r>
              <a:rPr lang="mn-MN" sz="800" dirty="0"/>
              <a:t>ийг ашигласан. Цуглуулсан текстийн хэрэгцээгүй тэмдэгтүүд, </a:t>
            </a:r>
            <a:r>
              <a:rPr lang="en-US" sz="800" dirty="0"/>
              <a:t>URL </a:t>
            </a:r>
            <a:r>
              <a:rPr lang="mn-MN" sz="800" dirty="0"/>
              <a:t>холбоосууд, хаштаг зэргийг урьдчилан цэвэрлэж (</a:t>
            </a:r>
            <a:r>
              <a:rPr lang="en-US" sz="800" dirty="0"/>
              <a:t>Text Preprocessing) </a:t>
            </a:r>
            <a:r>
              <a:rPr lang="mn-MN" sz="800" dirty="0"/>
              <a:t>бэлтгэсний дараа модел руу дамжуулдаг.</a:t>
            </a:r>
            <a:br>
              <a:rPr lang="mn-MN" sz="800" dirty="0"/>
            </a:br>
            <a:r>
              <a:rPr lang="mn-MN" sz="800" dirty="0"/>
              <a:t>Модел нь текст бүр дээр математик тооцоолол хийж дараах хоёр гол үзүүлэлтийг гаргаж авдаг:</a:t>
            </a:r>
          </a:p>
          <a:p>
            <a:r>
              <a:rPr lang="en-US" sz="800" b="1" dirty="0"/>
              <a:t>Polarity (</a:t>
            </a:r>
            <a:r>
              <a:rPr lang="mn-MN" sz="800" b="1" dirty="0"/>
              <a:t>Туйлшрал):</a:t>
            </a:r>
            <a:r>
              <a:rPr lang="mn-MN" sz="800" dirty="0"/>
              <a:t> -1.0-ээс +1.0 хүртэлх утгатай байх бөгөөд текст эерэг (эерэг тоо), сөрөг (сөрөг тоо) эсвэл саармаг (0 орчим) утгатай байгааг илтгэнэ.</a:t>
            </a:r>
          </a:p>
          <a:p>
            <a:r>
              <a:rPr lang="en-US" sz="800" b="1" dirty="0"/>
              <a:t>Subjectivity (</a:t>
            </a:r>
            <a:r>
              <a:rPr lang="mn-MN" sz="800" b="1" dirty="0"/>
              <a:t>Субьектив байдал):</a:t>
            </a:r>
            <a:r>
              <a:rPr lang="mn-MN" sz="800" dirty="0"/>
              <a:t> 0.0-ээс 1.0 хүртэлх утгатай ба тухайн текст нь бодит баримтад тулгуурласан уу эсвэл хувь хүний үзэл бодол, сэтгэл хөдлөлд суурилсан уу гэдгийг тодорхойлдог.</a:t>
            </a:r>
          </a:p>
          <a:p>
            <a:r>
              <a:rPr lang="mn-MN" sz="800" dirty="0"/>
              <a:t>Дээрх утгуудыг нэгтгэн тухайн постын нийт хандлагыг </a:t>
            </a:r>
            <a:r>
              <a:rPr lang="en-US" sz="800" dirty="0"/>
              <a:t>Positive, Negative, Neutral </a:t>
            </a:r>
            <a:r>
              <a:rPr lang="mn-MN" sz="800" dirty="0"/>
              <a:t>гэсэн гурван ангилалд хувааж, өгөгдлийн санд анализ хийгдсэн тайлан болон хадгална.</a:t>
            </a:r>
          </a:p>
          <a:p>
            <a:r>
              <a:rPr lang="mn-MN" sz="800" b="1" dirty="0"/>
              <a:t>2. Түлхүүр үгэнд суурилсан орлуулах шийдэл (</a:t>
            </a:r>
            <a:r>
              <a:rPr lang="en-US" sz="800" b="1" dirty="0"/>
              <a:t>Keyword-based Fallback)</a:t>
            </a:r>
            <a:br>
              <a:rPr lang="en-US" sz="800" dirty="0"/>
            </a:br>
            <a:r>
              <a:rPr lang="mn-MN" sz="800" dirty="0"/>
              <a:t>Системийг өөр орчинд суурилуулах буюу хамааралтай сангууд (</a:t>
            </a:r>
            <a:r>
              <a:rPr lang="en-US" sz="800" dirty="0"/>
              <a:t>dependencies) </a:t>
            </a:r>
            <a:r>
              <a:rPr lang="mn-MN" sz="800" dirty="0"/>
              <a:t>бүрэн суугаагүй үед шинжилгээний процесс гацахаас сэргийлж, нөөц төлөвлөгөө болгон </a:t>
            </a:r>
            <a:r>
              <a:rPr lang="en-US" sz="800" b="1" dirty="0"/>
              <a:t>Keyword-based scoring</a:t>
            </a:r>
            <a:r>
              <a:rPr lang="en-US" sz="800" dirty="0"/>
              <a:t> </a:t>
            </a:r>
            <a:r>
              <a:rPr lang="mn-MN" sz="800" dirty="0"/>
              <a:t>буюу түлхүүр үг таних алгоритмыг хэрэгжүүлсэн. Энэ нь эерэг болон сөрөг утга илэрхийлэх үгсийн сан (</a:t>
            </a:r>
            <a:r>
              <a:rPr lang="en-US" sz="800" dirty="0"/>
              <a:t>Dictionary) </a:t>
            </a:r>
            <a:r>
              <a:rPr lang="mn-MN" sz="800" dirty="0"/>
              <a:t>ашиглан текст доторх үгстэй тулгалт хийж (</a:t>
            </a:r>
            <a:r>
              <a:rPr lang="en-US" sz="800" dirty="0"/>
              <a:t>Pattern matching) </a:t>
            </a:r>
            <a:r>
              <a:rPr lang="mn-MN" sz="800" dirty="0"/>
              <a:t>хандлагыг тооцдог хөнгөн жингийн хэрэгжилт юм. Энэ механизм нь диплом болон загвар системийн түвшинд шинжилгээний функционалийг тасралтгүйгээр цааш үргэлжлүүлэх баталгаа болдог.</a:t>
            </a:r>
          </a:p>
          <a:p>
            <a:r>
              <a:rPr lang="mn-MN" sz="800" b="1" dirty="0"/>
              <a:t>3. Интеграци болон Үр дүн</a:t>
            </a:r>
            <a:br>
              <a:rPr lang="mn-MN" sz="800" dirty="0"/>
            </a:br>
            <a:r>
              <a:rPr lang="mn-MN" sz="800" dirty="0"/>
              <a:t>Хандлагын шинжилгээний үр дүнг бусад хэмжүүрүүд болох Сэдвийн шинжилгээ (</a:t>
            </a:r>
            <a:r>
              <a:rPr lang="en-US" sz="800" dirty="0"/>
              <a:t>Topic classification) </a:t>
            </a:r>
            <a:r>
              <a:rPr lang="mn-MN" sz="800" dirty="0"/>
              <a:t>болон Хандалтын оноог (</a:t>
            </a:r>
            <a:r>
              <a:rPr lang="en-US" sz="800" dirty="0"/>
              <a:t>Engagement score) </a:t>
            </a:r>
            <a:r>
              <a:rPr lang="mn-MN" sz="800" dirty="0"/>
              <a:t>тооцоолдог хэсгүүдтэй хамтруулан нэгтгэдэг. Энэхүү шинжилгээний математик үр дүн </a:t>
            </a:r>
            <a:r>
              <a:rPr lang="en-US" sz="800" dirty="0"/>
              <a:t>JSON </a:t>
            </a:r>
            <a:r>
              <a:rPr lang="mn-MN" sz="800" dirty="0"/>
              <a:t>хэлбэрээр хадгалагдаж Фронтенд руу дамжих ба, хяналтын самбар (</a:t>
            </a:r>
            <a:r>
              <a:rPr lang="en-US" sz="800" dirty="0"/>
              <a:t>Dashboard) </a:t>
            </a:r>
            <a:r>
              <a:rPr lang="mn-MN" sz="800" dirty="0"/>
              <a:t>дээрх график мэдээллүүд болон хиймэл оюун ухааны (</a:t>
            </a:r>
            <a:r>
              <a:rPr lang="en-US" sz="800" dirty="0"/>
              <a:t>Gemini) </a:t>
            </a:r>
            <a:r>
              <a:rPr lang="mn-MN" sz="800" dirty="0"/>
              <a:t>тайланд оролт болон очиж, шийдвэр гаргагчдад хандлагын ерөнхий төлөвийг харуулах гол эх сурвалж болдог.</a:t>
            </a:r>
          </a:p>
        </p:txBody>
      </p:sp>
      <p:sp>
        <p:nvSpPr>
          <p:cNvPr id="5" name="Date Placeholder 4">
            <a:extLst>
              <a:ext uri="{FF2B5EF4-FFF2-40B4-BE49-F238E27FC236}">
                <a16:creationId xmlns:a16="http://schemas.microsoft.com/office/drawing/2014/main" id="{B462FCCE-9971-3CA6-75A2-FCD446CABC18}"/>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5D82CC84-C8F3-3E0A-9D01-2D812A5F2247}"/>
              </a:ext>
            </a:extLst>
          </p:cNvPr>
          <p:cNvSpPr>
            <a:spLocks noGrp="1"/>
          </p:cNvSpPr>
          <p:nvPr>
            <p:ph type="sldNum" idx="12"/>
          </p:nvPr>
        </p:nvSpPr>
        <p:spPr/>
        <p:txBody>
          <a:bodyPr/>
          <a:lstStyle/>
          <a:p>
            <a:fld id="{00000000-1234-1234-1234-123412341234}" type="slidenum">
              <a:rPr lang="mn" smtClean="0"/>
              <a:pPr/>
              <a:t>13</a:t>
            </a:fld>
            <a:endParaRPr lang="mn"/>
          </a:p>
        </p:txBody>
      </p:sp>
    </p:spTree>
    <p:extLst>
      <p:ext uri="{BB962C8B-B14F-4D97-AF65-F5344CB8AC3E}">
        <p14:creationId xmlns:p14="http://schemas.microsoft.com/office/powerpoint/2010/main" val="2220896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4">
          <a:extLst>
            <a:ext uri="{FF2B5EF4-FFF2-40B4-BE49-F238E27FC236}">
              <a16:creationId xmlns:a16="http://schemas.microsoft.com/office/drawing/2014/main" id="{E9DB59AC-3A05-092B-194C-6A79102803FD}"/>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F589E2E1-9819-FE9D-4ED3-24F9C2C4F4ED}"/>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2000" b="1" dirty="0">
                <a:solidFill>
                  <a:srgbClr val="003366"/>
                </a:solidFill>
              </a:rPr>
              <a:t>AI REPORT SYSTEM</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656A88BD-A284-8B07-AF92-137D725E5BB7}"/>
              </a:ext>
            </a:extLst>
          </p:cNvPr>
          <p:cNvSpPr txBox="1">
            <a:spLocks/>
          </p:cNvSpPr>
          <p:nvPr/>
        </p:nvSpPr>
        <p:spPr>
          <a:xfrm>
            <a:off x="454945"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800" b="1" dirty="0"/>
              <a:t>Хиймэл оюун ухаанд суурилсан тайлангийн систем (</a:t>
            </a:r>
            <a:r>
              <a:rPr lang="en-US" sz="800" b="1" dirty="0"/>
              <a:t>AI Report System)</a:t>
            </a:r>
          </a:p>
          <a:p>
            <a:r>
              <a:rPr lang="mn-MN" sz="800" dirty="0"/>
              <a:t>Олон нийтийн сүлжээнээс цуглуулсан их хэмжээний өгөгдөл болон хандлагын шинжилгээний үр дүнг хэрэглэгчдэд илүү ойлгомжтой, шийдвэр гаргахад дэмжлэг болохуйц мэдээлэл болгон хөрвүүлэхийн тулд "</a:t>
            </a:r>
            <a:r>
              <a:rPr lang="en-US" sz="800" dirty="0"/>
              <a:t>AI Report" </a:t>
            </a:r>
            <a:r>
              <a:rPr lang="mn-MN" sz="800" dirty="0"/>
              <a:t>буюу Хиймэл оюун ухаанд суурилсан тайлан үүсгэгч системийг Бакэнд талд хэрэгжүүлсэн. Энэхүү модульд орчин үеийн Том Хэлний Загвар (</a:t>
            </a:r>
            <a:r>
              <a:rPr lang="en-US" sz="800" dirty="0"/>
              <a:t>Large Language Model) </a:t>
            </a:r>
            <a:r>
              <a:rPr lang="mn-MN" sz="800" dirty="0"/>
              <a:t>болох </a:t>
            </a:r>
            <a:r>
              <a:rPr lang="en-US" sz="800" b="1" dirty="0"/>
              <a:t>Google Gemini API</a:t>
            </a:r>
            <a:r>
              <a:rPr lang="en-US" sz="800" dirty="0"/>
              <a:t>-</a:t>
            </a:r>
            <a:r>
              <a:rPr lang="mn-MN" sz="800" dirty="0"/>
              <a:t>ийг интеграци хийж ашигласан болно.</a:t>
            </a:r>
          </a:p>
          <a:p>
            <a:r>
              <a:rPr lang="mn-MN" sz="800" dirty="0"/>
              <a:t>Системийн тайлан боловсруулах үйл явц дараах үе шатуудаас бүрдэнэ:</a:t>
            </a:r>
          </a:p>
          <a:p>
            <a:r>
              <a:rPr lang="mn-MN" sz="800" b="1" dirty="0"/>
              <a:t>1. Өгөгдөл нэгтгэх ба Контекст үүсгэх (</a:t>
            </a:r>
            <a:r>
              <a:rPr lang="en-US" sz="800" b="1" dirty="0"/>
              <a:t>Data Aggregation &amp; Context Injection)</a:t>
            </a:r>
            <a:br>
              <a:rPr lang="en-US" sz="800" dirty="0"/>
            </a:br>
            <a:r>
              <a:rPr lang="mn-MN" sz="800" dirty="0"/>
              <a:t>Шууд түүхий өгөгдлийг хиймэл оюун ухаан руу илгээхийн оронд эхлээд мэдээллийн сангаас (</a:t>
            </a:r>
            <a:r>
              <a:rPr lang="en-US" sz="800" dirty="0"/>
              <a:t>Database) </a:t>
            </a:r>
            <a:r>
              <a:rPr lang="mn-MN" sz="800" dirty="0"/>
              <a:t>тухайн цаг үеийн хамгийн чухал хэмжигдэхүүнүүдийг татаж авдаг. Үүнд: нийт цуглуулсан постын тоо, хандлагын шинжилгээний статистик (эерэг, сөрөг, саармаг хандлагын харьцаа), хамгийн өндөр хандалттай (</a:t>
            </a:r>
            <a:r>
              <a:rPr lang="en-US" sz="800" dirty="0"/>
              <a:t>engagement) </a:t>
            </a:r>
            <a:r>
              <a:rPr lang="mn-MN" sz="800" dirty="0"/>
              <a:t>постууд, болон гол сэдэвчилсэн түлхүүр үгс багтана. Энэхүү баяжуулсан өгөгдөл нь хиймэл оюун ухаанд өнөөгийн нөхцөл байдлыг зөв үнэлэх суурь мэдээлэл (</a:t>
            </a:r>
            <a:r>
              <a:rPr lang="en-US" sz="800" dirty="0"/>
              <a:t>Context) </a:t>
            </a:r>
            <a:r>
              <a:rPr lang="mn-MN" sz="800" dirty="0"/>
              <a:t>болж өгдөг.</a:t>
            </a:r>
          </a:p>
          <a:p>
            <a:r>
              <a:rPr lang="mn-MN" sz="800" b="1" dirty="0"/>
              <a:t>2. </a:t>
            </a:r>
            <a:r>
              <a:rPr lang="en-US" sz="800" b="1" dirty="0"/>
              <a:t>Prompt Engineering </a:t>
            </a:r>
            <a:r>
              <a:rPr lang="mn-MN" sz="800" b="1" dirty="0"/>
              <a:t>ба </a:t>
            </a:r>
            <a:r>
              <a:rPr lang="en-US" sz="800" b="1" dirty="0"/>
              <a:t>API </a:t>
            </a:r>
            <a:r>
              <a:rPr lang="mn-MN" sz="800" b="1" dirty="0"/>
              <a:t>Интеграци</a:t>
            </a:r>
            <a:br>
              <a:rPr lang="mn-MN" sz="800" dirty="0"/>
            </a:br>
            <a:r>
              <a:rPr lang="mn-MN" sz="800" dirty="0"/>
              <a:t>Нэгтгэсэн өгөгдлийг </a:t>
            </a:r>
            <a:r>
              <a:rPr lang="en-US" sz="800" dirty="0"/>
              <a:t>Gemini API-</a:t>
            </a:r>
            <a:r>
              <a:rPr lang="mn-MN" sz="800" dirty="0"/>
              <a:t>д зориулсан тусгай бүтэц бүхий зааварчилгаа (</a:t>
            </a:r>
            <a:r>
              <a:rPr lang="en-US" sz="800" dirty="0"/>
              <a:t>Prompt) </a:t>
            </a:r>
            <a:r>
              <a:rPr lang="mn-MN" sz="800" dirty="0"/>
              <a:t>болгон хөрвүүлнэ. Бид системийн кодонд динамик </a:t>
            </a:r>
            <a:r>
              <a:rPr lang="en-US" sz="800" dirty="0"/>
              <a:t>prompt-</a:t>
            </a:r>
            <a:r>
              <a:rPr lang="mn-MN" sz="800" dirty="0"/>
              <a:t>ийн загварыг (</a:t>
            </a:r>
            <a:r>
              <a:rPr lang="en-US" sz="800" dirty="0"/>
              <a:t>gemini_analyzer.py </a:t>
            </a:r>
            <a:r>
              <a:rPr lang="mn-MN" sz="800" dirty="0"/>
              <a:t>болон </a:t>
            </a:r>
            <a:r>
              <a:rPr lang="en-US" sz="800" dirty="0"/>
              <a:t>analyze-</a:t>
            </a:r>
            <a:r>
              <a:rPr lang="en-US" sz="800" dirty="0" err="1"/>
              <a:t>gemini.ts</a:t>
            </a:r>
            <a:r>
              <a:rPr lang="en-US" sz="800" dirty="0"/>
              <a:t>) </a:t>
            </a:r>
            <a:r>
              <a:rPr lang="mn-MN" sz="800" dirty="0"/>
              <a:t>боловсруулсан бөгөөд загвар нь хиймэл оюун ухааныг зүгээр нэг чатбот бус, харин "Мэргэжлийн дата аналист"-ийн дүрээр ажиллахыг шаарддаг. Ингэснээр </a:t>
            </a:r>
            <a:r>
              <a:rPr lang="en-US" sz="800" dirty="0"/>
              <a:t>Gemini </a:t>
            </a:r>
            <a:r>
              <a:rPr lang="mn-MN" sz="800" dirty="0"/>
              <a:t>загвар нь өгөгдсөн тоон статистикт үндэслэн:</a:t>
            </a:r>
          </a:p>
          <a:p>
            <a:r>
              <a:rPr lang="mn-MN" sz="800" dirty="0"/>
              <a:t>Олон нийтийн ерөнхий хандлага, түгээмэл ажиглагдаж буй тренд (</a:t>
            </a:r>
            <a:r>
              <a:rPr lang="en-US" sz="800" dirty="0"/>
              <a:t>Trend analysis)</a:t>
            </a:r>
          </a:p>
          <a:p>
            <a:r>
              <a:rPr lang="mn-MN" sz="800" dirty="0"/>
              <a:t>Сөрөг сэтгэгдэл эсвэл шүүмжлэл гарч буй гол шалтгаан</a:t>
            </a:r>
          </a:p>
          <a:p>
            <a:r>
              <a:rPr lang="mn-MN" sz="800" dirty="0"/>
              <a:t>Цаашид анхаарах сайжруулалт, бизнес эсвэл шийдвэр гаргагчдад зориулсан стратегийн зөвлөмжүүдийг автоматаар боловсруулж буцаадаг.</a:t>
            </a:r>
          </a:p>
          <a:p>
            <a:r>
              <a:rPr lang="mn-MN" sz="800" b="1" dirty="0"/>
              <a:t>3. Хянах самбарт дүрслэх нь ба Ач холбогдол</a:t>
            </a:r>
            <a:br>
              <a:rPr lang="mn-MN" sz="800" dirty="0"/>
            </a:br>
            <a:r>
              <a:rPr lang="en-US" sz="800" dirty="0"/>
              <a:t>Gemini API-</a:t>
            </a:r>
            <a:r>
              <a:rPr lang="mn-MN" sz="800" dirty="0"/>
              <a:t>аас буцаж ирсэн текстэн тайланг Форматлан (</a:t>
            </a:r>
            <a:r>
              <a:rPr lang="en-US" sz="800" dirty="0"/>
              <a:t>Markdown) </a:t>
            </a:r>
            <a:r>
              <a:rPr lang="mn-MN" sz="800" dirty="0"/>
              <a:t>Фронтенд програмын "</a:t>
            </a:r>
            <a:r>
              <a:rPr lang="en-US" sz="800" dirty="0"/>
              <a:t>AI Analyzer </a:t>
            </a:r>
            <a:r>
              <a:rPr lang="mn-MN" sz="800" dirty="0"/>
              <a:t>болон </a:t>
            </a:r>
            <a:r>
              <a:rPr lang="en-US" sz="800" dirty="0"/>
              <a:t>Dashboard" </a:t>
            </a:r>
            <a:r>
              <a:rPr lang="mn-MN" sz="800" dirty="0"/>
              <a:t>цонхонд шууд харуулна. Ингэснээр хэрэглэгч заавал нарийн статистик тоон үзүүлэлтүүд, график дээр анализ хийж цаг алдах шаардлагагүйгээр, систем дэх мэдээлэлд түшиглэсэн өндөр түвшний хиймэл оюуны дүгнэлтийг шууд уншиж танилцах боломжтой болсон нь энэхүү архитектурын хамгийн том давуу тал юм.</a:t>
            </a:r>
          </a:p>
          <a:p>
            <a:r>
              <a:rPr lang="mn-MN" sz="800" dirty="0"/>
              <a:t>Энэхүү хэрэгжилт нь уламжлалт өгөгдөл дэлгэцлэх (</a:t>
            </a:r>
            <a:r>
              <a:rPr lang="en-US" sz="800" dirty="0"/>
              <a:t>data visualization) </a:t>
            </a:r>
            <a:r>
              <a:rPr lang="mn-MN" sz="800" dirty="0"/>
              <a:t>үйл явцыг дараагийн шатанд гаргаж, датанд суурилсан автомат дүн шинжилгээ (</a:t>
            </a:r>
            <a:r>
              <a:rPr lang="en-US" sz="800" dirty="0"/>
              <a:t>Data-driven automated insight) </a:t>
            </a:r>
            <a:r>
              <a:rPr lang="mn-MN" sz="800" dirty="0"/>
              <a:t>хийх дэд бүтцийг амжилттай бүрдүүлсэн.</a:t>
            </a:r>
          </a:p>
        </p:txBody>
      </p:sp>
      <p:sp>
        <p:nvSpPr>
          <p:cNvPr id="5" name="Date Placeholder 4">
            <a:extLst>
              <a:ext uri="{FF2B5EF4-FFF2-40B4-BE49-F238E27FC236}">
                <a16:creationId xmlns:a16="http://schemas.microsoft.com/office/drawing/2014/main" id="{9A752F24-70D1-4D34-C777-2435BD8AAFB3}"/>
              </a:ext>
            </a:extLst>
          </p:cNvPr>
          <p:cNvSpPr>
            <a:spLocks noGrp="1"/>
          </p:cNvSpPr>
          <p:nvPr>
            <p:ph type="dt" idx="10"/>
          </p:nvPr>
        </p:nvSpPr>
        <p:spPr/>
        <p:txBody>
          <a:bodyPr/>
          <a:lstStyle/>
          <a:p>
            <a:fld id="{3631BA11-B873-43E1-B5E5-099F01C0B2AF}" type="datetime1">
              <a:rPr lang="mn-MN" smtClean="0"/>
              <a:t>2026.05.27</a:t>
            </a:fld>
            <a:endParaRPr lang="mn-MN" dirty="0"/>
          </a:p>
        </p:txBody>
      </p:sp>
      <p:sp>
        <p:nvSpPr>
          <p:cNvPr id="6" name="Slide Number Placeholder 5">
            <a:extLst>
              <a:ext uri="{FF2B5EF4-FFF2-40B4-BE49-F238E27FC236}">
                <a16:creationId xmlns:a16="http://schemas.microsoft.com/office/drawing/2014/main" id="{6B86CC79-7019-7AE8-0279-7EBDA068340D}"/>
              </a:ext>
            </a:extLst>
          </p:cNvPr>
          <p:cNvSpPr>
            <a:spLocks noGrp="1"/>
          </p:cNvSpPr>
          <p:nvPr>
            <p:ph type="sldNum" idx="12"/>
          </p:nvPr>
        </p:nvSpPr>
        <p:spPr/>
        <p:txBody>
          <a:bodyPr/>
          <a:lstStyle/>
          <a:p>
            <a:fld id="{00000000-1234-1234-1234-123412341234}" type="slidenum">
              <a:rPr lang="mn" smtClean="0"/>
              <a:pPr/>
              <a:t>14</a:t>
            </a:fld>
            <a:endParaRPr lang="mn"/>
          </a:p>
        </p:txBody>
      </p:sp>
    </p:spTree>
    <p:extLst>
      <p:ext uri="{BB962C8B-B14F-4D97-AF65-F5344CB8AC3E}">
        <p14:creationId xmlns:p14="http://schemas.microsoft.com/office/powerpoint/2010/main" val="2513705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B8D5DF7F-EC5E-9E48-1D72-608D1C4BA7CE}"/>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D465AC3E-7360-3C23-A4FE-73D3DB328B91}"/>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cap="all" dirty="0">
                <a:latin typeface="Times New Roman"/>
                <a:cs typeface="Times New Roman"/>
              </a:rPr>
              <a:t>Дэлгэцийн зохиомж </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22521079-DFED-D95D-8983-4D48CCB916EB}"/>
              </a:ext>
            </a:extLst>
          </p:cNvPr>
          <p:cNvSpPr txBox="1">
            <a:spLocks/>
          </p:cNvSpPr>
          <p:nvPr/>
        </p:nvSpPr>
        <p:spPr>
          <a:xfrm>
            <a:off x="454945"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endParaRPr lang="mn-MN" sz="800" dirty="0"/>
          </a:p>
        </p:txBody>
      </p:sp>
      <p:sp>
        <p:nvSpPr>
          <p:cNvPr id="5" name="Date Placeholder 4">
            <a:extLst>
              <a:ext uri="{FF2B5EF4-FFF2-40B4-BE49-F238E27FC236}">
                <a16:creationId xmlns:a16="http://schemas.microsoft.com/office/drawing/2014/main" id="{9658567F-9301-2455-9244-FC38410A2EBE}"/>
              </a:ext>
            </a:extLst>
          </p:cNvPr>
          <p:cNvSpPr>
            <a:spLocks noGrp="1"/>
          </p:cNvSpPr>
          <p:nvPr>
            <p:ph type="dt" idx="10"/>
          </p:nvPr>
        </p:nvSpPr>
        <p:spPr/>
        <p:txBody>
          <a:bodyPr/>
          <a:lstStyle/>
          <a:p>
            <a:fld id="{3631BA11-B873-43E1-B5E5-099F01C0B2AF}" type="datetime1">
              <a:rPr lang="mn-MN" smtClean="0"/>
              <a:t>2026.05.27</a:t>
            </a:fld>
            <a:endParaRPr lang="mn-MN" dirty="0"/>
          </a:p>
        </p:txBody>
      </p:sp>
      <p:sp>
        <p:nvSpPr>
          <p:cNvPr id="6" name="Slide Number Placeholder 5">
            <a:extLst>
              <a:ext uri="{FF2B5EF4-FFF2-40B4-BE49-F238E27FC236}">
                <a16:creationId xmlns:a16="http://schemas.microsoft.com/office/drawing/2014/main" id="{43CADA66-47DE-6F44-B802-17E456F5C475}"/>
              </a:ext>
            </a:extLst>
          </p:cNvPr>
          <p:cNvSpPr>
            <a:spLocks noGrp="1"/>
          </p:cNvSpPr>
          <p:nvPr>
            <p:ph type="sldNum" idx="12"/>
          </p:nvPr>
        </p:nvSpPr>
        <p:spPr/>
        <p:txBody>
          <a:bodyPr/>
          <a:lstStyle/>
          <a:p>
            <a:fld id="{00000000-1234-1234-1234-123412341234}" type="slidenum">
              <a:rPr lang="mn" smtClean="0"/>
              <a:pPr/>
              <a:t>15</a:t>
            </a:fld>
            <a:endParaRPr lang="mn"/>
          </a:p>
        </p:txBody>
      </p:sp>
      <p:pic>
        <p:nvPicPr>
          <p:cNvPr id="4" name="Picture 3">
            <a:extLst>
              <a:ext uri="{FF2B5EF4-FFF2-40B4-BE49-F238E27FC236}">
                <a16:creationId xmlns:a16="http://schemas.microsoft.com/office/drawing/2014/main" id="{1BBDD168-5676-04D3-C574-AC1BA477B265}"/>
              </a:ext>
            </a:extLst>
          </p:cNvPr>
          <p:cNvPicPr>
            <a:picLocks noChangeAspect="1"/>
          </p:cNvPicPr>
          <p:nvPr/>
        </p:nvPicPr>
        <p:blipFill>
          <a:blip r:embed="rId3"/>
          <a:stretch>
            <a:fillRect/>
          </a:stretch>
        </p:blipFill>
        <p:spPr>
          <a:xfrm>
            <a:off x="1151039" y="1091646"/>
            <a:ext cx="9889922" cy="4498722"/>
          </a:xfrm>
          <a:prstGeom prst="rect">
            <a:avLst/>
          </a:prstGeom>
        </p:spPr>
      </p:pic>
    </p:spTree>
    <p:extLst>
      <p:ext uri="{BB962C8B-B14F-4D97-AF65-F5344CB8AC3E}">
        <p14:creationId xmlns:p14="http://schemas.microsoft.com/office/powerpoint/2010/main" val="3593991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3D1E1451-54D6-CD07-5428-26C5247AC46F}"/>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F860FEFE-91F6-9576-BEEE-756A0A5AA4CD}"/>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cap="all" dirty="0">
                <a:latin typeface="Times New Roman"/>
                <a:cs typeface="Times New Roman"/>
              </a:rPr>
              <a:t>Дэлгэцийн зохиомж </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84677CD8-2DA8-2577-E0EE-FC76C9AC9F1A}"/>
              </a:ext>
            </a:extLst>
          </p:cNvPr>
          <p:cNvSpPr txBox="1">
            <a:spLocks/>
          </p:cNvSpPr>
          <p:nvPr/>
        </p:nvSpPr>
        <p:spPr>
          <a:xfrm>
            <a:off x="454945"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endParaRPr lang="mn-MN" sz="800" dirty="0"/>
          </a:p>
        </p:txBody>
      </p:sp>
      <p:sp>
        <p:nvSpPr>
          <p:cNvPr id="5" name="Date Placeholder 4">
            <a:extLst>
              <a:ext uri="{FF2B5EF4-FFF2-40B4-BE49-F238E27FC236}">
                <a16:creationId xmlns:a16="http://schemas.microsoft.com/office/drawing/2014/main" id="{9D0AD392-514D-8E73-EF1F-5C4ECA497A17}"/>
              </a:ext>
            </a:extLst>
          </p:cNvPr>
          <p:cNvSpPr>
            <a:spLocks noGrp="1"/>
          </p:cNvSpPr>
          <p:nvPr>
            <p:ph type="dt" idx="10"/>
          </p:nvPr>
        </p:nvSpPr>
        <p:spPr/>
        <p:txBody>
          <a:bodyPr/>
          <a:lstStyle/>
          <a:p>
            <a:fld id="{3631BA11-B873-43E1-B5E5-099F01C0B2AF}" type="datetime1">
              <a:rPr lang="mn-MN" smtClean="0"/>
              <a:t>2026.05.27</a:t>
            </a:fld>
            <a:endParaRPr lang="mn-MN" dirty="0"/>
          </a:p>
        </p:txBody>
      </p:sp>
      <p:sp>
        <p:nvSpPr>
          <p:cNvPr id="6" name="Slide Number Placeholder 5">
            <a:extLst>
              <a:ext uri="{FF2B5EF4-FFF2-40B4-BE49-F238E27FC236}">
                <a16:creationId xmlns:a16="http://schemas.microsoft.com/office/drawing/2014/main" id="{3BBA053C-3889-4F2F-1E90-318F78426BF8}"/>
              </a:ext>
            </a:extLst>
          </p:cNvPr>
          <p:cNvSpPr>
            <a:spLocks noGrp="1"/>
          </p:cNvSpPr>
          <p:nvPr>
            <p:ph type="sldNum" idx="12"/>
          </p:nvPr>
        </p:nvSpPr>
        <p:spPr/>
        <p:txBody>
          <a:bodyPr/>
          <a:lstStyle/>
          <a:p>
            <a:fld id="{00000000-1234-1234-1234-123412341234}" type="slidenum">
              <a:rPr lang="mn" smtClean="0"/>
              <a:pPr/>
              <a:t>16</a:t>
            </a:fld>
            <a:endParaRPr lang="mn"/>
          </a:p>
        </p:txBody>
      </p:sp>
      <p:pic>
        <p:nvPicPr>
          <p:cNvPr id="7" name="Picture 6">
            <a:extLst>
              <a:ext uri="{FF2B5EF4-FFF2-40B4-BE49-F238E27FC236}">
                <a16:creationId xmlns:a16="http://schemas.microsoft.com/office/drawing/2014/main" id="{A835FDEB-A125-4B82-4406-C2A292A38DAC}"/>
              </a:ext>
            </a:extLst>
          </p:cNvPr>
          <p:cNvPicPr>
            <a:picLocks noChangeAspect="1"/>
          </p:cNvPicPr>
          <p:nvPr/>
        </p:nvPicPr>
        <p:blipFill>
          <a:blip r:embed="rId3"/>
          <a:stretch>
            <a:fillRect/>
          </a:stretch>
        </p:blipFill>
        <p:spPr>
          <a:xfrm>
            <a:off x="988465" y="1096091"/>
            <a:ext cx="10400182" cy="4766293"/>
          </a:xfrm>
          <a:prstGeom prst="rect">
            <a:avLst/>
          </a:prstGeom>
        </p:spPr>
      </p:pic>
    </p:spTree>
    <p:extLst>
      <p:ext uri="{BB962C8B-B14F-4D97-AF65-F5344CB8AC3E}">
        <p14:creationId xmlns:p14="http://schemas.microsoft.com/office/powerpoint/2010/main" val="1765511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37F3DE1E-5C67-539B-23E1-4A470D6F5C97}"/>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5B788A41-D6D1-76F8-1C84-B4C248CCF54A}"/>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cap="all" dirty="0">
                <a:latin typeface="Times New Roman"/>
                <a:cs typeface="Times New Roman"/>
              </a:rPr>
              <a:t>Дэлгэцийн зохиомж </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3750BCF3-AE26-D4A9-28EF-3A273431FD3A}"/>
              </a:ext>
            </a:extLst>
          </p:cNvPr>
          <p:cNvSpPr txBox="1">
            <a:spLocks/>
          </p:cNvSpPr>
          <p:nvPr/>
        </p:nvSpPr>
        <p:spPr>
          <a:xfrm>
            <a:off x="454945"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endParaRPr lang="mn-MN" sz="800" dirty="0"/>
          </a:p>
        </p:txBody>
      </p:sp>
      <p:sp>
        <p:nvSpPr>
          <p:cNvPr id="5" name="Date Placeholder 4">
            <a:extLst>
              <a:ext uri="{FF2B5EF4-FFF2-40B4-BE49-F238E27FC236}">
                <a16:creationId xmlns:a16="http://schemas.microsoft.com/office/drawing/2014/main" id="{4DBF1035-D982-5C64-C3C3-7500541CA1CC}"/>
              </a:ext>
            </a:extLst>
          </p:cNvPr>
          <p:cNvSpPr>
            <a:spLocks noGrp="1"/>
          </p:cNvSpPr>
          <p:nvPr>
            <p:ph type="dt" idx="10"/>
          </p:nvPr>
        </p:nvSpPr>
        <p:spPr/>
        <p:txBody>
          <a:bodyPr/>
          <a:lstStyle/>
          <a:p>
            <a:fld id="{3631BA11-B873-43E1-B5E5-099F01C0B2AF}" type="datetime1">
              <a:rPr lang="mn-MN" smtClean="0"/>
              <a:t>2026.05.27</a:t>
            </a:fld>
            <a:endParaRPr lang="mn-MN" dirty="0"/>
          </a:p>
        </p:txBody>
      </p:sp>
      <p:sp>
        <p:nvSpPr>
          <p:cNvPr id="6" name="Slide Number Placeholder 5">
            <a:extLst>
              <a:ext uri="{FF2B5EF4-FFF2-40B4-BE49-F238E27FC236}">
                <a16:creationId xmlns:a16="http://schemas.microsoft.com/office/drawing/2014/main" id="{F4662474-30B7-0000-CACA-C64812E2F744}"/>
              </a:ext>
            </a:extLst>
          </p:cNvPr>
          <p:cNvSpPr>
            <a:spLocks noGrp="1"/>
          </p:cNvSpPr>
          <p:nvPr>
            <p:ph type="sldNum" idx="12"/>
          </p:nvPr>
        </p:nvSpPr>
        <p:spPr/>
        <p:txBody>
          <a:bodyPr/>
          <a:lstStyle/>
          <a:p>
            <a:fld id="{00000000-1234-1234-1234-123412341234}" type="slidenum">
              <a:rPr lang="mn" smtClean="0"/>
              <a:pPr/>
              <a:t>17</a:t>
            </a:fld>
            <a:endParaRPr lang="mn"/>
          </a:p>
        </p:txBody>
      </p:sp>
      <p:pic>
        <p:nvPicPr>
          <p:cNvPr id="7" name="Picture 6">
            <a:extLst>
              <a:ext uri="{FF2B5EF4-FFF2-40B4-BE49-F238E27FC236}">
                <a16:creationId xmlns:a16="http://schemas.microsoft.com/office/drawing/2014/main" id="{29243EFB-7E7E-AC78-40B6-3F0321597EEF}"/>
              </a:ext>
            </a:extLst>
          </p:cNvPr>
          <p:cNvPicPr>
            <a:picLocks noChangeAspect="1"/>
          </p:cNvPicPr>
          <p:nvPr/>
        </p:nvPicPr>
        <p:blipFill>
          <a:blip r:embed="rId3"/>
          <a:stretch>
            <a:fillRect/>
          </a:stretch>
        </p:blipFill>
        <p:spPr>
          <a:xfrm>
            <a:off x="445363" y="928726"/>
            <a:ext cx="11301274" cy="5154237"/>
          </a:xfrm>
          <a:prstGeom prst="rect">
            <a:avLst/>
          </a:prstGeom>
        </p:spPr>
      </p:pic>
    </p:spTree>
    <p:extLst>
      <p:ext uri="{BB962C8B-B14F-4D97-AF65-F5344CB8AC3E}">
        <p14:creationId xmlns:p14="http://schemas.microsoft.com/office/powerpoint/2010/main" val="1636434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05C0E96-2680-6DD8-BAE5-E9640E3C15DF}"/>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327F7867-7C6D-DE49-7FAE-B1F08ACB250F}"/>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en-US" sz="2000" b="1" dirty="0">
                <a:solidFill>
                  <a:srgbClr val="003366"/>
                </a:solidFill>
              </a:rPr>
              <a:t>UML </a:t>
            </a:r>
            <a:r>
              <a:rPr lang="mn-MN" sz="2000" b="1" dirty="0">
                <a:solidFill>
                  <a:srgbClr val="003366"/>
                </a:solidFill>
              </a:rPr>
              <a:t>ДИАГРАММУУД</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B9DBFB68-548F-5C1D-FF38-60B42D47ED5A}"/>
              </a:ext>
            </a:extLst>
          </p:cNvPr>
          <p:cNvSpPr txBox="1">
            <a:spLocks/>
          </p:cNvSpPr>
          <p:nvPr/>
        </p:nvSpPr>
        <p:spPr>
          <a:xfrm>
            <a:off x="454945" y="995616"/>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endParaRPr lang="mn-MN" sz="800" dirty="0"/>
          </a:p>
        </p:txBody>
      </p:sp>
      <p:sp>
        <p:nvSpPr>
          <p:cNvPr id="5" name="Date Placeholder 4">
            <a:extLst>
              <a:ext uri="{FF2B5EF4-FFF2-40B4-BE49-F238E27FC236}">
                <a16:creationId xmlns:a16="http://schemas.microsoft.com/office/drawing/2014/main" id="{21F762CD-3075-60E7-C42F-D742DFE7B2B5}"/>
              </a:ext>
            </a:extLst>
          </p:cNvPr>
          <p:cNvSpPr>
            <a:spLocks noGrp="1"/>
          </p:cNvSpPr>
          <p:nvPr>
            <p:ph type="dt" idx="10"/>
          </p:nvPr>
        </p:nvSpPr>
        <p:spPr/>
        <p:txBody>
          <a:bodyPr/>
          <a:lstStyle/>
          <a:p>
            <a:fld id="{3631BA11-B873-43E1-B5E5-099F01C0B2AF}" type="datetime1">
              <a:rPr lang="mn-MN" smtClean="0"/>
              <a:t>2026.05.27</a:t>
            </a:fld>
            <a:endParaRPr lang="mn-MN"/>
          </a:p>
        </p:txBody>
      </p:sp>
      <p:sp>
        <p:nvSpPr>
          <p:cNvPr id="6" name="Slide Number Placeholder 5">
            <a:extLst>
              <a:ext uri="{FF2B5EF4-FFF2-40B4-BE49-F238E27FC236}">
                <a16:creationId xmlns:a16="http://schemas.microsoft.com/office/drawing/2014/main" id="{5D1A36A2-4024-A514-BBB5-8AD3ED3CE276}"/>
              </a:ext>
            </a:extLst>
          </p:cNvPr>
          <p:cNvSpPr>
            <a:spLocks noGrp="1"/>
          </p:cNvSpPr>
          <p:nvPr>
            <p:ph type="sldNum" idx="12"/>
          </p:nvPr>
        </p:nvSpPr>
        <p:spPr/>
        <p:txBody>
          <a:bodyPr/>
          <a:lstStyle/>
          <a:p>
            <a:fld id="{00000000-1234-1234-1234-123412341234}" type="slidenum">
              <a:rPr lang="mn" smtClean="0"/>
              <a:pPr/>
              <a:t>18</a:t>
            </a:fld>
            <a:endParaRPr lang="mn"/>
          </a:p>
        </p:txBody>
      </p:sp>
      <p:pic>
        <p:nvPicPr>
          <p:cNvPr id="4" name="Picture 3">
            <a:extLst>
              <a:ext uri="{FF2B5EF4-FFF2-40B4-BE49-F238E27FC236}">
                <a16:creationId xmlns:a16="http://schemas.microsoft.com/office/drawing/2014/main" id="{9D9BE68D-4F14-A823-5A5E-F5131502209F}"/>
              </a:ext>
            </a:extLst>
          </p:cNvPr>
          <p:cNvPicPr>
            <a:picLocks noChangeAspect="1"/>
          </p:cNvPicPr>
          <p:nvPr/>
        </p:nvPicPr>
        <p:blipFill>
          <a:blip r:embed="rId3"/>
          <a:stretch>
            <a:fillRect/>
          </a:stretch>
        </p:blipFill>
        <p:spPr>
          <a:xfrm>
            <a:off x="454945" y="1549400"/>
            <a:ext cx="3070510" cy="3912057"/>
          </a:xfrm>
          <a:prstGeom prst="rect">
            <a:avLst/>
          </a:prstGeom>
        </p:spPr>
      </p:pic>
      <p:pic>
        <p:nvPicPr>
          <p:cNvPr id="8" name="Picture 7">
            <a:extLst>
              <a:ext uri="{FF2B5EF4-FFF2-40B4-BE49-F238E27FC236}">
                <a16:creationId xmlns:a16="http://schemas.microsoft.com/office/drawing/2014/main" id="{730A24F3-684D-73DB-3FE2-051FC5780C1E}"/>
              </a:ext>
            </a:extLst>
          </p:cNvPr>
          <p:cNvPicPr>
            <a:picLocks noChangeAspect="1"/>
          </p:cNvPicPr>
          <p:nvPr/>
        </p:nvPicPr>
        <p:blipFill>
          <a:blip r:embed="rId4"/>
          <a:stretch>
            <a:fillRect/>
          </a:stretch>
        </p:blipFill>
        <p:spPr>
          <a:xfrm>
            <a:off x="4094416" y="2127875"/>
            <a:ext cx="4729040" cy="2602250"/>
          </a:xfrm>
          <a:prstGeom prst="rect">
            <a:avLst/>
          </a:prstGeom>
        </p:spPr>
      </p:pic>
      <p:pic>
        <p:nvPicPr>
          <p:cNvPr id="10" name="Picture 9">
            <a:extLst>
              <a:ext uri="{FF2B5EF4-FFF2-40B4-BE49-F238E27FC236}">
                <a16:creationId xmlns:a16="http://schemas.microsoft.com/office/drawing/2014/main" id="{D39C7259-0E7F-307A-BFC2-5AD9124EBC6E}"/>
              </a:ext>
            </a:extLst>
          </p:cNvPr>
          <p:cNvPicPr>
            <a:picLocks noChangeAspect="1"/>
          </p:cNvPicPr>
          <p:nvPr/>
        </p:nvPicPr>
        <p:blipFill>
          <a:blip r:embed="rId5"/>
          <a:stretch>
            <a:fillRect/>
          </a:stretch>
        </p:blipFill>
        <p:spPr>
          <a:xfrm>
            <a:off x="9157388" y="1549400"/>
            <a:ext cx="1789180" cy="4053840"/>
          </a:xfrm>
          <a:prstGeom prst="rect">
            <a:avLst/>
          </a:prstGeom>
        </p:spPr>
      </p:pic>
      <p:sp>
        <p:nvSpPr>
          <p:cNvPr id="12" name="TextBox 11">
            <a:extLst>
              <a:ext uri="{FF2B5EF4-FFF2-40B4-BE49-F238E27FC236}">
                <a16:creationId xmlns:a16="http://schemas.microsoft.com/office/drawing/2014/main" id="{1EABFFEB-D109-C998-EFA3-747145E95858}"/>
              </a:ext>
            </a:extLst>
          </p:cNvPr>
          <p:cNvSpPr txBox="1"/>
          <p:nvPr/>
        </p:nvSpPr>
        <p:spPr>
          <a:xfrm>
            <a:off x="167845" y="796378"/>
            <a:ext cx="5131742" cy="1200329"/>
          </a:xfrm>
          <a:prstGeom prst="rect">
            <a:avLst/>
          </a:prstGeom>
          <a:noFill/>
        </p:spPr>
        <p:txBody>
          <a:bodyPr wrap="square" rtlCol="0">
            <a:spAutoFit/>
          </a:bodyPr>
          <a:lstStyle/>
          <a:p>
            <a:r>
              <a:rPr lang="en-US" b="1" dirty="0"/>
              <a:t>1. UML Use Case Diagram (</a:t>
            </a:r>
            <a:r>
              <a:rPr lang="mn-MN" b="1" dirty="0"/>
              <a:t>Мезо) - Хэрэглээний тохиолдлын диаграм</a:t>
            </a:r>
          </a:p>
          <a:p>
            <a:br>
              <a:rPr lang="mn-MN" dirty="0"/>
            </a:br>
            <a:endParaRPr lang="en-US" dirty="0"/>
          </a:p>
        </p:txBody>
      </p:sp>
      <p:sp>
        <p:nvSpPr>
          <p:cNvPr id="13" name="TextBox 12">
            <a:extLst>
              <a:ext uri="{FF2B5EF4-FFF2-40B4-BE49-F238E27FC236}">
                <a16:creationId xmlns:a16="http://schemas.microsoft.com/office/drawing/2014/main" id="{637AFCD4-B9D8-3483-A32E-45667B3F8E21}"/>
              </a:ext>
            </a:extLst>
          </p:cNvPr>
          <p:cNvSpPr txBox="1"/>
          <p:nvPr/>
        </p:nvSpPr>
        <p:spPr>
          <a:xfrm>
            <a:off x="4025646" y="1350376"/>
            <a:ext cx="5131742" cy="646331"/>
          </a:xfrm>
          <a:prstGeom prst="rect">
            <a:avLst/>
          </a:prstGeom>
          <a:noFill/>
        </p:spPr>
        <p:txBody>
          <a:bodyPr wrap="square" rtlCol="0">
            <a:spAutoFit/>
          </a:bodyPr>
          <a:lstStyle/>
          <a:p>
            <a:r>
              <a:rPr lang="en-US" b="1" dirty="0"/>
              <a:t>2. UML Sequence Diagram (</a:t>
            </a:r>
            <a:r>
              <a:rPr lang="mn-MN" b="1" dirty="0"/>
              <a:t>Микро) - Дарааллын диаграм</a:t>
            </a:r>
          </a:p>
        </p:txBody>
      </p:sp>
      <p:sp>
        <p:nvSpPr>
          <p:cNvPr id="14" name="TextBox 13">
            <a:extLst>
              <a:ext uri="{FF2B5EF4-FFF2-40B4-BE49-F238E27FC236}">
                <a16:creationId xmlns:a16="http://schemas.microsoft.com/office/drawing/2014/main" id="{5B670DE0-6C5A-4D1E-DA65-C3BB8783A516}"/>
              </a:ext>
            </a:extLst>
          </p:cNvPr>
          <p:cNvSpPr txBox="1"/>
          <p:nvPr/>
        </p:nvSpPr>
        <p:spPr>
          <a:xfrm>
            <a:off x="8270277" y="835468"/>
            <a:ext cx="4250948" cy="646331"/>
          </a:xfrm>
          <a:prstGeom prst="rect">
            <a:avLst/>
          </a:prstGeom>
          <a:noFill/>
        </p:spPr>
        <p:txBody>
          <a:bodyPr wrap="square" rtlCol="0">
            <a:spAutoFit/>
          </a:bodyPr>
          <a:lstStyle/>
          <a:p>
            <a:r>
              <a:rPr lang="en-US" b="1" dirty="0"/>
              <a:t>3. UML Class Diagram (</a:t>
            </a:r>
            <a:r>
              <a:rPr lang="mn-MN" b="1" dirty="0"/>
              <a:t>Микро) - Класс диаграм</a:t>
            </a:r>
          </a:p>
        </p:txBody>
      </p:sp>
    </p:spTree>
    <p:extLst>
      <p:ext uri="{BB962C8B-B14F-4D97-AF65-F5344CB8AC3E}">
        <p14:creationId xmlns:p14="http://schemas.microsoft.com/office/powerpoint/2010/main" val="2879305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0F2A0B7-0CC4-172D-B589-AA6EF9B2096E}"/>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F332E0AB-D48E-DD24-8D58-60D43A8CC002}"/>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СИСТЕМИЙН ҮР ДҮН</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50DE5B4C-4815-C726-50B9-6A34ABB3C3B1}"/>
              </a:ext>
            </a:extLst>
          </p:cNvPr>
          <p:cNvSpPr txBox="1">
            <a:spLocks/>
          </p:cNvSpPr>
          <p:nvPr/>
        </p:nvSpPr>
        <p:spPr>
          <a:xfrm>
            <a:off x="641758" y="1560327"/>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800" b="1" dirty="0"/>
              <a:t>Системийн үр дүн (</a:t>
            </a:r>
            <a:r>
              <a:rPr lang="en-US" sz="800" b="1" dirty="0"/>
              <a:t>System Results)</a:t>
            </a:r>
          </a:p>
          <a:p>
            <a:r>
              <a:rPr lang="mn-MN" sz="800" dirty="0"/>
              <a:t>Судалгаа болон хөгжүүлэлтийн ажлын хүрээнд олон нийтийн сүлжээний өгөгдөл татах (</a:t>
            </a:r>
            <a:r>
              <a:rPr lang="en-US" sz="800" dirty="0"/>
              <a:t>Web scraping), </a:t>
            </a:r>
            <a:r>
              <a:rPr lang="mn-MN" sz="800" dirty="0"/>
              <a:t>түүнд байгалийн хэлний боловсруулалт хийх (</a:t>
            </a:r>
            <a:r>
              <a:rPr lang="en-US" sz="800" dirty="0"/>
              <a:t>NLP, Sentiment Analysis), </a:t>
            </a:r>
            <a:r>
              <a:rPr lang="mn-MN" sz="800" dirty="0"/>
              <a:t>үр дүнг хиймэл оюун ухаанаар тайлагнах (</a:t>
            </a:r>
            <a:r>
              <a:rPr lang="en-US" sz="800" dirty="0"/>
              <a:t>AI Report), </a:t>
            </a:r>
            <a:r>
              <a:rPr lang="mn-MN" sz="800" dirty="0"/>
              <a:t>хэрэглэгчид график хэлбэрээр харуулах (</a:t>
            </a:r>
            <a:r>
              <a:rPr lang="en-US" sz="800" dirty="0"/>
              <a:t>Web Dashboard) </a:t>
            </a:r>
            <a:r>
              <a:rPr lang="mn-MN" sz="800" dirty="0"/>
              <a:t>гэсэн үндсэн дөрвөн модулиас бүрдсэн цогц системийг амжилттай хэрэгжүүлж дууслаа. Туршилт болон хөгжүүлэлтийн явцад дараах голлох үр дүнгүүд гарсан болно:</a:t>
            </a:r>
          </a:p>
          <a:p>
            <a:r>
              <a:rPr lang="mn-MN" sz="800" b="1" dirty="0"/>
              <a:t>1. Ерөнхий ажиллагаа болон Интеграцийн үр дүн</a:t>
            </a:r>
            <a:br>
              <a:rPr lang="mn-MN" sz="800" dirty="0"/>
            </a:br>
            <a:r>
              <a:rPr lang="mn-MN" sz="800" dirty="0"/>
              <a:t>Фронтенд (</a:t>
            </a:r>
            <a:r>
              <a:rPr lang="en-US" sz="800" dirty="0"/>
              <a:t>React/Vite) </a:t>
            </a:r>
            <a:r>
              <a:rPr lang="mn-MN" sz="800" dirty="0"/>
              <a:t>болон Бэкенд (</a:t>
            </a:r>
            <a:r>
              <a:rPr lang="en-US" sz="800" dirty="0" err="1"/>
              <a:t>FastAPI</a:t>
            </a:r>
            <a:r>
              <a:rPr lang="en-US" sz="800" dirty="0"/>
              <a:t>) </a:t>
            </a:r>
            <a:r>
              <a:rPr lang="mn-MN" sz="800" dirty="0"/>
              <a:t>архитектур нь </a:t>
            </a:r>
            <a:r>
              <a:rPr lang="en-US" sz="800" dirty="0"/>
              <a:t>REST API-</a:t>
            </a:r>
            <a:r>
              <a:rPr lang="mn-MN" sz="800" dirty="0"/>
              <a:t>аар дамжуулан хоорондоо саадгүй, хурдан хугацаанд мэдээлэл солилцож чадаж байна. Өгөгдлийн санд (</a:t>
            </a:r>
            <a:r>
              <a:rPr lang="en-US" sz="800" dirty="0"/>
              <a:t>Firebase/PostgreSQL) </a:t>
            </a:r>
            <a:r>
              <a:rPr lang="mn-MN" sz="800" dirty="0"/>
              <a:t>хадгалагдсан мэдээллийг хэрэглэгчийн дэлгэц рүү бодит хугацаанд гарган харуулах хурд болон системийн тогтвортой ажиллагаа нь шаардлага хангасан үзүүлэлттэй гарсан.</a:t>
            </a:r>
          </a:p>
          <a:p>
            <a:r>
              <a:rPr lang="mn-MN" sz="800" b="1" dirty="0"/>
              <a:t>2. Хандлагын шинжилгээний модулийн үр дүн</a:t>
            </a:r>
            <a:br>
              <a:rPr lang="mn-MN" sz="800" dirty="0"/>
            </a:br>
            <a:r>
              <a:rPr lang="en-US" sz="800" dirty="0" err="1"/>
              <a:t>TextBlob</a:t>
            </a:r>
            <a:r>
              <a:rPr lang="en-US" sz="800" dirty="0"/>
              <a:t> </a:t>
            </a:r>
            <a:r>
              <a:rPr lang="mn-MN" sz="800" dirty="0"/>
              <a:t>болон нэмэлт алгоритмуудад тулгуурласан хандлагын шинжилгээний хөдөлгүүр нь цуглуулсан түүхий текст өгөгдлийг (</a:t>
            </a:r>
            <a:r>
              <a:rPr lang="en-US" sz="800" dirty="0"/>
              <a:t>Text data) </a:t>
            </a:r>
            <a:r>
              <a:rPr lang="mn-MN" sz="800" dirty="0"/>
              <a:t>Эерэг (</a:t>
            </a:r>
            <a:r>
              <a:rPr lang="en-US" sz="800" dirty="0"/>
              <a:t>Positive), </a:t>
            </a:r>
            <a:r>
              <a:rPr lang="mn-MN" sz="800" dirty="0"/>
              <a:t>Сөрөг (</a:t>
            </a:r>
            <a:r>
              <a:rPr lang="en-US" sz="800" dirty="0"/>
              <a:t>Negative), </a:t>
            </a:r>
            <a:r>
              <a:rPr lang="mn-MN" sz="800" dirty="0"/>
              <a:t>Саармаг (</a:t>
            </a:r>
            <a:r>
              <a:rPr lang="en-US" sz="800" dirty="0"/>
              <a:t>Neutral) </a:t>
            </a:r>
            <a:r>
              <a:rPr lang="mn-MN" sz="800" dirty="0"/>
              <a:t>гэсэн гурван ангилалд өндөр нарийвчлалтайгаар амжилттай ангиллаа. Мөн гадны сангаас хамааралтай алдаа гарахаас сэргийлсэн "</a:t>
            </a:r>
            <a:r>
              <a:rPr lang="en-US" sz="800" dirty="0"/>
              <a:t>Keyword-based fallback" </a:t>
            </a:r>
            <a:r>
              <a:rPr lang="mn-MN" sz="800" dirty="0"/>
              <a:t>буюу түлхүүр үгэнд суурилсан нөөц хувилбар давхар ажиллаж байгаа нь системийн тасралтгүй ажиллагааг (</a:t>
            </a:r>
            <a:r>
              <a:rPr lang="en-US" sz="800" dirty="0"/>
              <a:t>High Availability) </a:t>
            </a:r>
            <a:r>
              <a:rPr lang="mn-MN" sz="800" dirty="0"/>
              <a:t>хангаж чадсан маш сайн үр дүн болсон.</a:t>
            </a:r>
          </a:p>
          <a:p>
            <a:r>
              <a:rPr lang="mn-MN" sz="800" b="1" dirty="0"/>
              <a:t>3. Хиймэл оюуны тайлан болон Визуалчлалын үр дүн</a:t>
            </a:r>
            <a:br>
              <a:rPr lang="mn-MN" sz="800" dirty="0"/>
            </a:br>
            <a:r>
              <a:rPr lang="mn-MN" sz="800" dirty="0"/>
              <a:t>Системийн хэрэглэгчийн интерфейс нь график (</a:t>
            </a:r>
            <a:r>
              <a:rPr lang="en-US" sz="800" dirty="0"/>
              <a:t>Pie chart, Bar chart) </a:t>
            </a:r>
            <a:r>
              <a:rPr lang="mn-MN" sz="800" dirty="0"/>
              <a:t>болон статистик картуудаар дамжуулан нарийн төвөгтэй өгөгдлийг энгийн хүнд ойлгомжтойгоор харуулж чадсан. Хамгийн онцлох үр дүн нь </a:t>
            </a:r>
            <a:r>
              <a:rPr lang="en-US" sz="800" dirty="0"/>
              <a:t>Google Gemini API-</a:t>
            </a:r>
            <a:r>
              <a:rPr lang="mn-MN" sz="800" dirty="0"/>
              <a:t>г ашиглан статистик мэдээлэл дээр тулгуурлан </a:t>
            </a:r>
            <a:r>
              <a:rPr lang="mn-MN" sz="800" b="1" dirty="0"/>
              <a:t>"Автомат дүгнэлт, тайлан"</a:t>
            </a:r>
            <a:r>
              <a:rPr lang="mn-MN" sz="800" dirty="0"/>
              <a:t> үүсгэсэн явдал байлаа. Энэ нь зөвхөн хуурай тоо баримт харуулаад зогсохгүй, тухайн датаны цаад учир шалтгаан, цаашид анхаарах зүйлсийг үг хэлбэрээр (</a:t>
            </a:r>
            <a:r>
              <a:rPr lang="en-US" sz="800" dirty="0"/>
              <a:t>Actionable Insights) </a:t>
            </a:r>
            <a:r>
              <a:rPr lang="mn-MN" sz="800" dirty="0"/>
              <a:t>тайлбарлаж чадсан нь системийн оюунлаг (</a:t>
            </a:r>
            <a:r>
              <a:rPr lang="en-US" sz="800" dirty="0"/>
              <a:t>Smart) </a:t>
            </a:r>
            <a:r>
              <a:rPr lang="mn-MN" sz="800" dirty="0"/>
              <a:t>байдлыг сайжруулсан.</a:t>
            </a:r>
          </a:p>
          <a:p>
            <a:r>
              <a:rPr lang="mn-MN" sz="800" b="1" dirty="0"/>
              <a:t>Практик ач холбогдол (Дүгнэлт)</a:t>
            </a:r>
            <a:br>
              <a:rPr lang="mn-MN" sz="800" dirty="0"/>
            </a:br>
            <a:r>
              <a:rPr lang="mn-MN" sz="800" dirty="0"/>
              <a:t>Энэхүү төсөл хэрэгжсэнээр байгууллага, хувь хүн болон судлаачид өөрсдийн сошиал орчин дахь нэр хүнд, зорилтот хэрэглэгчдийн тренд болон хандлагыг цаг алдалгүй, автоматжуулсан байдлаар мэдэх бүрэн боломжтой болсон. Ингэснээр олон цагаар сэтгэгдэл, пост унших хүний хөдөлмөрийг хөнгөвчилж, цаг хугацаа, хүний нөөцийн зардлыг үлэмж хэмжээгээр бууруулах, оновчтой шийдвэр гаргалтыг дэмжих өндөр практик ач холбогдолтой систем болж чадсан юм.</a:t>
            </a:r>
          </a:p>
        </p:txBody>
      </p:sp>
      <p:sp>
        <p:nvSpPr>
          <p:cNvPr id="5" name="Date Placeholder 4">
            <a:extLst>
              <a:ext uri="{FF2B5EF4-FFF2-40B4-BE49-F238E27FC236}">
                <a16:creationId xmlns:a16="http://schemas.microsoft.com/office/drawing/2014/main" id="{93597BAB-65A9-927B-A252-2FD47AA3FB22}"/>
              </a:ext>
            </a:extLst>
          </p:cNvPr>
          <p:cNvSpPr>
            <a:spLocks noGrp="1"/>
          </p:cNvSpPr>
          <p:nvPr>
            <p:ph type="dt" idx="10"/>
          </p:nvPr>
        </p:nvSpPr>
        <p:spPr/>
        <p:txBody>
          <a:bodyPr/>
          <a:lstStyle/>
          <a:p>
            <a:fld id="{3631BA11-B873-43E1-B5E5-099F01C0B2AF}" type="datetime1">
              <a:rPr lang="mn-MN" smtClean="0"/>
              <a:t>2026.05.27</a:t>
            </a:fld>
            <a:endParaRPr lang="mn-MN" dirty="0"/>
          </a:p>
        </p:txBody>
      </p:sp>
      <p:sp>
        <p:nvSpPr>
          <p:cNvPr id="6" name="Slide Number Placeholder 5">
            <a:extLst>
              <a:ext uri="{FF2B5EF4-FFF2-40B4-BE49-F238E27FC236}">
                <a16:creationId xmlns:a16="http://schemas.microsoft.com/office/drawing/2014/main" id="{5927C108-4B72-7CB4-5B96-7C0835F16416}"/>
              </a:ext>
            </a:extLst>
          </p:cNvPr>
          <p:cNvSpPr>
            <a:spLocks noGrp="1"/>
          </p:cNvSpPr>
          <p:nvPr>
            <p:ph type="sldNum" idx="12"/>
          </p:nvPr>
        </p:nvSpPr>
        <p:spPr/>
        <p:txBody>
          <a:bodyPr/>
          <a:lstStyle/>
          <a:p>
            <a:fld id="{00000000-1234-1234-1234-123412341234}" type="slidenum">
              <a:rPr lang="mn" smtClean="0"/>
              <a:pPr/>
              <a:t>19</a:t>
            </a:fld>
            <a:endParaRPr lang="mn"/>
          </a:p>
        </p:txBody>
      </p:sp>
    </p:spTree>
    <p:extLst>
      <p:ext uri="{BB962C8B-B14F-4D97-AF65-F5344CB8AC3E}">
        <p14:creationId xmlns:p14="http://schemas.microsoft.com/office/powerpoint/2010/main" val="951467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FB5D53EE-CBB7-16DB-6D39-3FAA4BDFFC1D}"/>
            </a:ext>
          </a:extLst>
        </p:cNvPr>
        <p:cNvGrpSpPr/>
        <p:nvPr/>
      </p:nvGrpSpPr>
      <p:grpSpPr>
        <a:xfrm>
          <a:off x="0" y="0"/>
          <a:ext cx="0" cy="0"/>
          <a:chOff x="0" y="0"/>
          <a:chExt cx="0" cy="0"/>
        </a:xfrm>
      </p:grpSpPr>
      <p:sp>
        <p:nvSpPr>
          <p:cNvPr id="95" name="Google Shape;95;p15">
            <a:extLst>
              <a:ext uri="{FF2B5EF4-FFF2-40B4-BE49-F238E27FC236}">
                <a16:creationId xmlns:a16="http://schemas.microsoft.com/office/drawing/2014/main" id="{6CE80F2C-6E7C-E2E9-586A-CEF4DB133928}"/>
              </a:ext>
            </a:extLst>
          </p:cNvPr>
          <p:cNvSpPr txBox="1">
            <a:spLocks noGrp="1"/>
          </p:cNvSpPr>
          <p:nvPr>
            <p:ph type="title"/>
          </p:nvPr>
        </p:nvSpPr>
        <p:spPr>
          <a:xfrm>
            <a:off x="1062581" y="281177"/>
            <a:ext cx="11360800" cy="714439"/>
          </a:xfrm>
          <a:prstGeom prst="rect">
            <a:avLst/>
          </a:prstGeom>
        </p:spPr>
        <p:txBody>
          <a:bodyPr spcFirstLastPara="1" wrap="square" lIns="91433" tIns="45700" rIns="91433" bIns="45700" anchor="ctr" anchorCtr="0">
            <a:noAutofit/>
          </a:bodyPr>
          <a:lstStyle/>
          <a:p>
            <a:pPr>
              <a:lnSpc>
                <a:spcPct val="100000"/>
              </a:lnSpc>
              <a:spcBef>
                <a:spcPct val="0"/>
              </a:spcBef>
            </a:pPr>
            <a:r>
              <a:rPr lang="mn-MN" sz="2000" b="1" dirty="0">
                <a:solidFill>
                  <a:srgbClr val="003366"/>
                </a:solidFill>
              </a:rPr>
              <a:t>ДҮГНЭЛТ</a:t>
            </a:r>
            <a:endParaRPr lang="en-US" sz="2000" b="1" cap="all" dirty="0">
              <a:latin typeface="Times New Roman"/>
              <a:cs typeface="Times New Roman"/>
            </a:endParaRPr>
          </a:p>
        </p:txBody>
      </p:sp>
      <p:sp>
        <p:nvSpPr>
          <p:cNvPr id="3" name="Content Placeholder 5">
            <a:extLst>
              <a:ext uri="{FF2B5EF4-FFF2-40B4-BE49-F238E27FC236}">
                <a16:creationId xmlns:a16="http://schemas.microsoft.com/office/drawing/2014/main" id="{B6E0B40B-E4EB-9443-3551-FF3F6DC37D38}"/>
              </a:ext>
            </a:extLst>
          </p:cNvPr>
          <p:cNvSpPr txBox="1">
            <a:spLocks/>
          </p:cNvSpPr>
          <p:nvPr/>
        </p:nvSpPr>
        <p:spPr>
          <a:xfrm>
            <a:off x="641758" y="1560327"/>
            <a:ext cx="10400182" cy="4933658"/>
          </a:xfrm>
          <a:prstGeom prst="rect">
            <a:avLst/>
          </a:prstGeom>
          <a:noFill/>
          <a:ln>
            <a:noFill/>
          </a:ln>
        </p:spPr>
        <p:txBody>
          <a:bodyPr spcFirstLastPara="1" vert="horz" wrap="square" lIns="91440" tIns="45720" rIns="91440" bIns="45720" rtlCol="0" anchor="t" anchorCtr="0">
            <a:noAutofit/>
          </a:bodyPr>
          <a:lstStyle>
            <a:defPPr marR="0" lvl="0" algn="l" rtl="0">
              <a:lnSpc>
                <a:spcPct val="100000"/>
              </a:lnSpc>
              <a:spcBef>
                <a:spcPts val="0"/>
              </a:spcBef>
              <a:spcAft>
                <a:spcPts val="0"/>
              </a:spcAft>
            </a:defPPr>
            <a:lvl1pPr marL="609585" marR="0" lvl="0" indent="-482588" algn="l" rtl="0">
              <a:lnSpc>
                <a:spcPct val="90000"/>
              </a:lnSpc>
              <a:spcBef>
                <a:spcPts val="1067"/>
              </a:spcBef>
              <a:spcAft>
                <a:spcPts val="0"/>
              </a:spcAft>
              <a:buClr>
                <a:schemeClr val="dk1"/>
              </a:buClr>
              <a:buSzPts val="2100"/>
              <a:buFont typeface="Montserrat"/>
              <a:buChar char="•"/>
              <a:defRPr sz="2100" b="0" i="0" u="none" strike="noStrike" cap="none">
                <a:solidFill>
                  <a:schemeClr val="dk1"/>
                </a:solidFill>
                <a:latin typeface="Montserrat"/>
                <a:ea typeface="Montserrat"/>
                <a:cs typeface="Montserrat"/>
                <a:sym typeface="Montserrat"/>
              </a:defRPr>
            </a:lvl1pPr>
            <a:lvl2pPr marL="1219170" marR="0" lvl="1" indent="-457189" algn="l" rtl="0">
              <a:lnSpc>
                <a:spcPct val="90000"/>
              </a:lnSpc>
              <a:spcBef>
                <a:spcPts val="533"/>
              </a:spcBef>
              <a:spcAft>
                <a:spcPts val="0"/>
              </a:spcAft>
              <a:buClr>
                <a:schemeClr val="dk1"/>
              </a:buClr>
              <a:buSzPts val="1800"/>
              <a:buFont typeface="Montserrat"/>
              <a:buChar char="•"/>
              <a:defRPr sz="1800" b="0" i="0" u="none" strike="noStrike" cap="none">
                <a:solidFill>
                  <a:schemeClr val="dk1"/>
                </a:solidFill>
                <a:latin typeface="Montserrat"/>
                <a:ea typeface="Montserrat"/>
                <a:cs typeface="Montserrat"/>
                <a:sym typeface="Montserrat"/>
              </a:defRPr>
            </a:lvl2pPr>
            <a:lvl3pPr marL="1828754" marR="0" lvl="2" indent="-431789" algn="l" rtl="0">
              <a:lnSpc>
                <a:spcPct val="90000"/>
              </a:lnSpc>
              <a:spcBef>
                <a:spcPts val="533"/>
              </a:spcBef>
              <a:spcAft>
                <a:spcPts val="0"/>
              </a:spcAft>
              <a:buClr>
                <a:schemeClr val="dk1"/>
              </a:buClr>
              <a:buSzPts val="1500"/>
              <a:buFont typeface="Montserrat"/>
              <a:buChar char="•"/>
              <a:defRPr sz="1500" b="0" i="0" u="none" strike="noStrike" cap="none">
                <a:solidFill>
                  <a:schemeClr val="dk1"/>
                </a:solidFill>
                <a:latin typeface="Montserrat"/>
                <a:ea typeface="Montserrat"/>
                <a:cs typeface="Montserrat"/>
                <a:sym typeface="Montserrat"/>
              </a:defRPr>
            </a:lvl3pPr>
            <a:lvl4pPr marL="2438339" marR="0" lvl="3"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4pPr>
            <a:lvl5pPr marL="3047924" marR="0" lvl="4"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5pPr>
            <a:lvl6pPr marL="3657509" marR="0" lvl="5"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6pPr>
            <a:lvl7pPr marL="4267093" marR="0" lvl="6"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7pPr>
            <a:lvl8pPr marL="4876678" marR="0" lvl="7"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8pPr>
            <a:lvl9pPr marL="5486263" marR="0" lvl="8" indent="-423323" algn="l" rtl="0">
              <a:lnSpc>
                <a:spcPct val="90000"/>
              </a:lnSpc>
              <a:spcBef>
                <a:spcPts val="533"/>
              </a:spcBef>
              <a:spcAft>
                <a:spcPts val="0"/>
              </a:spcAft>
              <a:buClr>
                <a:schemeClr val="dk1"/>
              </a:buClr>
              <a:buSzPts val="1400"/>
              <a:buFont typeface="Montserrat"/>
              <a:buChar char="•"/>
              <a:defRPr sz="1400" b="0" i="0" u="none" strike="noStrike" cap="none">
                <a:solidFill>
                  <a:schemeClr val="dk1"/>
                </a:solidFill>
                <a:latin typeface="Montserrat"/>
                <a:ea typeface="Montserrat"/>
                <a:cs typeface="Montserrat"/>
                <a:sym typeface="Montserrat"/>
              </a:defRPr>
            </a:lvl9pPr>
          </a:lstStyle>
          <a:p>
            <a:r>
              <a:rPr lang="mn-MN" sz="800" b="1" dirty="0"/>
              <a:t>Дүгнэлт (</a:t>
            </a:r>
            <a:r>
              <a:rPr lang="en-US" sz="800" b="1" dirty="0"/>
              <a:t>Conclusion)</a:t>
            </a:r>
          </a:p>
          <a:p>
            <a:r>
              <a:rPr lang="mn-MN" sz="800" dirty="0"/>
              <a:t>Энэхүү дипломын ажлын хүрээнд олон нийтийн сүлжээний их хэмжээний өгөгдлийг цуглуулах, боловсруулах, машинд сургалт болон хиймэл оюун ухааны тусламжтайгаар хандлагын шинжилгээ хийх цогц системийг амжилттай хөгжүүлж дууслаа. Судалгаа болон хөгжүүлэлтийн үр дүнд дараах гол дүгнэлтүүдэд хүрлээ:</a:t>
            </a:r>
          </a:p>
          <a:p>
            <a:r>
              <a:rPr lang="mn-MN" sz="800" b="1" dirty="0"/>
              <a:t>Цогц архитектурын амжилттай хэрэгжилт:</a:t>
            </a:r>
            <a:br>
              <a:rPr lang="mn-MN" sz="800" dirty="0"/>
            </a:br>
            <a:r>
              <a:rPr lang="mn-MN" sz="800" dirty="0"/>
              <a:t>Системийг Фронтенд (</a:t>
            </a:r>
            <a:r>
              <a:rPr lang="en-US" sz="800" dirty="0"/>
              <a:t>React), </a:t>
            </a:r>
            <a:r>
              <a:rPr lang="mn-MN" sz="800" dirty="0"/>
              <a:t>Бэкенд (</a:t>
            </a:r>
            <a:r>
              <a:rPr lang="en-US" sz="800" dirty="0" err="1"/>
              <a:t>FastAPI</a:t>
            </a:r>
            <a:r>
              <a:rPr lang="en-US" sz="800" dirty="0"/>
              <a:t>), </a:t>
            </a:r>
            <a:r>
              <a:rPr lang="mn-MN" sz="800" dirty="0"/>
              <a:t>Өгөгдлийн сан (</a:t>
            </a:r>
            <a:r>
              <a:rPr lang="en-US" sz="800" dirty="0"/>
              <a:t>Firebase/PostgreSQL) </a:t>
            </a:r>
            <a:r>
              <a:rPr lang="mn-MN" sz="800" dirty="0"/>
              <a:t>болон Хандлагын шинжилгээний модуль (</a:t>
            </a:r>
            <a:r>
              <a:rPr lang="en-US" sz="800" dirty="0" err="1"/>
              <a:t>TextBlob</a:t>
            </a:r>
            <a:r>
              <a:rPr lang="en-US" sz="800" dirty="0"/>
              <a:t>, Machine Learning) </a:t>
            </a:r>
            <a:r>
              <a:rPr lang="mn-MN" sz="800" dirty="0"/>
              <a:t>гэсэн бие даасан хэрнээ хоорондоо нягт уялдаатай хэсгүүдээс бүрдүүлэн зохион бүтээсэн нь орчин үеийн веб хөгжүүлэлтийн шаардлагыг бүрэн хангаж байна. Хэсэг тус бүрийг салангид хөгжүүлсэн нь цаашдын өргөтгөх боломжийг (</a:t>
            </a:r>
            <a:r>
              <a:rPr lang="en-US" sz="800" dirty="0"/>
              <a:t>Scalability) </a:t>
            </a:r>
            <a:r>
              <a:rPr lang="mn-MN" sz="800" dirty="0"/>
              <a:t>нэмэгдүүлсэн.</a:t>
            </a:r>
          </a:p>
          <a:p>
            <a:r>
              <a:rPr lang="mn-MN" sz="800" b="1" dirty="0"/>
              <a:t>Аналитикийн автоматжуулалт ба </a:t>
            </a:r>
            <a:r>
              <a:rPr lang="en-US" sz="800" b="1" dirty="0"/>
              <a:t>AI </a:t>
            </a:r>
            <a:r>
              <a:rPr lang="mn-MN" sz="800" b="1" dirty="0"/>
              <a:t>интеграци:</a:t>
            </a:r>
            <a:br>
              <a:rPr lang="mn-MN" sz="800" dirty="0"/>
            </a:br>
            <a:r>
              <a:rPr lang="mn-MN" sz="800" dirty="0"/>
              <a:t>Уламжлалт аргаар олон мянган сэтгэгдэл, мэдээллийг хүн уншиж дүгнэх нь маш их цаг хугацаа, хүний нөөц шаардсан ажил байдаг. Энэхүү систем нь текстийн эерэг, сөрөг, саармаг хандлагыг математик статистикийн аргаар тооцоолж автоматаар ангилахаас гадна, орчин үеийн Том хэлний загвар болох </a:t>
            </a:r>
            <a:r>
              <a:rPr lang="en-US" sz="800" dirty="0"/>
              <a:t>Google Gemini LLM </a:t>
            </a:r>
            <a:r>
              <a:rPr lang="mn-MN" sz="800" dirty="0"/>
              <a:t>ашиглан "Ухаалаг тайлан" үүсгэсэн нь уламжлалт статистикийн системийг шинэ шатанд гаргасан чухал шийдэл болсон.</a:t>
            </a:r>
          </a:p>
          <a:p>
            <a:r>
              <a:rPr lang="mn-MN" sz="800" b="1" dirty="0"/>
              <a:t>Практик ач холбогдол ба Бизнесийн үнэ цэнэ:</a:t>
            </a:r>
            <a:br>
              <a:rPr lang="mn-MN" sz="800" dirty="0"/>
            </a:br>
            <a:r>
              <a:rPr lang="mn-MN" sz="800" dirty="0"/>
              <a:t>Бүтээгдсэн хяналтын самбар (</a:t>
            </a:r>
            <a:r>
              <a:rPr lang="en-US" sz="800" dirty="0"/>
              <a:t>Dashboard) </a:t>
            </a:r>
            <a:r>
              <a:rPr lang="mn-MN" sz="800" dirty="0"/>
              <a:t>нь өгөгдлийг олон төрлийн графикаар визуалчилж харуулснаар, шийдвэр гаргагчдад (байгууллага, улс төрч, маркетер г.м) зорилтот сегментийнхээ хандлагыг нүдэн дээрээ бодитоор харах боломжийг бүрдүүллээ. Энэ нь сошиал орчин дахь нэр хүндийн эрсдэлээс урьдчилан сэргийлэх, маркетингийн оновчтой кампанит ажил төлөвлөхөд шууд ашиглагдах бодит үнэ цэнэтэй хэрэгсэл болж чадсан юм.</a:t>
            </a:r>
          </a:p>
          <a:p>
            <a:r>
              <a:rPr lang="mn-MN" sz="800" b="1" dirty="0"/>
              <a:t>Цаашдын хөгжүүлэлт (</a:t>
            </a:r>
            <a:r>
              <a:rPr lang="en-US" sz="800" b="1" dirty="0"/>
              <a:t>Future Work):</a:t>
            </a:r>
            <a:br>
              <a:rPr lang="en-US" sz="800" dirty="0"/>
            </a:br>
            <a:r>
              <a:rPr lang="mn-MN" sz="800" dirty="0"/>
              <a:t>Системийн цаашдын сайжруулалтад (1) зөвхөн текст гэлтгүй зураг, видео контентод хандлагын шинжилгээ хийх, (2) хэрэглэгчийн график интерфейсээр дамжуулан сошиал платформуудыг (</a:t>
            </a:r>
            <a:r>
              <a:rPr lang="en-US" sz="800" dirty="0"/>
              <a:t>Facebook-</a:t>
            </a:r>
            <a:r>
              <a:rPr lang="mn-MN" sz="800" dirty="0"/>
              <a:t>ээс гадна </a:t>
            </a:r>
            <a:r>
              <a:rPr lang="en-US" sz="800" dirty="0"/>
              <a:t>X, Instagram, LinkedIn </a:t>
            </a:r>
            <a:r>
              <a:rPr lang="mn-MN" sz="800" dirty="0"/>
              <a:t>г.м) эрхээрээ нэвтэрч холбох (</a:t>
            </a:r>
            <a:r>
              <a:rPr lang="en-US" sz="800" dirty="0"/>
              <a:t>OAuth </a:t>
            </a:r>
            <a:r>
              <a:rPr lang="mn-MN" sz="800" dirty="0"/>
              <a:t>хэрэгжүүлэх), (3) Монгол хэлний ээдрээтэй өгүүлбэр, ёгтлол (</a:t>
            </a:r>
            <a:r>
              <a:rPr lang="en-US" sz="800" dirty="0"/>
              <a:t>sarcasm)-</a:t>
            </a:r>
            <a:r>
              <a:rPr lang="mn-MN" sz="800" dirty="0"/>
              <a:t>ыг илүү нарийвчлалтайгаар таних тусгайлсан </a:t>
            </a:r>
            <a:r>
              <a:rPr lang="en-US" sz="800" dirty="0"/>
              <a:t>NLP </a:t>
            </a:r>
            <a:r>
              <a:rPr lang="mn-MN" sz="800" dirty="0"/>
              <a:t>моделийг гүнзгийрүүлэн сургаж нэвтрүүлэх зэрэг ажлуудыг төлөвлөх боломжтой.</a:t>
            </a:r>
          </a:p>
          <a:p>
            <a:r>
              <a:rPr lang="mn-MN" sz="800" dirty="0"/>
              <a:t>Эцсийн дүгнэлтээр, энэхүү дипломын ажил нь програм хангамжийн инженерчлэл, өгөгдлийн шинжлэх ухаан болон хиймэл оюун ухааны технологиудыг амжилттай хослуулан хэрэглэж, нийгэм болон бизнесийн салбарт бодит үр өгөөжөө өгөхүйц бүрэн хэмжээний аналитик системийг бүтээсэн үр дүнтэй ажил боллоо.</a:t>
            </a:r>
          </a:p>
        </p:txBody>
      </p:sp>
      <p:sp>
        <p:nvSpPr>
          <p:cNvPr id="5" name="Date Placeholder 4">
            <a:extLst>
              <a:ext uri="{FF2B5EF4-FFF2-40B4-BE49-F238E27FC236}">
                <a16:creationId xmlns:a16="http://schemas.microsoft.com/office/drawing/2014/main" id="{8BE777E4-4F49-2BFC-FF01-77615E91FF24}"/>
              </a:ext>
            </a:extLst>
          </p:cNvPr>
          <p:cNvSpPr>
            <a:spLocks noGrp="1"/>
          </p:cNvSpPr>
          <p:nvPr>
            <p:ph type="dt" idx="10"/>
          </p:nvPr>
        </p:nvSpPr>
        <p:spPr/>
        <p:txBody>
          <a:bodyPr/>
          <a:lstStyle/>
          <a:p>
            <a:fld id="{3631BA11-B873-43E1-B5E5-099F01C0B2AF}" type="datetime1">
              <a:rPr lang="mn-MN" smtClean="0"/>
              <a:t>2026.05.27</a:t>
            </a:fld>
            <a:endParaRPr lang="mn-MN" dirty="0"/>
          </a:p>
        </p:txBody>
      </p:sp>
      <p:sp>
        <p:nvSpPr>
          <p:cNvPr id="6" name="Slide Number Placeholder 5">
            <a:extLst>
              <a:ext uri="{FF2B5EF4-FFF2-40B4-BE49-F238E27FC236}">
                <a16:creationId xmlns:a16="http://schemas.microsoft.com/office/drawing/2014/main" id="{2C5EEFB0-35AF-5F31-13A8-E08A96D97725}"/>
              </a:ext>
            </a:extLst>
          </p:cNvPr>
          <p:cNvSpPr>
            <a:spLocks noGrp="1"/>
          </p:cNvSpPr>
          <p:nvPr>
            <p:ph type="sldNum" idx="12"/>
          </p:nvPr>
        </p:nvSpPr>
        <p:spPr/>
        <p:txBody>
          <a:bodyPr/>
          <a:lstStyle/>
          <a:p>
            <a:fld id="{00000000-1234-1234-1234-123412341234}" type="slidenum">
              <a:rPr lang="mn" smtClean="0"/>
              <a:pPr/>
              <a:t>20</a:t>
            </a:fld>
            <a:endParaRPr lang="mn"/>
          </a:p>
        </p:txBody>
      </p:sp>
    </p:spTree>
    <p:extLst>
      <p:ext uri="{BB962C8B-B14F-4D97-AF65-F5344CB8AC3E}">
        <p14:creationId xmlns:p14="http://schemas.microsoft.com/office/powerpoint/2010/main" val="4096476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88" name="Google Shape;88;p14"/>
          <p:cNvSpPr txBox="1"/>
          <p:nvPr/>
        </p:nvSpPr>
        <p:spPr>
          <a:xfrm>
            <a:off x="898065" y="2774857"/>
            <a:ext cx="10093377" cy="1314263"/>
          </a:xfrm>
          <a:prstGeom prst="rect">
            <a:avLst/>
          </a:prstGeom>
          <a:noFill/>
          <a:ln>
            <a:noFill/>
          </a:ln>
        </p:spPr>
        <p:txBody>
          <a:bodyPr spcFirstLastPara="1" wrap="square" lIns="91433" tIns="45700" rIns="91433" bIns="45700" anchor="t" anchorCtr="0">
            <a:noAutofit/>
          </a:bodyPr>
          <a:lstStyle/>
          <a:p>
            <a:pPr algn="ctr">
              <a:lnSpc>
                <a:spcPct val="114999"/>
              </a:lnSpc>
            </a:pPr>
            <a:r>
              <a:rPr lang="mn-MN" sz="3200" b="1">
                <a:solidFill>
                  <a:srgbClr val="1F1A6C"/>
                </a:solidFill>
                <a:latin typeface="Open Sans" panose="020B0606030504020204" pitchFamily="34" charset="0"/>
                <a:ea typeface="Open Sans" panose="020B0606030504020204" pitchFamily="34" charset="0"/>
                <a:cs typeface="Open Sans" panose="020B0606030504020204" pitchFamily="34" charset="0"/>
                <a:sym typeface="Montserrat"/>
              </a:rPr>
              <a:t>АНХААРАЛ ТАВЬСАНД БАЯРЛАЛАА</a:t>
            </a:r>
            <a:r>
              <a:rPr lang="en-US" sz="3200" b="1">
                <a:solidFill>
                  <a:srgbClr val="1F1A6C"/>
                </a:solidFill>
                <a:latin typeface="Open Sans" panose="020B0606030504020204" pitchFamily="34" charset="0"/>
                <a:ea typeface="Open Sans" panose="020B0606030504020204" pitchFamily="34" charset="0"/>
                <a:cs typeface="Open Sans" panose="020B0606030504020204" pitchFamily="34" charset="0"/>
                <a:sym typeface="Montserrat"/>
              </a:rPr>
              <a:t>!</a:t>
            </a:r>
            <a:endParaRPr lang="mn-MN" sz="3200" b="1">
              <a:solidFill>
                <a:srgbClr val="1F1A6C"/>
              </a:solidFill>
              <a:latin typeface="Open Sans" panose="020B0606030504020204" pitchFamily="34" charset="0"/>
              <a:ea typeface="Open Sans" panose="020B0606030504020204" pitchFamily="34" charset="0"/>
              <a:cs typeface="Open Sans" panose="020B0606030504020204" pitchFamily="34" charset="0"/>
              <a:sym typeface="Montserrat"/>
            </a:endParaRPr>
          </a:p>
        </p:txBody>
      </p:sp>
    </p:spTree>
    <p:extLst>
      <p:ext uri="{BB962C8B-B14F-4D97-AF65-F5344CB8AC3E}">
        <p14:creationId xmlns:p14="http://schemas.microsoft.com/office/powerpoint/2010/main" val="10006605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912b3c9c-2d4d-4ea3-b290-f94e9d470a94">
      <UserInfo>
        <DisplayName>Tumenbold Dashzeveg</DisplayName>
        <AccountId>18</AccountId>
        <AccountType/>
      </UserInfo>
      <UserInfo>
        <DisplayName>Batnaran Battulga</DisplayName>
        <AccountId>76</AccountId>
        <AccountType/>
      </UserInfo>
      <UserInfo>
        <DisplayName>Sergelen Batchuluun</DisplayName>
        <AccountId>660</AccountId>
        <AccountType/>
      </UserInfo>
    </SharedWithUsers>
    <lcf76f155ced4ddcb4097134ff3c332f xmlns="d59e78f2-eaab-4a67-9d10-a4c680edeaa5">
      <Terms xmlns="http://schemas.microsoft.com/office/infopath/2007/PartnerControls"/>
    </lcf76f155ced4ddcb4097134ff3c332f>
    <TaxCatchAll xmlns="912b3c9c-2d4d-4ea3-b290-f94e9d470a9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431DCBD66E5841838A478DAADF1A9F" ma:contentTypeVersion="13" ma:contentTypeDescription="Create a new document." ma:contentTypeScope="" ma:versionID="04167b38ac4ba40305db6fbccdd23cda">
  <xsd:schema xmlns:xsd="http://www.w3.org/2001/XMLSchema" xmlns:xs="http://www.w3.org/2001/XMLSchema" xmlns:p="http://schemas.microsoft.com/office/2006/metadata/properties" xmlns:ns2="912b3c9c-2d4d-4ea3-b290-f94e9d470a94" xmlns:ns3="d59e78f2-eaab-4a67-9d10-a4c680edeaa5" targetNamespace="http://schemas.microsoft.com/office/2006/metadata/properties" ma:root="true" ma:fieldsID="887d01cdf852ab18211328e82f6f1011" ns2:_="" ns3:_="">
    <xsd:import namespace="912b3c9c-2d4d-4ea3-b290-f94e9d470a94"/>
    <xsd:import namespace="d59e78f2-eaab-4a67-9d10-a4c680edeaa5"/>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2b3c9c-2d4d-4ea3-b290-f94e9d470a9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1f31ccb1-1273-4756-b665-315075d1d6de}" ma:internalName="TaxCatchAll" ma:showField="CatchAllData" ma:web="912b3c9c-2d4d-4ea3-b290-f94e9d470a9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59e78f2-eaab-4a67-9d10-a4c680edeaa5"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99afe36-bc78-401c-94f4-d0ce26b6936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C216A9-5742-48B0-B651-E10302ADFDBD}">
  <ds:schemaRefs>
    <ds:schemaRef ds:uri="912b3c9c-2d4d-4ea3-b290-f94e9d470a94"/>
    <ds:schemaRef ds:uri="d59e78f2-eaab-4a67-9d10-a4c680edea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21406D1-867A-41A9-AEC2-2A787CAF9F0A}">
  <ds:schemaRefs>
    <ds:schemaRef ds:uri="http://schemas.microsoft.com/sharepoint/v3/contenttype/forms"/>
  </ds:schemaRefs>
</ds:datastoreItem>
</file>

<file path=customXml/itemProps3.xml><?xml version="1.0" encoding="utf-8"?>
<ds:datastoreItem xmlns:ds="http://schemas.openxmlformats.org/officeDocument/2006/customXml" ds:itemID="{6B61B812-87D1-4748-9548-909F8B7B1473}">
  <ds:schemaRefs>
    <ds:schemaRef ds:uri="912b3c9c-2d4d-4ea3-b290-f94e9d470a94"/>
    <ds:schemaRef ds:uri="d59e78f2-eaab-4a67-9d10-a4c680edea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Wisp</Template>
  <TotalTime>317</TotalTime>
  <Words>3891</Words>
  <Application>Microsoft Office PowerPoint</Application>
  <PresentationFormat>Widescreen</PresentationFormat>
  <Paragraphs>231</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Montserrat</vt:lpstr>
      <vt:lpstr>Open Sans</vt:lpstr>
      <vt:lpstr>Times New Roman</vt:lpstr>
      <vt:lpstr>Office Theme</vt:lpstr>
      <vt:lpstr>PowerPoint Presentation</vt:lpstr>
      <vt:lpstr>АГУУЛГА</vt:lpstr>
      <vt:lpstr>СУДАЛГААНЫ ҮНДЭСЛЭЛ</vt:lpstr>
      <vt:lpstr>СИСТЕМИЙН ЗОРИЛГО</vt:lpstr>
      <vt:lpstr>СИСТЕМИЙН ҮНДСЭН ЗОРИЛТ</vt:lpstr>
      <vt:lpstr>АШИГЛАСАН ТЕХНОЛОГИ</vt:lpstr>
      <vt:lpstr>Функциональ шаардлагууд</vt:lpstr>
      <vt:lpstr>Функциональ бус шаардлагууд</vt:lpstr>
      <vt:lpstr>СИСТЕМИЙН АРХИТЕКТУР</vt:lpstr>
      <vt:lpstr>ӨГӨГДЛИЙН УРСГАЛ</vt:lpstr>
      <vt:lpstr>FRONTEND ХЭРЭГЖИЛТ</vt:lpstr>
      <vt:lpstr>BACKEND API</vt:lpstr>
      <vt:lpstr>SENTIMENT ANALYSIS</vt:lpstr>
      <vt:lpstr>AI REPORT SYSTEM</vt:lpstr>
      <vt:lpstr>Дэлгэцийн зохиомж </vt:lpstr>
      <vt:lpstr>Дэлгэцийн зохиомж </vt:lpstr>
      <vt:lpstr>Дэлгэцийн зохиомж </vt:lpstr>
      <vt:lpstr>UML ДИАГРАММУУД</vt:lpstr>
      <vt:lpstr>СИСТЕМИЙН ҮР ДҮН</vt:lpstr>
      <vt:lpstr>ДҮГНЭЛТ</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Педагог, андролог, хьютагоги</dc:title>
  <dc:creator>Sergelen</dc:creator>
  <cp:lastModifiedBy>Хүслэн Өлзийхишиг</cp:lastModifiedBy>
  <cp:revision>23</cp:revision>
  <dcterms:created xsi:type="dcterms:W3CDTF">2021-01-19T12:54:02Z</dcterms:created>
  <dcterms:modified xsi:type="dcterms:W3CDTF">2026-05-27T04:36:22Z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0x01010015431DCBD66E5841838A478DAADF1A9F</vt:lpwstr>
  </property>
  <property fmtid="{D5CDD505-2E9C-101B-9397-08002B2CF9AE}" pid="3" name="MediaServiceImageTags">
    <vt:lpwstr/>
  </property>
</Properties>
</file>