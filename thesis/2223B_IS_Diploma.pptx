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0" r:id="rId4"/>
  </p:sldMasterIdLst>
  <p:notesMasterIdLst>
    <p:notesMasterId r:id="rId18"/>
  </p:notesMasterIdLst>
  <p:sldIdLst>
    <p:sldId id="282" r:id="rId5"/>
    <p:sldId id="304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1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A6C"/>
    <a:srgbClr val="F7C6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38449A-2859-4063-0A49-6B9136722CA2}" v="26" dt="2026-04-08T02:11:02.1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MUUNZUL ERDENEBAATAR" userId="S::b221930006@must.edu.mn::6d69a1cd-e093-46a3-9d39-a898d69392f7" providerId="AD" clId="Web-{34F74D22-CAA3-44A4-6CFC-1C31B5F32F00}"/>
    <pc:docChg chg="addSld delSld modSld">
      <pc:chgData name="NAMUUNZUL ERDENEBAATAR" userId="S::b221930006@must.edu.mn::6d69a1cd-e093-46a3-9d39-a898d69392f7" providerId="AD" clId="Web-{34F74D22-CAA3-44A4-6CFC-1C31B5F32F00}" dt="2026-04-05T12:09:13.668" v="25"/>
      <pc:docMkLst>
        <pc:docMk/>
      </pc:docMkLst>
      <pc:sldChg chg="add replId">
        <pc:chgData name="NAMUUNZUL ERDENEBAATAR" userId="S::b221930006@must.edu.mn::6d69a1cd-e093-46a3-9d39-a898d69392f7" providerId="AD" clId="Web-{34F74D22-CAA3-44A4-6CFC-1C31B5F32F00}" dt="2026-04-05T12:08:59.465" v="13"/>
        <pc:sldMkLst>
          <pc:docMk/>
          <pc:sldMk cId="1081065154" sldId="318"/>
        </pc:sldMkLst>
      </pc:sldChg>
      <pc:sldChg chg="add replId">
        <pc:chgData name="NAMUUNZUL ERDENEBAATAR" userId="S::b221930006@must.edu.mn::6d69a1cd-e093-46a3-9d39-a898d69392f7" providerId="AD" clId="Web-{34F74D22-CAA3-44A4-6CFC-1C31B5F32F00}" dt="2026-04-05T12:09:03.590" v="14"/>
        <pc:sldMkLst>
          <pc:docMk/>
          <pc:sldMk cId="2780544783" sldId="319"/>
        </pc:sldMkLst>
      </pc:sldChg>
      <pc:sldChg chg="add replId">
        <pc:chgData name="NAMUUNZUL ERDENEBAATAR" userId="S::b221930006@must.edu.mn::6d69a1cd-e093-46a3-9d39-a898d69392f7" providerId="AD" clId="Web-{34F74D22-CAA3-44A4-6CFC-1C31B5F32F00}" dt="2026-04-05T12:09:03.887" v="15"/>
        <pc:sldMkLst>
          <pc:docMk/>
          <pc:sldMk cId="2732715958" sldId="320"/>
        </pc:sldMkLst>
      </pc:sldChg>
      <pc:sldChg chg="add replId">
        <pc:chgData name="NAMUUNZUL ERDENEBAATAR" userId="S::b221930006@must.edu.mn::6d69a1cd-e093-46a3-9d39-a898d69392f7" providerId="AD" clId="Web-{34F74D22-CAA3-44A4-6CFC-1C31B5F32F00}" dt="2026-04-05T12:09:04.699" v="16"/>
        <pc:sldMkLst>
          <pc:docMk/>
          <pc:sldMk cId="289447338" sldId="321"/>
        </pc:sldMkLst>
      </pc:sldChg>
      <pc:sldChg chg="add replId">
        <pc:chgData name="NAMUUNZUL ERDENEBAATAR" userId="S::b221930006@must.edu.mn::6d69a1cd-e093-46a3-9d39-a898d69392f7" providerId="AD" clId="Web-{34F74D22-CAA3-44A4-6CFC-1C31B5F32F00}" dt="2026-04-05T12:09:04.918" v="17"/>
        <pc:sldMkLst>
          <pc:docMk/>
          <pc:sldMk cId="3554548825" sldId="322"/>
        </pc:sldMkLst>
      </pc:sldChg>
      <pc:sldChg chg="add replId">
        <pc:chgData name="NAMUUNZUL ERDENEBAATAR" userId="S::b221930006@must.edu.mn::6d69a1cd-e093-46a3-9d39-a898d69392f7" providerId="AD" clId="Web-{34F74D22-CAA3-44A4-6CFC-1C31B5F32F00}" dt="2026-04-05T12:09:07.153" v="18"/>
        <pc:sldMkLst>
          <pc:docMk/>
          <pc:sldMk cId="1240752525" sldId="323"/>
        </pc:sldMkLst>
      </pc:sldChg>
      <pc:sldChg chg="add replId">
        <pc:chgData name="NAMUUNZUL ERDENEBAATAR" userId="S::b221930006@must.edu.mn::6d69a1cd-e093-46a3-9d39-a898d69392f7" providerId="AD" clId="Web-{34F74D22-CAA3-44A4-6CFC-1C31B5F32F00}" dt="2026-04-05T12:09:07.371" v="19"/>
        <pc:sldMkLst>
          <pc:docMk/>
          <pc:sldMk cId="3038117597" sldId="324"/>
        </pc:sldMkLst>
      </pc:sldChg>
      <pc:sldChg chg="add replId">
        <pc:chgData name="NAMUUNZUL ERDENEBAATAR" userId="S::b221930006@must.edu.mn::6d69a1cd-e093-46a3-9d39-a898d69392f7" providerId="AD" clId="Web-{34F74D22-CAA3-44A4-6CFC-1C31B5F32F00}" dt="2026-04-05T12:09:07.590" v="20"/>
        <pc:sldMkLst>
          <pc:docMk/>
          <pc:sldMk cId="1757260242" sldId="325"/>
        </pc:sldMkLst>
      </pc:sldChg>
      <pc:sldChg chg="add replId">
        <pc:chgData name="NAMUUNZUL ERDENEBAATAR" userId="S::b221930006@must.edu.mn::6d69a1cd-e093-46a3-9d39-a898d69392f7" providerId="AD" clId="Web-{34F74D22-CAA3-44A4-6CFC-1C31B5F32F00}" dt="2026-04-05T12:09:07.809" v="21"/>
        <pc:sldMkLst>
          <pc:docMk/>
          <pc:sldMk cId="2220896326" sldId="326"/>
        </pc:sldMkLst>
      </pc:sldChg>
      <pc:sldChg chg="add replId">
        <pc:chgData name="NAMUUNZUL ERDENEBAATAR" userId="S::b221930006@must.edu.mn::6d69a1cd-e093-46a3-9d39-a898d69392f7" providerId="AD" clId="Web-{34F74D22-CAA3-44A4-6CFC-1C31B5F32F00}" dt="2026-04-05T12:09:08.950" v="22"/>
        <pc:sldMkLst>
          <pc:docMk/>
          <pc:sldMk cId="2513705973" sldId="327"/>
        </pc:sldMkLst>
      </pc:sldChg>
      <pc:sldChg chg="add replId">
        <pc:chgData name="NAMUUNZUL ERDENEBAATAR" userId="S::b221930006@must.edu.mn::6d69a1cd-e093-46a3-9d39-a898d69392f7" providerId="AD" clId="Web-{34F74D22-CAA3-44A4-6CFC-1C31B5F32F00}" dt="2026-04-05T12:09:09.168" v="23"/>
        <pc:sldMkLst>
          <pc:docMk/>
          <pc:sldMk cId="1625522086" sldId="328"/>
        </pc:sldMkLst>
      </pc:sldChg>
      <pc:sldChg chg="add replId">
        <pc:chgData name="NAMUUNZUL ERDENEBAATAR" userId="S::b221930006@must.edu.mn::6d69a1cd-e093-46a3-9d39-a898d69392f7" providerId="AD" clId="Web-{34F74D22-CAA3-44A4-6CFC-1C31B5F32F00}" dt="2026-04-05T12:09:09.418" v="24"/>
        <pc:sldMkLst>
          <pc:docMk/>
          <pc:sldMk cId="1695054259" sldId="329"/>
        </pc:sldMkLst>
      </pc:sldChg>
    </pc:docChg>
  </pc:docChgLst>
  <pc:docChgLst>
    <pc:chgData name="BYAMBATSETSEG DAVAANYAM" userId="S::b221930038@must.edu.mn::9f2ec38f-4084-4837-89d3-a69242acb2f2" providerId="AD" clId="Web-{13CE248F-79B9-7640-9924-A3A675B8705A}"/>
    <pc:docChg chg="modSld">
      <pc:chgData name="BYAMBATSETSEG DAVAANYAM" userId="S::b221930038@must.edu.mn::9f2ec38f-4084-4837-89d3-a69242acb2f2" providerId="AD" clId="Web-{13CE248F-79B9-7640-9924-A3A675B8705A}" dt="2026-03-30T16:45:40.769" v="1"/>
      <pc:docMkLst>
        <pc:docMk/>
      </pc:docMkLst>
      <pc:sldChg chg="mod modShow">
        <pc:chgData name="BYAMBATSETSEG DAVAANYAM" userId="S::b221930038@must.edu.mn::9f2ec38f-4084-4837-89d3-a69242acb2f2" providerId="AD" clId="Web-{13CE248F-79B9-7640-9924-A3A675B8705A}" dt="2026-03-30T16:45:40.769" v="1"/>
        <pc:sldMkLst>
          <pc:docMk/>
          <pc:sldMk cId="120952539" sldId="282"/>
        </pc:sldMkLst>
      </pc:sldChg>
    </pc:docChg>
  </pc:docChgLst>
  <pc:docChgLst>
    <pc:chgData name="ERMҮҮN BAYARJARGAL" userId="S::b221930040@must.edu.mn::b9c1eea8-0c58-45de-b88a-00373d689d03" providerId="AD" clId="Web-{E938449A-2859-4063-0A49-6B9136722CA2}"/>
    <pc:docChg chg="modSld">
      <pc:chgData name="ERMҮҮN BAYARJARGAL" userId="S::b221930040@must.edu.mn::b9c1eea8-0c58-45de-b88a-00373d689d03" providerId="AD" clId="Web-{E938449A-2859-4063-0A49-6B9136722CA2}" dt="2026-04-08T02:11:02.121" v="25" actId="20577"/>
      <pc:docMkLst>
        <pc:docMk/>
      </pc:docMkLst>
      <pc:sldChg chg="modSp">
        <pc:chgData name="ERMҮҮN BAYARJARGAL" userId="S::b221930040@must.edu.mn::b9c1eea8-0c58-45de-b88a-00373d689d03" providerId="AD" clId="Web-{E938449A-2859-4063-0A49-6B9136722CA2}" dt="2026-04-08T02:11:02.121" v="25" actId="20577"/>
        <pc:sldMkLst>
          <pc:docMk/>
          <pc:sldMk cId="120952539" sldId="282"/>
        </pc:sldMkLst>
        <pc:spChg chg="mod">
          <ac:chgData name="ERMҮҮN BAYARJARGAL" userId="S::b221930040@must.edu.mn::b9c1eea8-0c58-45de-b88a-00373d689d03" providerId="AD" clId="Web-{E938449A-2859-4063-0A49-6B9136722CA2}" dt="2026-04-08T02:11:02.121" v="25" actId="20577"/>
          <ac:spMkLst>
            <pc:docMk/>
            <pc:sldMk cId="120952539" sldId="282"/>
            <ac:spMk id="3" creationId="{0817932B-FBE3-4CCB-BF21-09F903A50E1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995E5C-348A-4641-9781-673DDCF1BCA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F13BA-F224-488F-97E6-79E220AA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897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5e4a204c8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5e4a204c8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0951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0fe07664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0fe07664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tabLst/>
              <a:defRPr/>
            </a:pPr>
            <a:r>
              <a:rPr lang="mn-MN" sz="1100"/>
              <a:t>Мэдээллийг оюутанд цэгцтэй хүргэнэ.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7558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3B97AAE1-0AF9-A4DC-D372-B9DFFED41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0fe07664c_0_15:notes">
            <a:extLst>
              <a:ext uri="{FF2B5EF4-FFF2-40B4-BE49-F238E27FC236}">
                <a16:creationId xmlns:a16="http://schemas.microsoft.com/office/drawing/2014/main" id="{605489C1-414A-C883-D6F6-06AEC433D4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0fe07664c_0_15:notes">
            <a:extLst>
              <a:ext uri="{FF2B5EF4-FFF2-40B4-BE49-F238E27FC236}">
                <a16:creationId xmlns:a16="http://schemas.microsoft.com/office/drawing/2014/main" id="{3AF20F31-0475-E4C7-860D-E9F8CAF787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tabLst/>
              <a:defRPr/>
            </a:pPr>
            <a:r>
              <a:rPr lang="mn-MN" sz="1100"/>
              <a:t>Мэдээллийг оюутанд цэгцтэй хүргэнэ.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5312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A65B040C-5EAD-9E99-5A06-B80341F59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0fe07664c_0_15:notes">
            <a:extLst>
              <a:ext uri="{FF2B5EF4-FFF2-40B4-BE49-F238E27FC236}">
                <a16:creationId xmlns:a16="http://schemas.microsoft.com/office/drawing/2014/main" id="{E0469F5D-0373-0BDB-ADBD-47CE01615C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0fe07664c_0_15:notes">
            <a:extLst>
              <a:ext uri="{FF2B5EF4-FFF2-40B4-BE49-F238E27FC236}">
                <a16:creationId xmlns:a16="http://schemas.microsoft.com/office/drawing/2014/main" id="{5078F024-3D06-4072-EAF0-6914971C6F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tabLst/>
              <a:defRPr/>
            </a:pPr>
            <a:r>
              <a:rPr lang="mn-MN" sz="1100"/>
              <a:t>Мэдээллийг оюутанд цэгцтэй хүргэнэ.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5971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5052ACCE-3FB7-7CCC-F729-F950BA8EF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0fe07664c_0_15:notes">
            <a:extLst>
              <a:ext uri="{FF2B5EF4-FFF2-40B4-BE49-F238E27FC236}">
                <a16:creationId xmlns:a16="http://schemas.microsoft.com/office/drawing/2014/main" id="{0F82937B-734B-52D3-1EA0-7815DD3CB1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0fe07664c_0_15:notes">
            <a:extLst>
              <a:ext uri="{FF2B5EF4-FFF2-40B4-BE49-F238E27FC236}">
                <a16:creationId xmlns:a16="http://schemas.microsoft.com/office/drawing/2014/main" id="{19B30EA8-BEA2-8DBB-CF98-4DA05B85F2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tabLst/>
              <a:defRPr/>
            </a:pPr>
            <a:r>
              <a:rPr lang="mn-MN" sz="1100"/>
              <a:t>Мэдээллийг оюутанд цэгцтэй хүргэнэ.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70137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36B8EDB9-47A5-CBA9-E70E-1AE7E11CA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0fe07664c_0_15:notes">
            <a:extLst>
              <a:ext uri="{FF2B5EF4-FFF2-40B4-BE49-F238E27FC236}">
                <a16:creationId xmlns:a16="http://schemas.microsoft.com/office/drawing/2014/main" id="{93823949-F925-FF8C-EFA5-A7B9FB2102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0fe07664c_0_15:notes">
            <a:extLst>
              <a:ext uri="{FF2B5EF4-FFF2-40B4-BE49-F238E27FC236}">
                <a16:creationId xmlns:a16="http://schemas.microsoft.com/office/drawing/2014/main" id="{7682A673-CD22-C755-7BE4-602F00EDD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tabLst/>
              <a:defRPr/>
            </a:pPr>
            <a:r>
              <a:rPr lang="mn-MN" sz="1100"/>
              <a:t>Мэдээллийг оюутанд цэгцтэй хүргэнэ.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9749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43B56CD3-1402-49D3-31CC-738C4BDB4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0fe07664c_0_15:notes">
            <a:extLst>
              <a:ext uri="{FF2B5EF4-FFF2-40B4-BE49-F238E27FC236}">
                <a16:creationId xmlns:a16="http://schemas.microsoft.com/office/drawing/2014/main" id="{40817D70-3BAA-61E2-A66C-0AD97D3650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0fe07664c_0_15:notes">
            <a:extLst>
              <a:ext uri="{FF2B5EF4-FFF2-40B4-BE49-F238E27FC236}">
                <a16:creationId xmlns:a16="http://schemas.microsoft.com/office/drawing/2014/main" id="{B4345C5B-22A9-78B7-7F28-7F0AAC847E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tabLst/>
              <a:defRPr/>
            </a:pPr>
            <a:r>
              <a:rPr lang="mn-MN" sz="1100"/>
              <a:t>Мэдээллийг оюутанд цэгцтэй хүргэнэ.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1709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B7A14525-C9C2-187B-97E2-877E663A9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0fe07664c_0_15:notes">
            <a:extLst>
              <a:ext uri="{FF2B5EF4-FFF2-40B4-BE49-F238E27FC236}">
                <a16:creationId xmlns:a16="http://schemas.microsoft.com/office/drawing/2014/main" id="{D8689B68-940B-AFBD-333F-729BE0C8E7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0fe07664c_0_15:notes">
            <a:extLst>
              <a:ext uri="{FF2B5EF4-FFF2-40B4-BE49-F238E27FC236}">
                <a16:creationId xmlns:a16="http://schemas.microsoft.com/office/drawing/2014/main" id="{C4578C62-DF6D-F0BE-1919-469D2A3B9D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tabLst/>
              <a:defRPr/>
            </a:pPr>
            <a:r>
              <a:rPr lang="mn-MN" sz="1100"/>
              <a:t>Мэдээллийг оюутанд цэгцтэй хүргэнэ.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5824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1B13FDE1-F796-F394-8AD7-37D762E1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0fe07664c_0_15:notes">
            <a:extLst>
              <a:ext uri="{FF2B5EF4-FFF2-40B4-BE49-F238E27FC236}">
                <a16:creationId xmlns:a16="http://schemas.microsoft.com/office/drawing/2014/main" id="{7B011A8E-FE23-ABB6-08AF-CB242DEC4A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0fe07664c_0_15:notes">
            <a:extLst>
              <a:ext uri="{FF2B5EF4-FFF2-40B4-BE49-F238E27FC236}">
                <a16:creationId xmlns:a16="http://schemas.microsoft.com/office/drawing/2014/main" id="{40ACE7A7-3BFA-022C-86F3-77E6999DC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tabLst/>
              <a:defRPr/>
            </a:pPr>
            <a:r>
              <a:rPr lang="mn-MN" sz="1100"/>
              <a:t>Мэдээллийг оюутанд цэгцтэй хүргэнэ.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1855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05FA3E04-E2CC-0FFE-16F9-8E4206F5F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0fe07664c_0_15:notes">
            <a:extLst>
              <a:ext uri="{FF2B5EF4-FFF2-40B4-BE49-F238E27FC236}">
                <a16:creationId xmlns:a16="http://schemas.microsoft.com/office/drawing/2014/main" id="{1CB710CE-2E9A-BA95-F150-51EF52203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0fe07664c_0_15:notes">
            <a:extLst>
              <a:ext uri="{FF2B5EF4-FFF2-40B4-BE49-F238E27FC236}">
                <a16:creationId xmlns:a16="http://schemas.microsoft.com/office/drawing/2014/main" id="{F76B3CE5-6C29-AA12-47EC-ADB9408E6F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tabLst/>
              <a:defRPr/>
            </a:pPr>
            <a:r>
              <a:rPr lang="mn-MN" sz="1100"/>
              <a:t>Мэдээллийг оюутанд цэгцтэй хүргэнэ.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70277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1F4A79CD-A99D-65B7-0A3C-54014B140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0fe07664c_0_15:notes">
            <a:extLst>
              <a:ext uri="{FF2B5EF4-FFF2-40B4-BE49-F238E27FC236}">
                <a16:creationId xmlns:a16="http://schemas.microsoft.com/office/drawing/2014/main" id="{E245AC07-1EE4-BB0D-12FA-2A232B4B23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0fe07664c_0_15:notes">
            <a:extLst>
              <a:ext uri="{FF2B5EF4-FFF2-40B4-BE49-F238E27FC236}">
                <a16:creationId xmlns:a16="http://schemas.microsoft.com/office/drawing/2014/main" id="{A0E34650-64B4-424F-DCFA-64CA658A4C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tabLst/>
              <a:defRPr/>
            </a:pPr>
            <a:r>
              <a:rPr lang="mn-MN" sz="1100"/>
              <a:t>Мэдээллийг оюутанд цэгцтэй хүргэнэ.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47995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CB2BC168-2CA9-FBDE-94F2-AE04E2BBA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0fe07664c_0_15:notes">
            <a:extLst>
              <a:ext uri="{FF2B5EF4-FFF2-40B4-BE49-F238E27FC236}">
                <a16:creationId xmlns:a16="http://schemas.microsoft.com/office/drawing/2014/main" id="{10F09C9F-EFD4-3D3E-E420-DACC384437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0fe07664c_0_15:notes">
            <a:extLst>
              <a:ext uri="{FF2B5EF4-FFF2-40B4-BE49-F238E27FC236}">
                <a16:creationId xmlns:a16="http://schemas.microsoft.com/office/drawing/2014/main" id="{3AB8866C-9586-647B-AF8E-043060B111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tabLst/>
              <a:defRPr/>
            </a:pPr>
            <a:r>
              <a:rPr lang="mn-MN" sz="1100"/>
              <a:t>Мэдээллийг оюутанд цэгцтэй хүргэнэ.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12311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5e4a204c8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5e4a204c8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3636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fld id="{01CFE75A-EE1C-4F8D-AFB5-ECC47A013933}" type="datetime1">
              <a:rPr lang="mn-MN" smtClean="0"/>
              <a:t>2026.04.08</a:t>
            </a:fld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400">
                <a:solidFill>
                  <a:srgbClr val="888888"/>
                </a:solidFill>
              </a:defRPr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9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fld id="{CC06FF52-1713-48D2-A05A-1954C57235AA}" type="datetime1">
              <a:rPr lang="mn-MN" smtClean="0"/>
              <a:t>2026.04.08</a:t>
            </a:fld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fld id="{F7427C76-A584-4506-BB54-EA733E373816}" type="datetime1">
              <a:rPr lang="mn-MN" smtClean="0"/>
              <a:t>2026.04.08</a:t>
            </a:fld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600" cy="8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 b="1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900" b="1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600" cy="36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 b="1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900" b="1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fld id="{5A5D6F2E-46BB-4F33-9A0A-ED628F8BF12C}" type="datetime1">
              <a:rPr lang="mn-MN" smtClean="0"/>
              <a:t>2026.04.08</a:t>
            </a:fld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fld id="{1F0184A3-B03A-4E4D-B3AA-6D55B9EBF7E3}" type="datetime1">
              <a:rPr lang="mn-MN" smtClean="0"/>
              <a:t>2026.04.08</a:t>
            </a:fld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000" cy="48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50798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82588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800"/>
            </a:lvl2pPr>
            <a:lvl3pPr marL="1828754" lvl="2" indent="-4571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4pPr>
            <a:lvl5pPr marL="3047924" lvl="4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5pPr>
            <a:lvl6pPr marL="3657509" lvl="5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6pPr>
            <a:lvl7pPr marL="4267093" lvl="6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7pPr>
            <a:lvl8pPr marL="4876678" lvl="7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8pPr>
            <a:lvl9pPr marL="5486263" lvl="8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500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fld id="{87A0C98E-F72B-42C4-91A6-2FC6F4FC3457}" type="datetime1">
              <a:rPr lang="mn-MN" smtClean="0"/>
              <a:t>2026.04.08</a:t>
            </a:fld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000" cy="48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500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fld id="{3575FB59-7106-40EA-AD8D-B760BFA26ACE}" type="datetime1">
              <a:rPr lang="mn-MN" smtClean="0"/>
              <a:t>2026.04.08</a:t>
            </a:fld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fld id="{B5B4735D-76F8-4B6D-9A1E-1499F949BDD5}" type="datetime1">
              <a:rPr lang="mn-MN" smtClean="0"/>
              <a:t>2026.04.08</a:t>
            </a:fld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482588" rtl="0">
              <a:spcBef>
                <a:spcPts val="1067"/>
              </a:spcBef>
              <a:spcAft>
                <a:spcPts val="0"/>
              </a:spcAft>
              <a:buSzPts val="2100"/>
              <a:buChar char="•"/>
              <a:defRPr/>
            </a:lvl1pPr>
            <a:lvl2pPr marL="1219170" lvl="1" indent="-457189" rtl="0">
              <a:spcBef>
                <a:spcPts val="533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31789" rtl="0">
              <a:spcBef>
                <a:spcPts val="533"/>
              </a:spcBef>
              <a:spcAft>
                <a:spcPts val="0"/>
              </a:spcAft>
              <a:buSzPts val="1500"/>
              <a:buChar char="•"/>
              <a:defRPr/>
            </a:lvl3pPr>
            <a:lvl4pPr marL="2438339" lvl="3" indent="-423323" rtl="0"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4pPr>
            <a:lvl5pPr marL="3047924" lvl="4" indent="-423323" rtl="0"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5pPr>
            <a:lvl6pPr marL="3657509" lvl="5" indent="-423323" rtl="0"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6pPr>
            <a:lvl7pPr marL="4267093" lvl="6" indent="-423323" rtl="0"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7pPr>
            <a:lvl8pPr marL="4876678" lvl="7" indent="-423323" rtl="0"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8pPr>
            <a:lvl9pPr marL="5486263" lvl="8" indent="-423323" rtl="0"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0664542-C72E-4EAB-A728-F66849F3443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567406" y="6356351"/>
            <a:ext cx="1828345" cy="275268"/>
          </a:xfrm>
        </p:spPr>
        <p:txBody>
          <a:bodyPr/>
          <a:lstStyle>
            <a:lvl1pPr algn="r">
              <a:defRPr>
                <a:solidFill>
                  <a:srgbClr val="1F1A6C"/>
                </a:solidFill>
              </a:defRPr>
            </a:lvl1pPr>
          </a:lstStyle>
          <a:p>
            <a:fld id="{E24B3B50-9E6E-4F25-A631-8F17A7F36BEA}" type="datetime1">
              <a:rPr lang="mn-MN" smtClean="0"/>
              <a:pPr/>
              <a:t>2026.04.08</a:t>
            </a:fld>
            <a:endParaRPr lang="mn-MN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AC78CFC-765A-4C4D-8763-00D7E687CF0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1"/>
            <a:ext cx="4114800" cy="275268"/>
          </a:xfrm>
        </p:spPr>
        <p:txBody>
          <a:bodyPr/>
          <a:lstStyle>
            <a:lvl1pPr>
              <a:defRPr>
                <a:solidFill>
                  <a:srgbClr val="1F1A6C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A66525B-5C79-4C1F-B5C9-EC0AE994134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01274" y="6356351"/>
            <a:ext cx="475125" cy="275268"/>
          </a:xfrm>
        </p:spPr>
        <p:txBody>
          <a:bodyPr/>
          <a:lstStyle>
            <a:lvl1pPr algn="l">
              <a:defRPr>
                <a:solidFill>
                  <a:srgbClr val="1F1A6C"/>
                </a:solidFill>
              </a:defRPr>
            </a:lvl1pPr>
          </a:lstStyle>
          <a:p>
            <a:fld id="{00000000-1234-1234-1234-123412341234}" type="slidenum">
              <a:rPr lang="mn" smtClean="0"/>
              <a:pPr/>
              <a:t>‹#›</a:t>
            </a:fld>
            <a:endParaRPr lang="m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C013C0A4-16F6-4724-B6F9-DF527348F887}" type="datetime1">
              <a:rPr lang="mn-MN" smtClean="0"/>
              <a:t>2026.04.08</a:t>
            </a:fld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9" r:id="rId9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8064" y="5813013"/>
            <a:ext cx="10093378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mn-MN" b="1">
                <a:solidFill>
                  <a:srgbClr val="1F1A6C"/>
                </a:solidFill>
                <a:latin typeface="Open Sans"/>
                <a:ea typeface="Open Sans"/>
                <a:cs typeface="Open Sans"/>
                <a:sym typeface="Montserrat"/>
              </a:rPr>
              <a:t>Улаанбаатар 2026 он</a:t>
            </a:r>
            <a:endParaRPr lang="en-GB">
              <a:latin typeface="Open Sans"/>
              <a:ea typeface="Open Sans"/>
              <a:cs typeface="Open San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7932B-FBE3-4CCB-BF21-09F903A50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8064" y="4089120"/>
            <a:ext cx="10093378" cy="1544764"/>
          </a:xfrm>
        </p:spPr>
        <p:txBody>
          <a:bodyPr/>
          <a:lstStyle/>
          <a:p>
            <a:pPr algn="just"/>
            <a:r>
              <a:rPr lang="mn-MN" sz="160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Удирдагч багш: Б</a:t>
            </a:r>
            <a:r>
              <a:rPr lang="en-US" sz="160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.</a:t>
            </a:r>
            <a:r>
              <a:rPr lang="mn-MN" sz="160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Мөнхбуян</a:t>
            </a:r>
          </a:p>
          <a:p>
            <a:pPr algn="just"/>
            <a:r>
              <a:rPr lang="mn-MN" sz="160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Зөвлөх багш: Д</a:t>
            </a:r>
            <a:r>
              <a:rPr lang="en-US" sz="160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.</a:t>
            </a:r>
            <a:r>
              <a:rPr lang="mn-MN" sz="160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Сарангэрэл</a:t>
            </a:r>
            <a:endParaRPr lang="en-US" sz="1600" dirty="0">
              <a:solidFill>
                <a:schemeClr val="tx1"/>
              </a:solidFill>
              <a:latin typeface="Open Sans"/>
              <a:ea typeface="Open Sans"/>
              <a:cs typeface="Open Sans"/>
            </a:endParaRPr>
          </a:p>
          <a:p>
            <a:pPr algn="just"/>
            <a:endParaRPr lang="mn-MN" sz="1600" dirty="0">
              <a:solidFill>
                <a:schemeClr val="tx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CCAAE7-814B-49F7-86A3-D1CC9907C49D}"/>
              </a:ext>
            </a:extLst>
          </p:cNvPr>
          <p:cNvSpPr/>
          <p:nvPr/>
        </p:nvSpPr>
        <p:spPr>
          <a:xfrm>
            <a:off x="898064" y="1761963"/>
            <a:ext cx="10093378" cy="7078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mn-MN" sz="2000" dirty="0"/>
              <a:t>Нийгмийн сүлжээний өгөгдлийн автомат цуглуулга ба таамаглалт шинжилгээний систем</a:t>
            </a:r>
            <a:endParaRPr lang="mn-MN" sz="2000" dirty="0">
              <a:latin typeface="Open Sans"/>
              <a:ea typeface="Open Sans"/>
              <a:cs typeface="Open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5E13AB-FD1F-4AF4-1FEE-08A8D3E462A1}"/>
              </a:ext>
            </a:extLst>
          </p:cNvPr>
          <p:cNvSpPr txBox="1"/>
          <p:nvPr/>
        </p:nvSpPr>
        <p:spPr>
          <a:xfrm>
            <a:off x="898064" y="262685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Sentiment Analysis </a:t>
            </a:r>
            <a:r>
              <a:rPr lang="mn-MN" dirty="0"/>
              <a:t>ба ойролцоогоор хэрэглэгч оролцооны таамаглал </a:t>
            </a:r>
            <a:endParaRPr lang="en-US" dirty="0"/>
          </a:p>
          <a:p>
            <a:endParaRPr lang="en-US" dirty="0"/>
          </a:p>
          <a:p>
            <a:r>
              <a:rPr lang="ru-RU" i="1" dirty="0"/>
              <a:t>Оюутан:</a:t>
            </a:r>
            <a:r>
              <a:rPr lang="ru-RU" dirty="0"/>
              <a:t> Ө.Хүслэн </a:t>
            </a:r>
            <a:r>
              <a:rPr lang="ru-RU" i="1" dirty="0"/>
              <a:t>Улаанбаатар 2026 он</a:t>
            </a:r>
            <a:br>
              <a:rPr lang="mn-M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52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1062581" y="281177"/>
            <a:ext cx="11360800" cy="714439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mn-MN" sz="2000" dirty="0"/>
              <a:t>Агуулга</a:t>
            </a:r>
            <a:endParaRPr lang="en-US" sz="2000" b="1" cap="all" dirty="0">
              <a:latin typeface="Times New Roman"/>
              <a:cs typeface="Times New Roman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5F56F0A5-7DDB-4E24-A152-6CC272AA5BFA}"/>
              </a:ext>
            </a:extLst>
          </p:cNvPr>
          <p:cNvSpPr txBox="1">
            <a:spLocks/>
          </p:cNvSpPr>
          <p:nvPr/>
        </p:nvSpPr>
        <p:spPr>
          <a:xfrm>
            <a:off x="484441" y="1030257"/>
            <a:ext cx="10400182" cy="4933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27000" indent="0" defTabSz="914400">
              <a:lnSpc>
                <a:spcPct val="100000"/>
              </a:lnSpc>
              <a:buNone/>
            </a:pPr>
            <a:r>
              <a:rPr lang="mn-MN" sz="1600" dirty="0"/>
              <a:t>Судалгааны үндэслэл, зорилго </a:t>
            </a:r>
            <a:br>
              <a:rPr lang="en-US" sz="1600" dirty="0"/>
            </a:br>
            <a:br>
              <a:rPr lang="en-US" sz="1600" dirty="0"/>
            </a:br>
            <a:r>
              <a:rPr lang="mn-MN" sz="1600" dirty="0"/>
              <a:t>Ижил төстэй системийн судалгаа</a:t>
            </a:r>
            <a:br>
              <a:rPr lang="en-US" sz="1600" dirty="0"/>
            </a:br>
            <a:br>
              <a:rPr lang="en-US" sz="1600" dirty="0"/>
            </a:br>
            <a:r>
              <a:rPr lang="mn-MN" sz="1600" dirty="0"/>
              <a:t>Системийн шийдэл, функциональ шаардлага</a:t>
            </a:r>
            <a:br>
              <a:rPr lang="en-US" sz="1600" dirty="0"/>
            </a:br>
            <a:br>
              <a:rPr lang="en-US" sz="1600" dirty="0"/>
            </a:br>
            <a:r>
              <a:rPr lang="mn-MN" sz="1600" dirty="0"/>
              <a:t>Ашиглагдах техник, технологи</a:t>
            </a:r>
            <a:br>
              <a:rPr lang="en-US" sz="1600" dirty="0"/>
            </a:br>
            <a:br>
              <a:rPr lang="en-US" sz="1600" dirty="0"/>
            </a:br>
            <a:r>
              <a:rPr lang="mn-MN" sz="1600" dirty="0"/>
              <a:t>Системийн архитектур ба диаграмууд</a:t>
            </a:r>
            <a:br>
              <a:rPr lang="en-US" sz="1600" dirty="0"/>
            </a:br>
            <a:br>
              <a:rPr lang="en-US" sz="1600" dirty="0"/>
            </a:br>
            <a:r>
              <a:rPr lang="mn-MN" sz="1600" dirty="0"/>
              <a:t>Туршилтын үр дүн ба үнэлгээ</a:t>
            </a:r>
            <a:r>
              <a:rPr lang="en-US" sz="1600" dirty="0"/>
              <a:t>	</a:t>
            </a:r>
            <a:br>
              <a:rPr lang="en-US" sz="1600" dirty="0"/>
            </a:br>
            <a:br>
              <a:rPr lang="en-US" sz="1600" dirty="0"/>
            </a:br>
            <a:r>
              <a:rPr lang="mn-MN" sz="1600" dirty="0"/>
              <a:t>Дүгнэлт</a:t>
            </a:r>
            <a:br>
              <a:rPr lang="en-US" sz="1600" dirty="0"/>
            </a:b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7FB82-DA6F-4CA4-901A-AD84B4FE82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31BA11-B873-43E1-B5E5-099F01C0B2AF}" type="datetime1">
              <a:rPr lang="mn-MN" smtClean="0"/>
              <a:t>2026.04.08</a:t>
            </a:fld>
            <a:endParaRPr lang="m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1E433-E459-4D20-8C8C-B99839EED0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2</a:t>
            </a:fld>
            <a:endParaRPr lang="mn"/>
          </a:p>
        </p:txBody>
      </p:sp>
    </p:spTree>
    <p:extLst>
      <p:ext uri="{BB962C8B-B14F-4D97-AF65-F5344CB8AC3E}">
        <p14:creationId xmlns:p14="http://schemas.microsoft.com/office/powerpoint/2010/main" val="816551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584DFA99-F96E-CCA4-7DD7-176333D11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>
            <a:extLst>
              <a:ext uri="{FF2B5EF4-FFF2-40B4-BE49-F238E27FC236}">
                <a16:creationId xmlns:a16="http://schemas.microsoft.com/office/drawing/2014/main" id="{273E6F87-6D34-1783-A3B4-43A161F792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2581" y="281177"/>
            <a:ext cx="11360800" cy="714439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mn-MN" sz="2000" dirty="0"/>
              <a:t>Судалгааны асуулт ба таамаглал</a:t>
            </a:r>
            <a:endParaRPr lang="en-US" sz="2000" b="1" cap="all" dirty="0">
              <a:latin typeface="Times New Roman"/>
              <a:cs typeface="Times New Roman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38ED6934-59CC-84B2-B436-2340FF7A6D76}"/>
              </a:ext>
            </a:extLst>
          </p:cNvPr>
          <p:cNvSpPr txBox="1">
            <a:spLocks/>
          </p:cNvSpPr>
          <p:nvPr/>
        </p:nvSpPr>
        <p:spPr>
          <a:xfrm>
            <a:off x="454944" y="995616"/>
            <a:ext cx="10400182" cy="4933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dirty="0"/>
              <a:t>Судалгааны асуулт:</a:t>
            </a:r>
            <a:r>
              <a:rPr lang="en-US" sz="1600" dirty="0"/>
              <a:t> </a:t>
            </a: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  <a:p>
            <a:pPr marL="469900" indent="-342900" algn="just" defTabSz="914400">
              <a:lnSpc>
                <a:spcPct val="100000"/>
              </a:lnSpc>
              <a:buAutoNum type="arabicPeriod"/>
            </a:pPr>
            <a:r>
              <a:rPr lang="mn-MN" sz="1600" dirty="0"/>
              <a:t>Нийгмийн сүлжээний пост, сэтгэгдлээс мэдрэмжийн төлөвийг найдвартай тодорхойлох боломж ямар түвшинд байна вэ? </a:t>
            </a:r>
            <a:endParaRPr lang="en-US" sz="1600" dirty="0"/>
          </a:p>
          <a:p>
            <a:pPr marL="469900" indent="-342900" algn="just" defTabSz="914400">
              <a:lnSpc>
                <a:spcPct val="100000"/>
              </a:lnSpc>
              <a:buAutoNum type="arabicPeriod"/>
            </a:pPr>
            <a:r>
              <a:rPr lang="mn-MN" sz="1600" dirty="0"/>
              <a:t>Мэдрэмжийн мэдээлэл, оролцооны метрик, хугацааны хэв маягийг нэгтгэснээр хэрэглэгчийн хариу үйлдлийг урьдчилан таамаглаж чадах уу?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dirty="0"/>
              <a:t>Судалгааны таамаглал:</a:t>
            </a:r>
            <a:endParaRPr lang="en-US" sz="1600" dirty="0"/>
          </a:p>
          <a:p>
            <a:pPr marL="469900" indent="-342900" algn="just" defTabSz="914400">
              <a:lnSpc>
                <a:spcPct val="100000"/>
              </a:lnSpc>
              <a:buAutoNum type="arabicPeriod"/>
            </a:pPr>
            <a:r>
              <a:rPr lang="en-US" sz="1600" dirty="0"/>
              <a:t>BERT-</a:t>
            </a:r>
            <a:r>
              <a:rPr lang="mn-MN" sz="1600" dirty="0"/>
              <a:t>д суурилсан </a:t>
            </a:r>
            <a:r>
              <a:rPr lang="en-US" sz="1600" dirty="0"/>
              <a:t>Sentiment Analysis </a:t>
            </a:r>
            <a:r>
              <a:rPr lang="mn-MN" sz="1600" dirty="0"/>
              <a:t>нь уламжлалт (</a:t>
            </a:r>
            <a:r>
              <a:rPr lang="en-US" sz="1600" dirty="0" err="1"/>
              <a:t>TextBlob</a:t>
            </a:r>
            <a:r>
              <a:rPr lang="en-US" sz="1600" dirty="0"/>
              <a:t>, VADER) </a:t>
            </a:r>
            <a:r>
              <a:rPr lang="mn-MN" sz="1600" dirty="0"/>
              <a:t>аргуудаас өндөр нарийвчлал үзүүлнэ.</a:t>
            </a:r>
            <a:endParaRPr lang="en-US" sz="1600" dirty="0"/>
          </a:p>
          <a:p>
            <a:pPr marL="469900" indent="-342900" algn="just" defTabSz="914400">
              <a:lnSpc>
                <a:spcPct val="100000"/>
              </a:lnSpc>
              <a:buAutoNum type="arabicPeriod"/>
            </a:pPr>
            <a:r>
              <a:rPr lang="mn-MN" sz="1600" dirty="0"/>
              <a:t>Мэдрэмжийн үзүүлэлт, оролцооны метрик, хугацааны хэв маягийг нэгтгэх нь хариу үйлдлийн чиглэлийг илүү сайн таамаглана.</a:t>
            </a:r>
            <a:endParaRPr lang="en-US" sz="1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DD374-26E2-44BD-A07F-DB14D73EA8F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31BA11-B873-43E1-B5E5-099F01C0B2AF}" type="datetime1">
              <a:rPr lang="mn-MN" smtClean="0"/>
              <a:t>2026.04.08</a:t>
            </a:fld>
            <a:endParaRPr lang="m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C0F1B-351D-F43D-0FDA-286F78FDBF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3</a:t>
            </a:fld>
            <a:endParaRPr lang="mn"/>
          </a:p>
        </p:txBody>
      </p:sp>
    </p:spTree>
    <p:extLst>
      <p:ext uri="{BB962C8B-B14F-4D97-AF65-F5344CB8AC3E}">
        <p14:creationId xmlns:p14="http://schemas.microsoft.com/office/powerpoint/2010/main" val="1081065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12B21E34-95B9-DBF7-ADC1-8964BB257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>
            <a:extLst>
              <a:ext uri="{FF2B5EF4-FFF2-40B4-BE49-F238E27FC236}">
                <a16:creationId xmlns:a16="http://schemas.microsoft.com/office/drawing/2014/main" id="{0E2A42B5-7BED-1A8E-8B02-F2A9CD0BA1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2581" y="281177"/>
            <a:ext cx="11360800" cy="714439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mn-MN" sz="2000" dirty="0"/>
              <a:t>Ижил төстэй системийн судалгаа</a:t>
            </a:r>
            <a:endParaRPr lang="en-US" sz="2000" b="1" cap="all" dirty="0">
              <a:latin typeface="Times New Roman"/>
              <a:cs typeface="Times New Roman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ED592E83-69E1-8EE6-BC83-A612DCA01D6C}"/>
              </a:ext>
            </a:extLst>
          </p:cNvPr>
          <p:cNvSpPr txBox="1">
            <a:spLocks/>
          </p:cNvSpPr>
          <p:nvPr/>
        </p:nvSpPr>
        <p:spPr>
          <a:xfrm>
            <a:off x="484441" y="1030257"/>
            <a:ext cx="10400182" cy="4933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dirty="0"/>
              <a:t>Арилжааны платформуудтай харьцуулсан судалгаа</a:t>
            </a:r>
            <a:endParaRPr lang="en-US" sz="1600" dirty="0"/>
          </a:p>
          <a:p>
            <a:pPr marL="469900" indent="-342900" algn="just" defTabSz="914400">
              <a:lnSpc>
                <a:spcPct val="100000"/>
              </a:lnSpc>
              <a:buAutoNum type="arabicPeriod"/>
            </a:pPr>
            <a:r>
              <a:rPr lang="en-US" sz="1600" b="1" dirty="0"/>
              <a:t>Hootsuite:</a:t>
            </a:r>
            <a:r>
              <a:rPr lang="en-US" sz="1600" dirty="0"/>
              <a:t> </a:t>
            </a:r>
            <a:r>
              <a:rPr lang="mn-MN" sz="1600" dirty="0"/>
              <a:t>Олон платформ дэмждэг, багийн ажиллагаатай ч </a:t>
            </a:r>
            <a:r>
              <a:rPr lang="en-US" sz="1600" dirty="0"/>
              <a:t>API </a:t>
            </a:r>
            <a:r>
              <a:rPr lang="mn-MN" sz="1600" dirty="0"/>
              <a:t>хязгаарлалттай, өндөр үнэтэй ($99-739/сар).</a:t>
            </a:r>
            <a:endParaRPr lang="en-US" sz="1600" dirty="0"/>
          </a:p>
          <a:p>
            <a:pPr marL="469900" indent="-342900" algn="just" defTabSz="914400">
              <a:lnSpc>
                <a:spcPct val="100000"/>
              </a:lnSpc>
              <a:buAutoNum type="arabicPeriod"/>
            </a:pPr>
            <a:r>
              <a:rPr lang="en-US" sz="1600" b="1" dirty="0"/>
              <a:t>Sprout Social:</a:t>
            </a:r>
            <a:r>
              <a:rPr lang="en-US" sz="1600" dirty="0"/>
              <a:t> CRM </a:t>
            </a:r>
            <a:r>
              <a:rPr lang="mn-MN" sz="1600" dirty="0"/>
              <a:t>интеграци, </a:t>
            </a:r>
            <a:r>
              <a:rPr lang="en-US" sz="1600" dirty="0"/>
              <a:t>AI </a:t>
            </a:r>
            <a:r>
              <a:rPr lang="mn-MN" sz="1600" dirty="0"/>
              <a:t>зөвлөмжтэй боловч хэрэглэгч бүрт өндөр үнэтэй ($249-499/сар).</a:t>
            </a:r>
            <a:endParaRPr lang="en-US" sz="1600" dirty="0"/>
          </a:p>
          <a:p>
            <a:pPr marL="469900" indent="-342900" algn="just" defTabSz="914400">
              <a:lnSpc>
                <a:spcPct val="100000"/>
              </a:lnSpc>
              <a:buAutoNum type="arabicPeriod"/>
            </a:pPr>
            <a:r>
              <a:rPr lang="en-US" sz="1600" b="1" dirty="0" err="1"/>
              <a:t>Brandwatch</a:t>
            </a:r>
            <a:r>
              <a:rPr lang="en-US" sz="1600" b="1" dirty="0"/>
              <a:t>:</a:t>
            </a:r>
            <a:r>
              <a:rPr lang="en-US" sz="1600" dirty="0"/>
              <a:t> 100+ </a:t>
            </a:r>
            <a:r>
              <a:rPr lang="mn-MN" sz="1600" dirty="0"/>
              <a:t>мэдээллийн эх сурвалж, </a:t>
            </a:r>
            <a:r>
              <a:rPr lang="en-US" sz="1600" dirty="0"/>
              <a:t>AI-</a:t>
            </a:r>
            <a:r>
              <a:rPr lang="mn-MN" sz="1600" dirty="0"/>
              <a:t>тай ч маш үнэтэй бөгөөд сурахад хэцүү ($800+/сар).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dirty="0"/>
              <a:t>Нийтлэг сул талууд:</a:t>
            </a:r>
            <a:endParaRPr lang="en-US" sz="1600" dirty="0"/>
          </a:p>
          <a:p>
            <a:pPr marL="469900" indent="-342900" algn="just" defTabSz="914400">
              <a:lnSpc>
                <a:spcPct val="100000"/>
              </a:lnSpc>
              <a:buAutoNum type="arabicPeriod"/>
            </a:pPr>
            <a:r>
              <a:rPr lang="en-US" sz="1600" dirty="0"/>
              <a:t>API </a:t>
            </a:r>
            <a:r>
              <a:rPr lang="mn-MN" sz="1600" dirty="0"/>
              <a:t>хамааралтай тул платформын өөрчлөлтөд өртөмтгий.</a:t>
            </a:r>
            <a:endParaRPr lang="en-US" sz="1600" dirty="0"/>
          </a:p>
          <a:p>
            <a:pPr marL="469900" indent="-342900" algn="just" defTabSz="914400">
              <a:lnSpc>
                <a:spcPct val="100000"/>
              </a:lnSpc>
              <a:buAutoNum type="arabicPeriod"/>
            </a:pPr>
            <a:r>
              <a:rPr lang="mn-MN" sz="1600" dirty="0"/>
              <a:t>Түүхий өгөгдөл (</a:t>
            </a:r>
            <a:r>
              <a:rPr lang="en-US" sz="1600" dirty="0"/>
              <a:t>Raw data) </a:t>
            </a:r>
            <a:r>
              <a:rPr lang="mn-MN" sz="1600" dirty="0"/>
              <a:t>хандалт хязгаарлагдмал.</a:t>
            </a:r>
            <a:endParaRPr lang="en-US" sz="1600" dirty="0"/>
          </a:p>
          <a:p>
            <a:pPr marL="469900" indent="-342900" algn="just" defTabSz="914400">
              <a:lnSpc>
                <a:spcPct val="100000"/>
              </a:lnSpc>
              <a:buAutoNum type="arabicPeriod"/>
            </a:pPr>
            <a:r>
              <a:rPr lang="mn-MN" sz="1600" dirty="0"/>
              <a:t>Монгол хэлний дэмжлэггүй.</a:t>
            </a: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6208D-3E62-7F6A-E42D-A6D74C04B5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31BA11-B873-43E1-B5E5-099F01C0B2AF}" type="datetime1">
              <a:rPr lang="mn-MN" smtClean="0"/>
              <a:t>2026.04.08</a:t>
            </a:fld>
            <a:endParaRPr lang="m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EED51-DE9C-726A-6CFB-553894D289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4</a:t>
            </a:fld>
            <a:endParaRPr lang="mn"/>
          </a:p>
        </p:txBody>
      </p:sp>
    </p:spTree>
    <p:extLst>
      <p:ext uri="{BB962C8B-B14F-4D97-AF65-F5344CB8AC3E}">
        <p14:creationId xmlns:p14="http://schemas.microsoft.com/office/powerpoint/2010/main" val="2780544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E38BBDE6-8C3F-3377-6DE0-BDA2D0AF9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>
            <a:extLst>
              <a:ext uri="{FF2B5EF4-FFF2-40B4-BE49-F238E27FC236}">
                <a16:creationId xmlns:a16="http://schemas.microsoft.com/office/drawing/2014/main" id="{2A1F8B28-1224-5796-878C-DD04D2132A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2581" y="281177"/>
            <a:ext cx="11360800" cy="714439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mn-MN" sz="2000" dirty="0"/>
              <a:t>Бидний системийн давуу тал</a:t>
            </a:r>
            <a:endParaRPr lang="en-US" sz="2000" b="1" cap="all" dirty="0">
              <a:latin typeface="Times New Roman"/>
              <a:cs typeface="Times New Roman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4F40A3FC-0ACB-8CD6-3618-D94D419CB45F}"/>
              </a:ext>
            </a:extLst>
          </p:cNvPr>
          <p:cNvSpPr txBox="1">
            <a:spLocks/>
          </p:cNvSpPr>
          <p:nvPr/>
        </p:nvSpPr>
        <p:spPr>
          <a:xfrm>
            <a:off x="484441" y="1030257"/>
            <a:ext cx="10400182" cy="4933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dirty="0"/>
              <a:t>Арилжааны болон </a:t>
            </a:r>
            <a:r>
              <a:rPr lang="en-US" sz="1600" dirty="0"/>
              <a:t>Open Source </a:t>
            </a:r>
            <a:r>
              <a:rPr lang="mn-MN" sz="1600" dirty="0"/>
              <a:t>хэрэгслүүдтэй харьцуулахад:</a:t>
            </a:r>
            <a:endParaRPr lang="en-US" sz="1600" dirty="0"/>
          </a:p>
          <a:p>
            <a:pPr marL="469900" indent="-342900" algn="just" defTabSz="914400">
              <a:lnSpc>
                <a:spcPct val="100000"/>
              </a:lnSpc>
              <a:buAutoNum type="arabicPeriod"/>
            </a:pPr>
            <a:r>
              <a:rPr lang="mn-MN" sz="1600" b="1" dirty="0"/>
              <a:t>Үнэ төлбөргүй:</a:t>
            </a:r>
            <a:r>
              <a:rPr lang="mn-MN" sz="1600" dirty="0"/>
              <a:t> </a:t>
            </a:r>
            <a:r>
              <a:rPr lang="en-US" sz="1600" dirty="0"/>
              <a:t>Open-source </a:t>
            </a:r>
            <a:r>
              <a:rPr lang="mn-MN" sz="1600" dirty="0"/>
              <a:t>хэлбэрээр хөгжүүлэгдсэн тул арилжааны системүүд шиг сар бүрийн өндөр төлбөргүй.</a:t>
            </a:r>
            <a:endParaRPr lang="en-US" sz="1600" dirty="0"/>
          </a:p>
          <a:p>
            <a:pPr marL="469900" indent="-342900" algn="just" defTabSz="914400">
              <a:lnSpc>
                <a:spcPct val="100000"/>
              </a:lnSpc>
              <a:buAutoNum type="arabicPeriod"/>
            </a:pPr>
            <a:r>
              <a:rPr lang="en-US" sz="1600" b="1" dirty="0"/>
              <a:t>API </a:t>
            </a:r>
            <a:r>
              <a:rPr lang="mn-MN" sz="1600" b="1" dirty="0"/>
              <a:t>хамааралгүй:</a:t>
            </a:r>
            <a:r>
              <a:rPr lang="mn-MN" sz="1600" dirty="0"/>
              <a:t> </a:t>
            </a:r>
            <a:r>
              <a:rPr lang="en-US" sz="1600" dirty="0"/>
              <a:t>Selenium-</a:t>
            </a:r>
            <a:r>
              <a:rPr lang="mn-MN" sz="1600" dirty="0"/>
              <a:t>д суурилсан тул нийгмийн сүлжээнүүдийн хатуу </a:t>
            </a:r>
            <a:r>
              <a:rPr lang="en-US" sz="1600" dirty="0"/>
              <a:t>API </a:t>
            </a:r>
            <a:r>
              <a:rPr lang="mn-MN" sz="1600" dirty="0"/>
              <a:t>хязгаарлалтад өртөхгүй.</a:t>
            </a:r>
            <a:endParaRPr lang="en-US" sz="1600" dirty="0"/>
          </a:p>
          <a:p>
            <a:pPr marL="469900" indent="-342900" algn="just" defTabSz="914400">
              <a:lnSpc>
                <a:spcPct val="100000"/>
              </a:lnSpc>
              <a:buAutoNum type="arabicPeriod"/>
            </a:pPr>
            <a:r>
              <a:rPr lang="mn-MN" sz="1600" b="1" dirty="0"/>
              <a:t>Түүхий өгөгдөлд (</a:t>
            </a:r>
            <a:r>
              <a:rPr lang="en-US" sz="1600" b="1" dirty="0"/>
              <a:t>Raw Data) </a:t>
            </a:r>
            <a:r>
              <a:rPr lang="mn-MN" sz="1600" b="1" dirty="0"/>
              <a:t>бүрэн хандах:</a:t>
            </a:r>
            <a:r>
              <a:rPr lang="mn-MN" sz="1600" dirty="0"/>
              <a:t> Өгөгдлийг бүрэн татаж авч өөрийн санд хадгалах боломжтой.</a:t>
            </a:r>
            <a:endParaRPr lang="en-US" sz="1600" dirty="0"/>
          </a:p>
          <a:p>
            <a:pPr marL="469900" indent="-342900" algn="just" defTabSz="914400">
              <a:lnSpc>
                <a:spcPct val="100000"/>
              </a:lnSpc>
              <a:buAutoNum type="arabicPeriod"/>
            </a:pPr>
            <a:r>
              <a:rPr lang="mn-MN" sz="1600" b="1" dirty="0"/>
              <a:t>Уян хатан </a:t>
            </a:r>
            <a:r>
              <a:rPr lang="en-US" sz="1600" b="1" dirty="0"/>
              <a:t>ML pipeline:</a:t>
            </a:r>
            <a:r>
              <a:rPr lang="en-US" sz="1600" dirty="0"/>
              <a:t> BERT, scikit-learn </a:t>
            </a:r>
            <a:r>
              <a:rPr lang="mn-MN" sz="1600" dirty="0"/>
              <a:t>зэрэг хүссэн алгоритмаа өөрчлөн нэвтрүүлэх боломжтой.</a:t>
            </a:r>
            <a:endParaRPr lang="en-US" sz="1600" dirty="0"/>
          </a:p>
          <a:p>
            <a:pPr marL="469900" indent="-342900" algn="just" defTabSz="914400">
              <a:lnSpc>
                <a:spcPct val="100000"/>
              </a:lnSpc>
              <a:buAutoNum type="arabicPeriod"/>
            </a:pPr>
            <a:r>
              <a:rPr lang="mn-MN" sz="1600" b="1" dirty="0"/>
              <a:t>Нууцлал хангагдсан (</a:t>
            </a:r>
            <a:r>
              <a:rPr lang="en-US" sz="1600" b="1" dirty="0"/>
              <a:t>Self-hosted):</a:t>
            </a:r>
            <a:r>
              <a:rPr lang="en-US" sz="1600" dirty="0"/>
              <a:t> </a:t>
            </a:r>
            <a:r>
              <a:rPr lang="mn-MN" sz="1600" dirty="0"/>
              <a:t>Өөрийн серверт байршуулах тул дата алдагдах эрсдэлгүй.</a:t>
            </a:r>
            <a:endParaRPr lang="en-US" sz="1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2D44D-6DE1-B6DB-FD71-68C0E641A8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31BA11-B873-43E1-B5E5-099F01C0B2AF}" type="datetime1">
              <a:rPr lang="mn-MN" smtClean="0"/>
              <a:t>2026.04.08</a:t>
            </a:fld>
            <a:endParaRPr lang="m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EEB30-3F92-1DCB-CE6D-9C8C47AA5C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5</a:t>
            </a:fld>
            <a:endParaRPr lang="mn"/>
          </a:p>
        </p:txBody>
      </p:sp>
    </p:spTree>
    <p:extLst>
      <p:ext uri="{BB962C8B-B14F-4D97-AF65-F5344CB8AC3E}">
        <p14:creationId xmlns:p14="http://schemas.microsoft.com/office/powerpoint/2010/main" val="2732715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4107D452-D3BF-9F49-2810-96F1A56B3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>
            <a:extLst>
              <a:ext uri="{FF2B5EF4-FFF2-40B4-BE49-F238E27FC236}">
                <a16:creationId xmlns:a16="http://schemas.microsoft.com/office/drawing/2014/main" id="{A75CF96D-C068-7310-283A-E5CE348418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2581" y="281177"/>
            <a:ext cx="11360800" cy="714439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mn-MN" sz="2000" dirty="0"/>
              <a:t>Системийн функциональ шаардлага</a:t>
            </a:r>
            <a:endParaRPr lang="en-US" sz="2000" b="1" cap="all" dirty="0">
              <a:latin typeface="Times New Roman"/>
              <a:cs typeface="Times New Roman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25369CF6-69A3-5DF3-2E01-B08F2D704D57}"/>
              </a:ext>
            </a:extLst>
          </p:cNvPr>
          <p:cNvSpPr txBox="1">
            <a:spLocks/>
          </p:cNvSpPr>
          <p:nvPr/>
        </p:nvSpPr>
        <p:spPr>
          <a:xfrm>
            <a:off x="484441" y="1030257"/>
            <a:ext cx="10400182" cy="4933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dirty="0"/>
              <a:t>Системийн үндсэн модулиуд: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b="1" dirty="0"/>
              <a:t>Өгөгдөл цуглуулах модуль (</a:t>
            </a:r>
            <a:r>
              <a:rPr lang="en-US" sz="1600" b="1" dirty="0"/>
              <a:t>Scraper):</a:t>
            </a:r>
            <a:r>
              <a:rPr lang="en-US" sz="1600" dirty="0"/>
              <a:t> </a:t>
            </a:r>
            <a:r>
              <a:rPr lang="en-US" sz="1600" dirty="0" err="1"/>
              <a:t>BrowserManager</a:t>
            </a:r>
            <a:r>
              <a:rPr lang="en-US" sz="1600" dirty="0"/>
              <a:t>, </a:t>
            </a:r>
            <a:r>
              <a:rPr lang="en-US" sz="1600" dirty="0" err="1"/>
              <a:t>PostScraper</a:t>
            </a:r>
            <a:r>
              <a:rPr lang="en-US" sz="1600" dirty="0"/>
              <a:t> </a:t>
            </a:r>
            <a:r>
              <a:rPr lang="mn-MN" sz="1600" dirty="0"/>
              <a:t>ашиглан нийгмийн сүлжээнээс өгөгдлийг платформын ялгааг нууж жигд цуглуулах.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b="1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b="1" dirty="0"/>
              <a:t>Шинжилгээ хийх модуль (</a:t>
            </a:r>
            <a:r>
              <a:rPr lang="en-US" sz="1600" b="1" dirty="0"/>
              <a:t>ML Analyzer):</a:t>
            </a:r>
            <a:r>
              <a:rPr lang="en-US" sz="1600" dirty="0"/>
              <a:t> </a:t>
            </a:r>
            <a:r>
              <a:rPr lang="en-US" sz="1600" dirty="0" err="1"/>
              <a:t>DataAnalyzer</a:t>
            </a:r>
            <a:r>
              <a:rPr lang="en-US" sz="1600" dirty="0"/>
              <a:t>, </a:t>
            </a:r>
            <a:r>
              <a:rPr lang="en-US" sz="1600" dirty="0" err="1"/>
              <a:t>AIAnalyzer</a:t>
            </a:r>
            <a:r>
              <a:rPr lang="en-US" sz="1600" dirty="0"/>
              <a:t> </a:t>
            </a:r>
            <a:r>
              <a:rPr lang="mn-MN" sz="1600" dirty="0"/>
              <a:t>ашиглан </a:t>
            </a:r>
            <a:r>
              <a:rPr lang="en-US" sz="1600" dirty="0" err="1"/>
              <a:t>TextBlob</a:t>
            </a:r>
            <a:r>
              <a:rPr lang="en-US" sz="1600" dirty="0"/>
              <a:t>, VADER, BERT </a:t>
            </a:r>
            <a:r>
              <a:rPr lang="mn-MN" sz="1600" dirty="0"/>
              <a:t>зэрэг алгоритмуудаар мэдрэмжийн шинжилгээ болон оролцооны таамаглал хийх.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b="1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b="1" dirty="0"/>
              <a:t>Өгөгдлийн сангийн модуль (</a:t>
            </a:r>
            <a:r>
              <a:rPr lang="en-US" sz="1600" b="1" dirty="0"/>
              <a:t>Database):</a:t>
            </a:r>
            <a:r>
              <a:rPr lang="en-US" sz="1600" dirty="0"/>
              <a:t> PostgreSQL (</a:t>
            </a:r>
            <a:r>
              <a:rPr lang="mn-MN" sz="1600" dirty="0"/>
              <a:t>Үндсэн хадгалалт), </a:t>
            </a:r>
            <a:r>
              <a:rPr lang="en-US" sz="1600" dirty="0"/>
              <a:t>Firebase (Cloud </a:t>
            </a:r>
            <a:r>
              <a:rPr lang="mn-MN" sz="1600" dirty="0"/>
              <a:t>синхрончлол), </a:t>
            </a:r>
            <a:r>
              <a:rPr lang="en-US" sz="1600" dirty="0"/>
              <a:t>SQLite </a:t>
            </a:r>
            <a:r>
              <a:rPr lang="mn-MN" sz="1600" dirty="0"/>
              <a:t>ашиглах.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b="1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en-US" sz="1600" b="1" dirty="0"/>
              <a:t>API </a:t>
            </a:r>
            <a:r>
              <a:rPr lang="mn-MN" sz="1600" b="1" dirty="0"/>
              <a:t>үйлчилгээ (</a:t>
            </a:r>
            <a:r>
              <a:rPr lang="en-US" sz="1600" b="1" dirty="0"/>
              <a:t>REST API):</a:t>
            </a:r>
            <a:r>
              <a:rPr lang="en-US" sz="1600" dirty="0"/>
              <a:t> </a:t>
            </a:r>
            <a:r>
              <a:rPr lang="en-US" sz="1600" dirty="0" err="1"/>
              <a:t>FastAPI</a:t>
            </a:r>
            <a:r>
              <a:rPr lang="en-US" sz="1600" dirty="0"/>
              <a:t> </a:t>
            </a:r>
            <a:r>
              <a:rPr lang="mn-MN" sz="1600" dirty="0"/>
              <a:t>ашиглан системээс өгөгдөл авах, шинжилгээ эхлүүлэх интерфэйсээр хангах.</a:t>
            </a: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6B6BD-1133-31C8-B6F5-369D4A93163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31BA11-B873-43E1-B5E5-099F01C0B2AF}" type="datetime1">
              <a:rPr lang="mn-MN" smtClean="0"/>
              <a:t>2026.04.08</a:t>
            </a:fld>
            <a:endParaRPr lang="m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62AFB-1EF8-EBD0-9AEE-B1F21CF038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6</a:t>
            </a:fld>
            <a:endParaRPr lang="mn"/>
          </a:p>
        </p:txBody>
      </p:sp>
    </p:spTree>
    <p:extLst>
      <p:ext uri="{BB962C8B-B14F-4D97-AF65-F5344CB8AC3E}">
        <p14:creationId xmlns:p14="http://schemas.microsoft.com/office/powerpoint/2010/main" val="289447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55B80975-ACB1-1117-19AF-D2DE0E2B8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>
            <a:extLst>
              <a:ext uri="{FF2B5EF4-FFF2-40B4-BE49-F238E27FC236}">
                <a16:creationId xmlns:a16="http://schemas.microsoft.com/office/drawing/2014/main" id="{D486D295-A8C1-4407-49E5-17314D0424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2581" y="281177"/>
            <a:ext cx="11360800" cy="714439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mn-MN" sz="2000" dirty="0"/>
              <a:t>Ашиглагдах техник, технологи</a:t>
            </a:r>
            <a:endParaRPr lang="en-US" sz="2000" b="1" cap="all" dirty="0">
              <a:latin typeface="Times New Roman"/>
              <a:cs typeface="Times New Roman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8386D01A-BAAB-B87B-08C7-7074CE34AA06}"/>
              </a:ext>
            </a:extLst>
          </p:cNvPr>
          <p:cNvSpPr txBox="1">
            <a:spLocks/>
          </p:cNvSpPr>
          <p:nvPr/>
        </p:nvSpPr>
        <p:spPr>
          <a:xfrm>
            <a:off x="484441" y="1030257"/>
            <a:ext cx="10400182" cy="4933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dirty="0"/>
              <a:t>Програм хангамжийн бүрдэл: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b="1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b="1" dirty="0"/>
              <a:t>Програмчлалын хэл:</a:t>
            </a:r>
            <a:r>
              <a:rPr lang="mn-MN" sz="1600" dirty="0"/>
              <a:t> </a:t>
            </a:r>
            <a:r>
              <a:rPr lang="en-US" sz="1600" dirty="0"/>
              <a:t>Python 3.13 (NLP, ML, </a:t>
            </a:r>
            <a:r>
              <a:rPr lang="mn-MN" sz="1600" dirty="0"/>
              <a:t>хөгжүүлэлтийн өргөн экосистем)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b="1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b="1" dirty="0"/>
              <a:t>Вэб скрапинг:</a:t>
            </a:r>
            <a:r>
              <a:rPr lang="mn-MN" sz="1600" dirty="0"/>
              <a:t> </a:t>
            </a:r>
            <a:r>
              <a:rPr lang="en-US" sz="1600" dirty="0"/>
              <a:t>Selenium WebDriver, </a:t>
            </a:r>
            <a:r>
              <a:rPr lang="en-US" sz="1600" dirty="0" err="1"/>
              <a:t>BeautifulSoup</a:t>
            </a:r>
            <a:r>
              <a:rPr lang="en-US" sz="1600" dirty="0"/>
              <a:t> (</a:t>
            </a:r>
            <a:r>
              <a:rPr lang="mn-MN" sz="1600" dirty="0"/>
              <a:t>Динамик контент, </a:t>
            </a:r>
            <a:r>
              <a:rPr lang="en-US" sz="1600" dirty="0"/>
              <a:t>JavaScript rendering </a:t>
            </a:r>
            <a:r>
              <a:rPr lang="mn-MN" sz="1600" dirty="0"/>
              <a:t>хийх зорилгоор).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b="1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en-US" sz="1600" b="1" dirty="0"/>
              <a:t>ML </a:t>
            </a:r>
            <a:r>
              <a:rPr lang="mn-MN" sz="1600" b="1" dirty="0"/>
              <a:t>ба </a:t>
            </a:r>
            <a:r>
              <a:rPr lang="en-US" sz="1600" b="1" dirty="0"/>
              <a:t>NLP:</a:t>
            </a:r>
            <a:r>
              <a:rPr lang="en-US" sz="1600" dirty="0"/>
              <a:t> </a:t>
            </a:r>
            <a:r>
              <a:rPr lang="en-US" sz="1600" dirty="0" err="1"/>
              <a:t>TextBlob</a:t>
            </a:r>
            <a:r>
              <a:rPr lang="en-US" sz="1600" dirty="0"/>
              <a:t>, VADER, BERT Transformer Model (</a:t>
            </a:r>
            <a:r>
              <a:rPr lang="mn-MN" sz="1600" dirty="0"/>
              <a:t>Нарийвчлалтай </a:t>
            </a:r>
            <a:r>
              <a:rPr lang="en-US" sz="1600" dirty="0"/>
              <a:t>Sentiment Analysis </a:t>
            </a:r>
            <a:r>
              <a:rPr lang="mn-MN" sz="1600" dirty="0"/>
              <a:t>хийх).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b="1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b="1" dirty="0"/>
              <a:t>Өгөгдлийн сан:</a:t>
            </a:r>
            <a:r>
              <a:rPr lang="mn-MN" sz="1600" dirty="0"/>
              <a:t> </a:t>
            </a:r>
            <a:r>
              <a:rPr lang="en-US" sz="1600" dirty="0"/>
              <a:t>PostgreSQL 16 (</a:t>
            </a:r>
            <a:r>
              <a:rPr lang="mn-MN" sz="1600" dirty="0"/>
              <a:t>Үндсэн), </a:t>
            </a:r>
            <a:r>
              <a:rPr lang="en-US" sz="1600" dirty="0"/>
              <a:t>Firebase Realtime DB (Cloud), SQLite 3.</a:t>
            </a:r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b="1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b="1" dirty="0"/>
              <a:t>Вэб сервер:</a:t>
            </a:r>
            <a:r>
              <a:rPr lang="mn-MN" sz="1600" dirty="0"/>
              <a:t> </a:t>
            </a:r>
            <a:r>
              <a:rPr lang="en-US" sz="1600" dirty="0" err="1"/>
              <a:t>FastAPI</a:t>
            </a:r>
            <a:r>
              <a:rPr lang="en-US" sz="1600" dirty="0"/>
              <a:t> (</a:t>
            </a:r>
            <a:r>
              <a:rPr lang="mn-MN" sz="1600" dirty="0"/>
              <a:t>Хөнгөн, хурдан </a:t>
            </a:r>
            <a:r>
              <a:rPr lang="en-US" sz="1600" dirty="0"/>
              <a:t>REST API </a:t>
            </a:r>
            <a:r>
              <a:rPr lang="mn-MN" sz="1600" dirty="0"/>
              <a:t>үүсгэх)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BA80D-8BBB-2E80-6635-43598EE9C8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31BA11-B873-43E1-B5E5-099F01C0B2AF}" type="datetime1">
              <a:rPr lang="mn-MN" smtClean="0"/>
              <a:t>2026.04.08</a:t>
            </a:fld>
            <a:endParaRPr lang="m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1E678-D77C-4AE6-A408-410D832914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7</a:t>
            </a:fld>
            <a:endParaRPr lang="m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E18D9E-74C7-5337-9148-42A472D17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Програмчлалын хэл: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3.13 (NLP, ML, хөгжүүлэлтийн өргөн экосистем).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548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BD70123F-9A68-2119-4BA2-B46E6D929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>
            <a:extLst>
              <a:ext uri="{FF2B5EF4-FFF2-40B4-BE49-F238E27FC236}">
                <a16:creationId xmlns:a16="http://schemas.microsoft.com/office/drawing/2014/main" id="{E8E3C26E-083F-4958-08F9-8C3CCA709A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2581" y="281177"/>
            <a:ext cx="11360800" cy="714439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mn-MN" sz="2000" dirty="0"/>
              <a:t>Системийн архитектурын диаграм</a:t>
            </a:r>
            <a:endParaRPr lang="en-US" sz="2000" b="1" cap="all" dirty="0">
              <a:latin typeface="Times New Roman"/>
              <a:cs typeface="Times New Roman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26AED4FA-953E-3832-ABA8-0C2F2591404F}"/>
              </a:ext>
            </a:extLst>
          </p:cNvPr>
          <p:cNvSpPr txBox="1">
            <a:spLocks/>
          </p:cNvSpPr>
          <p:nvPr/>
        </p:nvSpPr>
        <p:spPr>
          <a:xfrm>
            <a:off x="474609" y="995616"/>
            <a:ext cx="10400182" cy="4933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dirty="0"/>
              <a:t>Тайлбар: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en-US" sz="1600" dirty="0"/>
              <a:t>Frontend (React/Vite) </a:t>
            </a:r>
            <a:r>
              <a:rPr lang="mn-MN" sz="1600" dirty="0"/>
              <a:t>нь </a:t>
            </a:r>
            <a:r>
              <a:rPr lang="en-US" sz="1600" dirty="0" err="1"/>
              <a:t>FastAPI</a:t>
            </a:r>
            <a:r>
              <a:rPr lang="en-US" sz="1600" dirty="0"/>
              <a:t> Backend-</a:t>
            </a:r>
            <a:r>
              <a:rPr lang="mn-MN" sz="1600" dirty="0"/>
              <a:t>тэй харилцах бөгөөд цааш </a:t>
            </a:r>
            <a:r>
              <a:rPr lang="en-US" sz="1600" dirty="0"/>
              <a:t>Scraper (Selenium+BS4), Analysis (BERT/VADER), Database (PostgreSQL/Firebase), </a:t>
            </a:r>
            <a:r>
              <a:rPr lang="mn-MN" sz="1600" dirty="0"/>
              <a:t>болон </a:t>
            </a:r>
            <a:r>
              <a:rPr lang="en-US" sz="1600" dirty="0"/>
              <a:t>AI Orchestrator (Gemini/Claude) </a:t>
            </a:r>
            <a:r>
              <a:rPr lang="mn-MN" sz="1600" dirty="0"/>
              <a:t>зэрэг модулиудтай уялдан ажиллах ерөнхий бүтэц.</a:t>
            </a: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2BD0D-5E43-9B3A-10AF-2E825BECCA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31BA11-B873-43E1-B5E5-099F01C0B2AF}" type="datetime1">
              <a:rPr lang="mn-MN" smtClean="0"/>
              <a:t>2026.04.08</a:t>
            </a:fld>
            <a:endParaRPr lang="m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6A506-5F1B-6F1A-73E5-09BF82D5B2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8</a:t>
            </a:fld>
            <a:endParaRPr lang="m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FE7F25-4F3D-3F5D-0865-54495171F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247" y="1422693"/>
            <a:ext cx="7382905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52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4CDF43B8-6FA5-C86C-DDFA-1EF4AC833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>
            <a:extLst>
              <a:ext uri="{FF2B5EF4-FFF2-40B4-BE49-F238E27FC236}">
                <a16:creationId xmlns:a16="http://schemas.microsoft.com/office/drawing/2014/main" id="{CEB29AE4-AF5F-36B5-3A95-A4EA43D60C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2581" y="281177"/>
            <a:ext cx="11360800" cy="714439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mn-MN" sz="2000" dirty="0"/>
              <a:t>Өгөгдлийн урсгалын диаграм</a:t>
            </a:r>
            <a:endParaRPr lang="en-US" sz="2000" b="1" cap="all" dirty="0">
              <a:latin typeface="Times New Roman"/>
              <a:cs typeface="Times New Roman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9DC40F-10FD-CE68-8C70-73859B9E1D2F}"/>
              </a:ext>
            </a:extLst>
          </p:cNvPr>
          <p:cNvSpPr txBox="1">
            <a:spLocks/>
          </p:cNvSpPr>
          <p:nvPr/>
        </p:nvSpPr>
        <p:spPr>
          <a:xfrm>
            <a:off x="484441" y="1030257"/>
            <a:ext cx="10400182" cy="4933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dirty="0"/>
              <a:t>Тайлбар: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en-US" sz="1600" dirty="0">
                <a:latin typeface="Arial"/>
                <a:ea typeface="Roboto" panose="02000000000000000000" pitchFamily="2" charset="0"/>
                <a:cs typeface="Times New Roman"/>
              </a:rPr>
              <a:t>Facebook Scraping - Cleaning - Parsing - Sentiment/Topic Analysis - Engagement Prediction - API Response - Dashboard / Report </a:t>
            </a:r>
            <a:r>
              <a:rPr lang="mn-MN" sz="1600" dirty="0">
                <a:latin typeface="Arial"/>
                <a:ea typeface="Roboto" panose="02000000000000000000" pitchFamily="2" charset="0"/>
                <a:cs typeface="Times New Roman"/>
              </a:rPr>
              <a:t>гэсэн дарааллаар дата хэрхэн боловсруулагдаж гаралтын үр дүн болохыг харуулна.</a:t>
            </a: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CF390-531D-366E-5E00-2C3B8BFC3F6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31BA11-B873-43E1-B5E5-099F01C0B2AF}" type="datetime1">
              <a:rPr lang="mn-MN" smtClean="0"/>
              <a:t>2026.04.08</a:t>
            </a:fld>
            <a:endParaRPr lang="m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81155-4BD7-6D4D-FD31-34165E7A32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9</a:t>
            </a:fld>
            <a:endParaRPr lang="m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68C986-7DE3-D2BA-296D-7A05F77AA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377" y="1030257"/>
            <a:ext cx="6963747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17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0D413686-2C14-ABD5-F19A-20ADE2DF0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>
            <a:extLst>
              <a:ext uri="{FF2B5EF4-FFF2-40B4-BE49-F238E27FC236}">
                <a16:creationId xmlns:a16="http://schemas.microsoft.com/office/drawing/2014/main" id="{9D655BC1-DE2D-A63B-CB0F-47FC2A1A8C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2581" y="281177"/>
            <a:ext cx="11360800" cy="714439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mn-MN" sz="2000" dirty="0"/>
              <a:t>Туршилтын үр дүн - Өгөгдөл цуглуулалт</a:t>
            </a:r>
            <a:endParaRPr lang="en-US" sz="2000" b="1" cap="all" dirty="0">
              <a:latin typeface="Times New Roman"/>
              <a:cs typeface="Times New Roman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390A3D84-068D-3D01-EBCA-B07CF2FB47C4}"/>
              </a:ext>
            </a:extLst>
          </p:cNvPr>
          <p:cNvSpPr txBox="1">
            <a:spLocks/>
          </p:cNvSpPr>
          <p:nvPr/>
        </p:nvSpPr>
        <p:spPr>
          <a:xfrm>
            <a:off x="484441" y="1030257"/>
            <a:ext cx="10400182" cy="4933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dirty="0"/>
              <a:t>Скрапингийн үр дүн: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b="1" dirty="0"/>
              <a:t>Цуглуулсан дата:</a:t>
            </a:r>
            <a:r>
              <a:rPr lang="mn-MN" sz="1600" dirty="0"/>
              <a:t> 10 </a:t>
            </a:r>
            <a:r>
              <a:rPr lang="en-US" sz="1600" dirty="0"/>
              <a:t>Facebook </a:t>
            </a:r>
            <a:r>
              <a:rPr lang="mn-MN" sz="1600" dirty="0"/>
              <a:t>хуудаснаас нийт 200 нийтлэл, 8,547 сэтгэгдэл цуглуулсан (Дунджаар 1 нийтлэлд 42.7 сэтгэгдэл).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b="1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b="1" dirty="0"/>
              <a:t>Скрапингийн хурд:</a:t>
            </a:r>
            <a:r>
              <a:rPr lang="mn-MN" sz="1600" dirty="0"/>
              <a:t> Цагт 17 нийтлэл, 150 сэтгэгдэл татах хурдтай. Алдааны хувь дөнгөж 3.2%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en-US" sz="1600" dirty="0"/>
              <a:t>Sentiment Analysis-</a:t>
            </a:r>
            <a:r>
              <a:rPr lang="mn-MN" sz="1600" dirty="0"/>
              <a:t>ын үр дүн: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b="1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en-US" sz="1600" b="1" dirty="0" err="1"/>
              <a:t>TextBlob</a:t>
            </a:r>
            <a:r>
              <a:rPr lang="en-US" sz="1600" b="1" dirty="0"/>
              <a:t>:</a:t>
            </a:r>
            <a:r>
              <a:rPr lang="en-US" sz="1600" dirty="0"/>
              <a:t> 78% </a:t>
            </a:r>
            <a:r>
              <a:rPr lang="mn-MN" sz="1600" dirty="0"/>
              <a:t>нарийвчлалтай (Маш хурдан буюу 2мс/текст).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b="1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en-US" sz="1600" b="1" dirty="0"/>
              <a:t>VADER:</a:t>
            </a:r>
            <a:r>
              <a:rPr lang="en-US" sz="1600" dirty="0"/>
              <a:t> 82% </a:t>
            </a:r>
            <a:r>
              <a:rPr lang="mn-MN" sz="1600" dirty="0"/>
              <a:t>нарийвчлалтай (Сошиал медиад илүү тохирсон).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b="1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en-US" sz="1600" b="1" dirty="0"/>
              <a:t>BERT:</a:t>
            </a:r>
            <a:r>
              <a:rPr lang="en-US" sz="1600" dirty="0"/>
              <a:t> 91% </a:t>
            </a:r>
            <a:r>
              <a:rPr lang="mn-MN" sz="1600" dirty="0"/>
              <a:t>нарийвчлалтай (Өндөр нарийвчлалтай, </a:t>
            </a:r>
            <a:r>
              <a:rPr lang="en-US" sz="1600" dirty="0"/>
              <a:t>GPU </a:t>
            </a:r>
            <a:r>
              <a:rPr lang="mn-MN" sz="1600" dirty="0"/>
              <a:t>шаардана).</a:t>
            </a: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3B6B4-282B-CC35-0BA5-D5E2CF196F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31BA11-B873-43E1-B5E5-099F01C0B2AF}" type="datetime1">
              <a:rPr lang="mn-MN" smtClean="0"/>
              <a:t>2026.04.08</a:t>
            </a:fld>
            <a:endParaRPr lang="m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BE3E3-ED75-CC5A-16D3-8C29DB971A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10</a:t>
            </a:fld>
            <a:endParaRPr lang="mn"/>
          </a:p>
        </p:txBody>
      </p:sp>
    </p:spTree>
    <p:extLst>
      <p:ext uri="{BB962C8B-B14F-4D97-AF65-F5344CB8AC3E}">
        <p14:creationId xmlns:p14="http://schemas.microsoft.com/office/powerpoint/2010/main" val="1757260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4FD50353-1B8A-61F3-EAF1-FC5B48C59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>
            <a:extLst>
              <a:ext uri="{FF2B5EF4-FFF2-40B4-BE49-F238E27FC236}">
                <a16:creationId xmlns:a16="http://schemas.microsoft.com/office/drawing/2014/main" id="{0A5AA781-6166-C7B5-B2FB-748D5C94F1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2581" y="281177"/>
            <a:ext cx="11360800" cy="714439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mn-MN" sz="2000" dirty="0"/>
              <a:t>Таамаглалын загварын үнэлгээ</a:t>
            </a:r>
            <a:endParaRPr lang="en-US" sz="2000" b="1" cap="all" dirty="0">
              <a:latin typeface="Times New Roman"/>
              <a:cs typeface="Times New Roman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944A1B76-A621-333B-7FED-8C230F1ED2E8}"/>
              </a:ext>
            </a:extLst>
          </p:cNvPr>
          <p:cNvSpPr txBox="1">
            <a:spLocks/>
          </p:cNvSpPr>
          <p:nvPr/>
        </p:nvSpPr>
        <p:spPr>
          <a:xfrm>
            <a:off x="749912" y="1836502"/>
            <a:ext cx="10400182" cy="4933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dirty="0"/>
              <a:t>Хэрэглэгчийн оролцоо болон реакцын хэмжээг таамаглах: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dirty="0"/>
              <a:t>Хариу үйлдлийн чиглэл таамаглах (</a:t>
            </a:r>
            <a:r>
              <a:rPr lang="en-US" sz="1600" dirty="0"/>
              <a:t>Classification): * Accuracy: 0.84 Macro F1-score: 0.81</a:t>
            </a:r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dirty="0"/>
              <a:t>Реакцын хэмжээг таамаглах (</a:t>
            </a:r>
            <a:r>
              <a:rPr lang="en-US" sz="1600" dirty="0"/>
              <a:t>Regression): * MAE: 18.6 RMSE: 27.4</a:t>
            </a:r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b="1" dirty="0"/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b="1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b="1" dirty="0"/>
              <a:t>Үр дүнгийн тайлбар:</a:t>
            </a:r>
            <a:r>
              <a:rPr lang="mn-MN" sz="1600" dirty="0"/>
              <a:t> Загвар нь хэрэглэгчийн хандлагын чиглэлийг тогтвортой ангилж, реакцын хэмжээг контент төлөвлөлт, шийдвэр гаргалтад ашиглахуйц түвшинд таамаглаж чадсан байна.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2FCCE-9971-3CA6-75A2-FCD446CABC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31BA11-B873-43E1-B5E5-099F01C0B2AF}" type="datetime1">
              <a:rPr lang="mn-MN" smtClean="0"/>
              <a:t>2026.04.08</a:t>
            </a:fld>
            <a:endParaRPr lang="m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2CC84-C8F3-3E0A-9D01-2D812A5F22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11</a:t>
            </a:fld>
            <a:endParaRPr lang="mn"/>
          </a:p>
        </p:txBody>
      </p:sp>
    </p:spTree>
    <p:extLst>
      <p:ext uri="{BB962C8B-B14F-4D97-AF65-F5344CB8AC3E}">
        <p14:creationId xmlns:p14="http://schemas.microsoft.com/office/powerpoint/2010/main" val="2220896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E9DB59AC-3A05-092B-194C-6A7910280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>
            <a:extLst>
              <a:ext uri="{FF2B5EF4-FFF2-40B4-BE49-F238E27FC236}">
                <a16:creationId xmlns:a16="http://schemas.microsoft.com/office/drawing/2014/main" id="{F589E2E1-9819-FE9D-4ED3-24F9C2C4F4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2581" y="281177"/>
            <a:ext cx="11360800" cy="714439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mn-MN" sz="2000" dirty="0"/>
              <a:t>Дүгнэлт</a:t>
            </a:r>
            <a:endParaRPr lang="en-US" sz="2000" b="1" cap="all" dirty="0">
              <a:latin typeface="Times New Roman"/>
              <a:cs typeface="Times New Roman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656A88BD-A284-8B07-AF92-137D725E5BB7}"/>
              </a:ext>
            </a:extLst>
          </p:cNvPr>
          <p:cNvSpPr txBox="1">
            <a:spLocks/>
          </p:cNvSpPr>
          <p:nvPr/>
        </p:nvSpPr>
        <p:spPr>
          <a:xfrm>
            <a:off x="454945" y="995616"/>
            <a:ext cx="10400182" cy="4933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dirty="0"/>
              <a:t>Нийгмийн сүлжээнээс өгөгдөл цуглуулж, </a:t>
            </a:r>
            <a:r>
              <a:rPr lang="en-US" sz="1600" dirty="0"/>
              <a:t>NLP </a:t>
            </a:r>
            <a:r>
              <a:rPr lang="mn-MN" sz="1600" dirty="0"/>
              <a:t>ашиглан шинжилгээ хийх, хариу үйлдэл таамаглах практик системийг амжилттай боловсруулсан.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en-US" sz="1600" dirty="0"/>
              <a:t>BERT </a:t>
            </a:r>
            <a:r>
              <a:rPr lang="mn-MN" sz="1600" dirty="0"/>
              <a:t>загвар болон бусад </a:t>
            </a:r>
            <a:r>
              <a:rPr lang="en-US" sz="1600" dirty="0"/>
              <a:t>ML </a:t>
            </a:r>
            <a:r>
              <a:rPr lang="mn-MN" sz="1600" dirty="0"/>
              <a:t>загварууд (</a:t>
            </a:r>
            <a:r>
              <a:rPr lang="en-US" sz="1600" dirty="0" err="1"/>
              <a:t>TextBlob</a:t>
            </a:r>
            <a:r>
              <a:rPr lang="en-US" sz="1600" dirty="0"/>
              <a:t>, VADER) </a:t>
            </a:r>
            <a:r>
              <a:rPr lang="mn-MN" sz="1600" dirty="0"/>
              <a:t>нь өндөр нарийвчлалтай ажиллаж (</a:t>
            </a:r>
            <a:r>
              <a:rPr lang="en-US" sz="1600" dirty="0"/>
              <a:t>BERT 91%), </a:t>
            </a:r>
            <a:r>
              <a:rPr lang="mn-MN" sz="1600" dirty="0"/>
              <a:t>мэдрэмж, оролцоо, хугацааны хэв маягийг нэгтгэн хариу үйлдлийг таамаглах боломжтойг баталсан.</a:t>
            </a: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/>
          </a:p>
          <a:p>
            <a:pPr marL="127000" indent="0" algn="just" defTabSz="914400">
              <a:lnSpc>
                <a:spcPct val="100000"/>
              </a:lnSpc>
              <a:buNone/>
            </a:pPr>
            <a:r>
              <a:rPr lang="mn-MN" sz="1600" dirty="0"/>
              <a:t>Энэхүү систем нь судлаачид, бизнесийн байгууллагуудад олон нийтийн санал бодлыг судлах, контентийн боломжит хариу үйлдэл ба оролцооны хэмжээг урьдчилан үнэлэх, маркетингийн стратеги боловсруулахад тустай хэрэгсэл болж чадна.</a:t>
            </a: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52F24-70D1-4D34-C777-2435BD8AAFB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31BA11-B873-43E1-B5E5-099F01C0B2AF}" type="datetime1">
              <a:rPr lang="mn-MN" smtClean="0"/>
              <a:t>2026.04.08</a:t>
            </a:fld>
            <a:endParaRPr lang="m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6CC79-7019-7AE8-0279-7EBDA06834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12</a:t>
            </a:fld>
            <a:endParaRPr lang="mn"/>
          </a:p>
        </p:txBody>
      </p:sp>
    </p:spTree>
    <p:extLst>
      <p:ext uri="{BB962C8B-B14F-4D97-AF65-F5344CB8AC3E}">
        <p14:creationId xmlns:p14="http://schemas.microsoft.com/office/powerpoint/2010/main" val="2513705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/>
        </p:nvSpPr>
        <p:spPr>
          <a:xfrm>
            <a:off x="898065" y="2774857"/>
            <a:ext cx="10093377" cy="1314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>
              <a:lnSpc>
                <a:spcPct val="114999"/>
              </a:lnSpc>
            </a:pPr>
            <a:r>
              <a:rPr lang="mn-MN" sz="3200" b="1">
                <a:solidFill>
                  <a:srgbClr val="1F1A6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Montserrat"/>
              </a:rPr>
              <a:t>АНХААРАЛ ТАВЬСАНД БАЯРЛАЛАА</a:t>
            </a:r>
            <a:r>
              <a:rPr lang="en-US" sz="3200" b="1">
                <a:solidFill>
                  <a:srgbClr val="1F1A6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Montserrat"/>
              </a:rPr>
              <a:t>!</a:t>
            </a:r>
            <a:endParaRPr lang="mn-MN" sz="3200" b="1">
              <a:solidFill>
                <a:srgbClr val="1F1A6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00660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431DCBD66E5841838A478DAADF1A9F" ma:contentTypeVersion="13" ma:contentTypeDescription="Create a new document." ma:contentTypeScope="" ma:versionID="04167b38ac4ba40305db6fbccdd23cda">
  <xsd:schema xmlns:xsd="http://www.w3.org/2001/XMLSchema" xmlns:xs="http://www.w3.org/2001/XMLSchema" xmlns:p="http://schemas.microsoft.com/office/2006/metadata/properties" xmlns:ns2="912b3c9c-2d4d-4ea3-b290-f94e9d470a94" xmlns:ns3="d59e78f2-eaab-4a67-9d10-a4c680edeaa5" targetNamespace="http://schemas.microsoft.com/office/2006/metadata/properties" ma:root="true" ma:fieldsID="887d01cdf852ab18211328e82f6f1011" ns2:_="" ns3:_="">
    <xsd:import namespace="912b3c9c-2d4d-4ea3-b290-f94e9d470a94"/>
    <xsd:import namespace="d59e78f2-eaab-4a67-9d10-a4c680edeaa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2b3c9c-2d4d-4ea3-b290-f94e9d470a9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1f31ccb1-1273-4756-b665-315075d1d6de}" ma:internalName="TaxCatchAll" ma:showField="CatchAllData" ma:web="912b3c9c-2d4d-4ea3-b290-f94e9d470a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9e78f2-eaab-4a67-9d10-a4c680edeaa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99afe36-bc78-401c-94f4-d0ce26b693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912b3c9c-2d4d-4ea3-b290-f94e9d470a94">
      <UserInfo>
        <DisplayName>Tumenbold Dashzeveg</DisplayName>
        <AccountId>18</AccountId>
        <AccountType/>
      </UserInfo>
      <UserInfo>
        <DisplayName>Batnaran Battulga</DisplayName>
        <AccountId>76</AccountId>
        <AccountType/>
      </UserInfo>
      <UserInfo>
        <DisplayName>Sergelen Batchuluun</DisplayName>
        <AccountId>660</AccountId>
        <AccountType/>
      </UserInfo>
    </SharedWithUsers>
    <lcf76f155ced4ddcb4097134ff3c332f xmlns="d59e78f2-eaab-4a67-9d10-a4c680edeaa5">
      <Terms xmlns="http://schemas.microsoft.com/office/infopath/2007/PartnerControls"/>
    </lcf76f155ced4ddcb4097134ff3c332f>
    <TaxCatchAll xmlns="912b3c9c-2d4d-4ea3-b290-f94e9d470a9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61B812-87D1-4748-9548-909F8B7B1473}">
  <ds:schemaRefs>
    <ds:schemaRef ds:uri="912b3c9c-2d4d-4ea3-b290-f94e9d470a94"/>
    <ds:schemaRef ds:uri="d59e78f2-eaab-4a67-9d10-a4c680edea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C216A9-5742-48B0-B651-E10302ADFDBD}">
  <ds:schemaRefs>
    <ds:schemaRef ds:uri="912b3c9c-2d4d-4ea3-b290-f94e9d470a94"/>
    <ds:schemaRef ds:uri="d59e78f2-eaab-4a67-9d10-a4c680edea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21406D1-867A-41A9-AEC2-2A787CAF9F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925</Words>
  <Application>Microsoft Office PowerPoint</Application>
  <PresentationFormat>Widescreen</PresentationFormat>
  <Paragraphs>134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Montserrat</vt:lpstr>
      <vt:lpstr>Open Sans</vt:lpstr>
      <vt:lpstr>Times New Roman</vt:lpstr>
      <vt:lpstr>Office Theme</vt:lpstr>
      <vt:lpstr>PowerPoint Presentation</vt:lpstr>
      <vt:lpstr>Агуулга</vt:lpstr>
      <vt:lpstr>Судалгааны асуулт ба таамаглал</vt:lpstr>
      <vt:lpstr>Ижил төстэй системийн судалгаа</vt:lpstr>
      <vt:lpstr>Бидний системийн давуу тал</vt:lpstr>
      <vt:lpstr>Системийн функциональ шаардлага</vt:lpstr>
      <vt:lpstr>Ашиглагдах техник, технологи</vt:lpstr>
      <vt:lpstr>Системийн архитектурын диаграм</vt:lpstr>
      <vt:lpstr>Өгөгдлийн урсгалын диаграм</vt:lpstr>
      <vt:lpstr>Туршилтын үр дүн - Өгөгдөл цуглуулалт</vt:lpstr>
      <vt:lpstr>Таамаглалын загварын үнэлгээ</vt:lpstr>
      <vt:lpstr>Дүгнэлт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Педагог, андролог, хьютагоги</dc:title>
  <dc:creator>Sergelen</dc:creator>
  <cp:lastModifiedBy>Хүслэн Өлзийхишиг</cp:lastModifiedBy>
  <cp:revision>19</cp:revision>
  <dcterms:created xsi:type="dcterms:W3CDTF">2021-01-19T12:54:02Z</dcterms:created>
  <dcterms:modified xsi:type="dcterms:W3CDTF">2026-04-08T13:05:29Z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0x01010015431DCBD66E5841838A478DAADF1A9F</vt:lpwstr>
  </property>
  <property fmtid="{D5CDD505-2E9C-101B-9397-08002B2CF9AE}" pid="3" name="MediaServiceImageTags">
    <vt:lpwstr/>
  </property>
</Properties>
</file>