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r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1" name="Panel"/>
          <p:cNvSpPr/>
          <p:nvPr/>
        </p:nvSpPr>
        <p:spPr>
          <a:xfrm>
            <a:off x="760000" y="900000"/>
            <a:ext cx="10350000" cy="465000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22" name="University"/>
          <p:cNvSpPr txBox="1"/>
          <p:nvPr/>
        </p:nvSpPr>
        <p:spPr>
          <a:xfrm>
            <a:off x="1030000" y="1180000"/>
            <a:ext cx="97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300"/>
            </a:pPr>
            <a:r>
              <a:rPr lang="mn-MN" sz="1300">
                <a:b/>
                <a:solidFill>
                  <a:srgbClr val="0F766E"/>
                </a:solidFill>
                <a:latin typeface="Aptos"/>
                <a:cs typeface="Aptos"/>
              </a:rPr>
              <a:t>ШУТИС • Мэдээллийн систем</a:t>
            </a:r>
          </a:p>
        </p:txBody>
      </p:sp>
      <p:sp>
        <p:nvSpPr>
          <p:cNvPr id="23" name="Main Title"/>
          <p:cNvSpPr txBox="1"/>
          <p:nvPr/>
        </p:nvSpPr>
        <p:spPr>
          <a:xfrm>
            <a:off x="1020000" y="1640000"/>
            <a:ext cx="9400000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3000"/>
            </a:pPr>
            <a:r>
              <a:rPr lang="mn-MN" sz="3000">
                <a:b/>
                <a:solidFill>
                  <a:srgbClr val="0F172A"/>
                </a:solidFill>
                <a:latin typeface="Aptos"/>
                <a:cs typeface="Aptos"/>
              </a:rPr>
              <a:t>Нийгмийн сүлжээний өгөгдлийн автомат цуглуулга ба таамаглалт шинжилгээний систем</a:t>
            </a:r>
          </a:p>
        </p:txBody>
      </p:sp>
      <p:sp>
        <p:nvSpPr>
          <p:cNvPr id="24" name="Subtitle"/>
          <p:cNvSpPr txBox="1"/>
          <p:nvPr/>
        </p:nvSpPr>
        <p:spPr>
          <a:xfrm>
            <a:off x="1030000" y="3100000"/>
            <a:ext cx="9200000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650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Facebook group/page өгөгдөл цуглуулалт, Sentiment Analysis, Engagement Prediction, AI Report</a:t>
            </a:r>
          </a:p>
        </p:txBody>
      </p:sp>
      <p:sp>
        <p:nvSpPr>
          <p:cNvPr id="25" name="Meta"/>
          <p:cNvSpPr txBox="1"/>
          <p:nvPr/>
        </p:nvSpPr>
        <p:spPr>
          <a:xfrm>
            <a:off x="1030000" y="4450000"/>
            <a:ext cx="42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350"/>
            </a:pPr>
            <a:r>
              <a:rPr lang="mn-MN" sz="1350">
                <a:solidFill>
                  <a:srgbClr val="475569"/>
                </a:solidFill>
                <a:latin typeface="Aptos"/>
                <a:cs typeface="Aptos"/>
              </a:rPr>
              <a:t>Оюутан: Ө. Хүслэн</a:t>
            </a:r>
          </a:p>
          <a:p>
            <a:pPr algn="l">
              <a:endParaRPr lang="mn-MN" sz="1350"/>
            </a:pPr>
            <a:r>
              <a:rPr lang="mn-MN" sz="1350">
                <a:solidFill>
                  <a:srgbClr val="475569"/>
                </a:solidFill>
                <a:latin typeface="Aptos"/>
                <a:cs typeface="Aptos"/>
              </a:rPr>
              <a:t>Удирдагч багш: Б. Мөнхбуян</a:t>
            </a:r>
          </a:p>
          <a:p>
            <a:pPr algn="l">
              <a:endParaRPr lang="mn-MN" sz="1350"/>
            </a:pPr>
            <a:r>
              <a:rPr lang="mn-MN" sz="1350">
                <a:solidFill>
                  <a:srgbClr val="475569"/>
                </a:solidFill>
                <a:latin typeface="Aptos"/>
                <a:cs typeface="Aptos"/>
              </a:rPr>
              <a:t>Улаанбаатар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Асуудал ба хэрэгцээ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Яагаад энэ систем хэрэгтэй вэ?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Bullets"/>
          <p:cNvSpPr txBox="1"/>
          <p:nvPr/>
        </p:nvSpPr>
        <p:spPr>
          <a:xfrm>
            <a:off x="720000" y="1650000"/>
            <a:ext cx="61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850">
                <a:solidFill>
                  <a:srgbClr val="334155"/>
                </a:solidFill>
                <a:latin typeface="Aptos"/>
                <a:cs typeface="Aptos"/>
              </a:rPr>
              <a:t>Сошиал орчинд хэрэглэгчийн санал, хандлага маш хурдан өөрчлөгддөг.</a:t>
            </a:r>
          </a:p>
          <a:p>
            <a:pPr marL="300000" indent="-180000">
              <a:buChar char="•"/>
            </a:pPr>
            <a:r>
              <a:rPr lang="mn-MN" sz="1850">
                <a:solidFill>
                  <a:srgbClr val="334155"/>
                </a:solidFill>
                <a:latin typeface="Aptos"/>
                <a:cs typeface="Aptos"/>
              </a:rPr>
              <a:t>Пост, сэтгэгдлийг гараар уншиж ангилах нь удаан, алдаа ихтэй.</a:t>
            </a:r>
          </a:p>
          <a:p>
            <a:pPr marL="300000" indent="-180000">
              <a:buChar char="•"/>
            </a:pPr>
            <a:r>
              <a:rPr lang="mn-MN" sz="1850">
                <a:solidFill>
                  <a:srgbClr val="334155"/>
                </a:solidFill>
                <a:latin typeface="Aptos"/>
                <a:cs typeface="Aptos"/>
              </a:rPr>
              <a:t>Монгол хэлний богино хэллэг, ёгтлол, локал үг нь ерөнхий NLP аргуудад хүндрэл үүсгэдэг.</a:t>
            </a:r>
          </a:p>
          <a:p>
            <a:pPr marL="300000" indent="-180000">
              <a:buChar char="•"/>
            </a:pPr>
            <a:r>
              <a:rPr lang="mn-MN" sz="1850">
                <a:solidFill>
                  <a:srgbClr val="334155"/>
                </a:solidFill>
                <a:latin typeface="Aptos"/>
                <a:cs typeface="Aptos"/>
              </a:rPr>
              <a:t>Байгууллага, судлаачдад хурдан тайлан, тренд, эрсдэлийн дохио хэрэгтэй.</a:t>
            </a:r>
          </a:p>
        </p:txBody>
      </p:sp>
      <p:sp>
        <p:nvSpPr>
          <p:cNvPr id="50" name="Card Гол санаа"/>
          <p:cNvSpPr/>
          <p:nvPr/>
        </p:nvSpPr>
        <p:spPr>
          <a:xfrm>
            <a:off x="7600000" y="1900000"/>
            <a:ext cx="3300000" cy="2150000"/>
          </a:xfrm>
          <a:prstGeom prst="roundRect">
            <a:avLst/>
          </a:prstGeom>
          <a:solidFill>
            <a:srgbClr val="ECFEFF"/>
          </a:solidFill>
          <a:ln>
            <a:solidFill>
              <a:srgbClr val="D1D5DB"/>
            </a:solidFill>
          </a:ln>
        </p:spPr>
      </p:sp>
      <p:sp>
        <p:nvSpPr>
          <p:cNvPr id="51" name="Card title Гол санаа"/>
          <p:cNvSpPr txBox="1"/>
          <p:nvPr/>
        </p:nvSpPr>
        <p:spPr>
          <a:xfrm>
            <a:off x="7820000" y="2070000"/>
            <a:ext cx="28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Гол санаа</a:t>
            </a:r>
          </a:p>
        </p:txBody>
      </p:sp>
      <p:sp>
        <p:nvSpPr>
          <p:cNvPr id="52" name="Card body Гол санаа"/>
          <p:cNvSpPr txBox="1"/>
          <p:nvPr/>
        </p:nvSpPr>
        <p:spPr>
          <a:xfrm>
            <a:off x="7820000" y="2460000"/>
            <a:ext cx="2860000" cy="1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Түүхий сошиал өгөгдлийг автоматаар цуглуулж, ML/AI анализаар шийдвэрт ашиглах мэдээлэл болгоно.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Судалгааны зорилго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Цуглуулалт → шинжилгээ → таамаглал → тайлан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ard Өгөгдөл"/>
          <p:cNvSpPr/>
          <p:nvPr/>
        </p:nvSpPr>
        <p:spPr>
          <a:xfrm>
            <a:off x="740000" y="1700000"/>
            <a:ext cx="3300000" cy="1500000"/>
          </a:xfrm>
          <a:prstGeom prst="roundRect">
            <a:avLst/>
          </a:prstGeom>
          <a:solidFill>
            <a:srgbClr val="ECFDF5"/>
          </a:solidFill>
          <a:ln>
            <a:solidFill>
              <a:srgbClr val="D1D5DB"/>
            </a:solidFill>
          </a:ln>
        </p:spPr>
      </p:sp>
      <p:sp>
        <p:nvSpPr>
          <p:cNvPr id="11" name="Card title Өгөгдөл"/>
          <p:cNvSpPr txBox="1"/>
          <p:nvPr/>
        </p:nvSpPr>
        <p:spPr>
          <a:xfrm>
            <a:off x="960000" y="1870000"/>
            <a:ext cx="28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Өгөгдөл</a:t>
            </a:r>
          </a:p>
        </p:txBody>
      </p:sp>
      <p:sp>
        <p:nvSpPr>
          <p:cNvPr id="12" name="Card body Өгөгдөл"/>
          <p:cNvSpPr txBox="1"/>
          <p:nvPr/>
        </p:nvSpPr>
        <p:spPr>
          <a:xfrm>
            <a:off x="960000" y="2260000"/>
            <a:ext cx="286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Facebook group/page-үүдээс пост, сэтгэгдэл, like, share, comment count цуглуулах.</a:t>
            </a:r>
          </a:p>
        </p:txBody>
      </p:sp>
      <p:sp>
        <p:nvSpPr>
          <p:cNvPr id="20" name="Card ML/NLP"/>
          <p:cNvSpPr/>
          <p:nvPr/>
        </p:nvSpPr>
        <p:spPr>
          <a:xfrm>
            <a:off x="4420000" y="1700000"/>
            <a:ext cx="3300000" cy="1500000"/>
          </a:xfrm>
          <a:prstGeom prst="round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</p:sp>
      <p:sp>
        <p:nvSpPr>
          <p:cNvPr id="21" name="Card title ML/NLP"/>
          <p:cNvSpPr txBox="1"/>
          <p:nvPr/>
        </p:nvSpPr>
        <p:spPr>
          <a:xfrm>
            <a:off x="4640000" y="1870000"/>
            <a:ext cx="28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ML/NLP</a:t>
            </a:r>
          </a:p>
        </p:txBody>
      </p:sp>
      <p:sp>
        <p:nvSpPr>
          <p:cNvPr id="22" name="Card body ML/NLP"/>
          <p:cNvSpPr txBox="1"/>
          <p:nvPr/>
        </p:nvSpPr>
        <p:spPr>
          <a:xfrm>
            <a:off x="4640000" y="2260000"/>
            <a:ext cx="286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Текстийг positive, negative, neutral гэж ангилах; topic ба engagement шинжүүдийг гаргах.</a:t>
            </a:r>
          </a:p>
        </p:txBody>
      </p:sp>
      <p:sp>
        <p:nvSpPr>
          <p:cNvPr id="30" name="Card Тайлан"/>
          <p:cNvSpPr/>
          <p:nvPr/>
        </p:nvSpPr>
        <p:spPr>
          <a:xfrm>
            <a:off x="8100000" y="1700000"/>
            <a:ext cx="3300000" cy="1500000"/>
          </a:xfrm>
          <a:prstGeom prst="roundRect">
            <a:avLst/>
          </a:prstGeom>
          <a:solidFill>
            <a:srgbClr val="FFF7ED"/>
          </a:solidFill>
          <a:ln>
            <a:solidFill>
              <a:srgbClr val="D1D5DB"/>
            </a:solidFill>
          </a:ln>
        </p:spPr>
      </p:sp>
      <p:sp>
        <p:nvSpPr>
          <p:cNvPr id="31" name="Card title Тайлан"/>
          <p:cNvSpPr txBox="1"/>
          <p:nvPr/>
        </p:nvSpPr>
        <p:spPr>
          <a:xfrm>
            <a:off x="8320000" y="1870000"/>
            <a:ext cx="28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Тайлан</a:t>
            </a:r>
          </a:p>
        </p:txBody>
      </p:sp>
      <p:sp>
        <p:nvSpPr>
          <p:cNvPr id="32" name="Card body Тайлан"/>
          <p:cNvSpPr txBox="1"/>
          <p:nvPr/>
        </p:nvSpPr>
        <p:spPr>
          <a:xfrm>
            <a:off x="8320000" y="2260000"/>
            <a:ext cx="286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Gemini API ашиглан статистик, тренд, зөвлөмжийг Монгол хэлээр тайлбарлах.</a:t>
            </a:r>
          </a:p>
        </p:txBody>
      </p:sp>
      <p:sp>
        <p:nvSpPr>
          <p:cNvPr id="40" name="Goals"/>
          <p:cNvSpPr txBox="1"/>
          <p:nvPr/>
        </p:nvSpPr>
        <p:spPr>
          <a:xfrm>
            <a:off x="1100000" y="3900000"/>
            <a:ext cx="950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750">
                <a:solidFill>
                  <a:srgbClr val="334155"/>
                </a:solidFill>
                <a:latin typeface="Aptos"/>
                <a:cs typeface="Aptos"/>
              </a:rPr>
              <a:t>Систем нь frontend, backend, scraper, database, ML analyzer гэсэн модультай.</a:t>
            </a:r>
          </a:p>
          <a:p>
            <a:pPr marL="300000" indent="-180000">
              <a:buChar char="•"/>
            </a:pPr>
            <a:r>
              <a:rPr lang="mn-MN" sz="1750">
                <a:solidFill>
                  <a:srgbClr val="334155"/>
                </a:solidFill>
                <a:latin typeface="Aptos"/>
                <a:cs typeface="Aptos"/>
              </a:rPr>
              <a:t>Үр дүнг dashboard болон AI report хэлбэрээр хэрэглэгчид үзүүлнэ.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Системийн архитектур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Модуль бүр тодорхой үүрэгтэй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hip React Dashboard"/>
          <p:cNvSpPr/>
          <p:nvPr/>
        </p:nvSpPr>
        <p:spPr>
          <a:xfrm>
            <a:off x="750000" y="1900000"/>
            <a:ext cx="1800000" cy="42000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</p:sp>
      <p:sp>
        <p:nvSpPr>
          <p:cNvPr id="1010" name="Chip Text React Dashboard"/>
          <p:cNvSpPr txBox="1"/>
          <p:nvPr/>
        </p:nvSpPr>
        <p:spPr>
          <a:xfrm>
            <a:off x="840000" y="1985000"/>
            <a:ext cx="16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React Dashboard</a:t>
            </a:r>
          </a:p>
        </p:txBody>
      </p:sp>
      <p:sp>
        <p:nvSpPr>
          <p:cNvPr id="20" name="Chip FastAPI"/>
          <p:cNvSpPr/>
          <p:nvPr/>
        </p:nvSpPr>
        <p:spPr>
          <a:xfrm>
            <a:off x="3150000" y="1900000"/>
            <a:ext cx="1350000" cy="42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</p:sp>
      <p:sp>
        <p:nvSpPr>
          <p:cNvPr id="1020" name="Chip Text FastAPI"/>
          <p:cNvSpPr txBox="1"/>
          <p:nvPr/>
        </p:nvSpPr>
        <p:spPr>
          <a:xfrm>
            <a:off x="3240000" y="1985000"/>
            <a:ext cx="117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FastAPI</a:t>
            </a:r>
          </a:p>
        </p:txBody>
      </p:sp>
      <p:sp>
        <p:nvSpPr>
          <p:cNvPr id="30" name="Chip Scraper"/>
          <p:cNvSpPr/>
          <p:nvPr/>
        </p:nvSpPr>
        <p:spPr>
          <a:xfrm>
            <a:off x="5150000" y="1900000"/>
            <a:ext cx="1350000" cy="42000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</p:sp>
      <p:sp>
        <p:nvSpPr>
          <p:cNvPr id="1030" name="Chip Text Scraper"/>
          <p:cNvSpPr txBox="1"/>
          <p:nvPr/>
        </p:nvSpPr>
        <p:spPr>
          <a:xfrm>
            <a:off x="5240000" y="1985000"/>
            <a:ext cx="117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Scraper</a:t>
            </a:r>
          </a:p>
        </p:txBody>
      </p:sp>
      <p:sp>
        <p:nvSpPr>
          <p:cNvPr id="40" name="Chip Database"/>
          <p:cNvSpPr/>
          <p:nvPr/>
        </p:nvSpPr>
        <p:spPr>
          <a:xfrm>
            <a:off x="7150000" y="1900000"/>
            <a:ext cx="1500000" cy="42000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</p:sp>
      <p:sp>
        <p:nvSpPr>
          <p:cNvPr id="1040" name="Chip Text Database"/>
          <p:cNvSpPr txBox="1"/>
          <p:nvPr/>
        </p:nvSpPr>
        <p:spPr>
          <a:xfrm>
            <a:off x="7240000" y="1985000"/>
            <a:ext cx="13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Database</a:t>
            </a:r>
          </a:p>
        </p:txBody>
      </p:sp>
      <p:sp>
        <p:nvSpPr>
          <p:cNvPr id="50" name="Chip ML / AI"/>
          <p:cNvSpPr/>
          <p:nvPr/>
        </p:nvSpPr>
        <p:spPr>
          <a:xfrm>
            <a:off x="9300000" y="1900000"/>
            <a:ext cx="1450000" cy="420000"/>
          </a:xfrm>
          <a:prstGeom prst="roundRect">
            <a:avLst/>
          </a:prstGeom>
          <a:solidFill>
            <a:srgbClr val="FCE7F3"/>
          </a:solidFill>
          <a:ln>
            <a:solidFill>
              <a:srgbClr val="FCE7F3"/>
            </a:solidFill>
          </a:ln>
        </p:spPr>
      </p:sp>
      <p:sp>
        <p:nvSpPr>
          <p:cNvPr id="1050" name="Chip Text ML / AI"/>
          <p:cNvSpPr txBox="1"/>
          <p:nvPr/>
        </p:nvSpPr>
        <p:spPr>
          <a:xfrm>
            <a:off x="9390000" y="1985000"/>
            <a:ext cx="127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ML / AI</a:t>
            </a:r>
          </a:p>
        </p:txBody>
      </p:sp>
      <p:cxnSp>
        <p:nvCxnSpPr>
          <p:cNvPr id="60" name="l1"/>
          <p:cNvCxnSpPr/>
          <p:nvPr/>
        </p:nvCxnSpPr>
        <p:spPr>
          <a:xfrm>
            <a:off x="2550000" y="2110000"/>
            <a:ext cx="60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1" name="l2"/>
          <p:cNvCxnSpPr/>
          <p:nvPr/>
        </p:nvCxnSpPr>
        <p:spPr>
          <a:xfrm>
            <a:off x="4500000" y="2110000"/>
            <a:ext cx="65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2" name="l3"/>
          <p:cNvCxnSpPr/>
          <p:nvPr/>
        </p:nvCxnSpPr>
        <p:spPr>
          <a:xfrm>
            <a:off x="6500000" y="2110000"/>
            <a:ext cx="65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3" name="l4"/>
          <p:cNvCxnSpPr/>
          <p:nvPr/>
        </p:nvCxnSpPr>
        <p:spPr>
          <a:xfrm>
            <a:off x="8650000" y="2110000"/>
            <a:ext cx="65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sp>
        <p:nvSpPr>
          <p:cNvPr id="70" name="Arch bullets"/>
          <p:cNvSpPr txBox="1"/>
          <p:nvPr/>
        </p:nvSpPr>
        <p:spPr>
          <a:xfrm>
            <a:off x="1000000" y="3300000"/>
            <a:ext cx="9900000" cy="1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700">
                <a:solidFill>
                  <a:srgbClr val="334155"/>
                </a:solidFill>
                <a:latin typeface="Aptos"/>
                <a:cs typeface="Aptos"/>
              </a:rPr>
              <a:t>Frontend нь API-аар scraping эхлүүлэх, status/log харах, үр дүн дүрслэх үүрэгтэй.</a:t>
            </a:r>
          </a:p>
          <a:p>
            <a:pPr marL="300000" indent="-180000">
              <a:buChar char="•"/>
            </a:pPr>
            <a:r>
              <a:rPr lang="mn-MN" sz="1700">
                <a:solidFill>
                  <a:srgbClr val="334155"/>
                </a:solidFill>
                <a:latin typeface="Aptos"/>
                <a:cs typeface="Aptos"/>
              </a:rPr>
              <a:t>FastAPI нь database, ML analyzer, Gemini analyzer, scraper process-ийг нэгтгэн удирдана.</a:t>
            </a:r>
          </a:p>
          <a:p>
            <a:pPr marL="300000" indent="-180000">
              <a:buChar char="•"/>
            </a:pPr>
            <a:r>
              <a:rPr lang="mn-MN" sz="1700">
                <a:solidFill>
                  <a:srgbClr val="334155"/>
                </a:solidFill>
                <a:latin typeface="Aptos"/>
                <a:cs typeface="Aptos"/>
              </a:rPr>
              <a:t>Database нь FacebookPost, PostComment, PostImage, AnalysisResult entity-д төвлөрсөн.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Scraper хэрхэн бүтээгдсэн бэ?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Selenium browser automation + parsing fallback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Scraper bullets"/>
          <p:cNvSpPr txBox="1"/>
          <p:nvPr/>
        </p:nvSpPr>
        <p:spPr>
          <a:xfrm>
            <a:off x="760000" y="1680000"/>
            <a:ext cx="102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BrowserManager нь Firefox WebDriver session үүсгэж, login/session төлөв, restart, delay, scroll зэрэг browser үйлдлийг удирдсан.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PostScraper нь Facebook group/page feed-ээс role=article болон бусад selector-оор пост элементүүдийг хайсан.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JavaScript-аар ачаалагддаг content-ийг бодит browser дээр нээж, scroll хийж нэмэлт постуудыг ачаалсан.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Пост бүрээс текст, огноо, like, share, comment count, зураг, сэтгэгдлийн мэдээллийг ялгаж авсан.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UI өөрчлөгдөх эрсдэлд зориулж олон selector, fallback logic, random delay, session restart ашигласан.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Scraper хэрхэн ашиглагдсан бэ?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Бид өгөгдлийг group/page-үүдээс цуглуулсан гэж тайлбарлах хэсэг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Use bullets"/>
          <p:cNvSpPr txBox="1"/>
          <p:nvPr/>
        </p:nvSpPr>
        <p:spPr>
          <a:xfrm>
            <a:off x="760000" y="1650000"/>
            <a:ext cx="10400000" cy="3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Хэрэглэгч dashboard дээр зорилтот Facebook group/page URL эсвэл нэрсийг оруулна.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API нь pages.txt файлыг шинэчилж, /api/v1/scraper/run endpoint-оор scraper process ажиллуулна.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Scraper нь page бүрээр орж пост, сэтгэгдэл, engagement metric-үүдийг татаж авна.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Цуглуулсан өгөгдөл PostgreSQL/SQLite/Firebase хадгалалтад бичигдэж, давхардлыг post_id/comment_id-аар хянана.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Frontend нь /scraper/status болон /scraper/logs endpoint-оор явцыг бодит хугацаанд харуулна.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Өгөгдлийн загвар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ML-д орох нэг ижил бүтэцтэй дата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ard FacebookPost"/>
          <p:cNvSpPr/>
          <p:nvPr/>
        </p:nvSpPr>
        <p:spPr>
          <a:xfrm>
            <a:off x="760000" y="1700000"/>
            <a:ext cx="3200000" cy="1850000"/>
          </a:xfrm>
          <a:prstGeom prst="roundRect">
            <a:avLst/>
          </a:prstGeom>
          <a:solidFill>
            <a:srgbClr val="F0FDFA"/>
          </a:solidFill>
          <a:ln>
            <a:solidFill>
              <a:srgbClr val="D1D5DB"/>
            </a:solidFill>
          </a:ln>
        </p:spPr>
      </p:sp>
      <p:sp>
        <p:nvSpPr>
          <p:cNvPr id="11" name="Card title FacebookPost"/>
          <p:cNvSpPr txBox="1"/>
          <p:nvPr/>
        </p:nvSpPr>
        <p:spPr>
          <a:xfrm>
            <a:off x="98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FacebookPost</a:t>
            </a:r>
          </a:p>
        </p:txBody>
      </p:sp>
      <p:sp>
        <p:nvSpPr>
          <p:cNvPr id="12" name="Card body FacebookPost"/>
          <p:cNvSpPr txBox="1"/>
          <p:nvPr/>
        </p:nvSpPr>
        <p:spPr>
          <a:xfrm>
            <a:off x="980000" y="2260000"/>
            <a:ext cx="276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page_name, post_id, post_url, content, timestamp, likes, shares, comment_count, scraped_at</a:t>
            </a:r>
          </a:p>
        </p:txBody>
      </p:sp>
      <p:sp>
        <p:nvSpPr>
          <p:cNvPr id="20" name="Card PostComment"/>
          <p:cNvSpPr/>
          <p:nvPr/>
        </p:nvSpPr>
        <p:spPr>
          <a:xfrm>
            <a:off x="4450000" y="1700000"/>
            <a:ext cx="3200000" cy="1850000"/>
          </a:xfrm>
          <a:prstGeom prst="round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</p:sp>
      <p:sp>
        <p:nvSpPr>
          <p:cNvPr id="21" name="Card title PostComment"/>
          <p:cNvSpPr txBox="1"/>
          <p:nvPr/>
        </p:nvSpPr>
        <p:spPr>
          <a:xfrm>
            <a:off x="467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PostComment</a:t>
            </a:r>
          </a:p>
        </p:txBody>
      </p:sp>
      <p:sp>
        <p:nvSpPr>
          <p:cNvPr id="22" name="Card body PostComment"/>
          <p:cNvSpPr txBox="1"/>
          <p:nvPr/>
        </p:nvSpPr>
        <p:spPr>
          <a:xfrm>
            <a:off x="4670000" y="2260000"/>
            <a:ext cx="276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post_id, comment_id, author_name, content, timestamp, likes, reply_to_id, scraped_at</a:t>
            </a:r>
          </a:p>
        </p:txBody>
      </p:sp>
      <p:sp>
        <p:nvSpPr>
          <p:cNvPr id="30" name="Card AnalysisResult"/>
          <p:cNvSpPr/>
          <p:nvPr/>
        </p:nvSpPr>
        <p:spPr>
          <a:xfrm>
            <a:off x="8140000" y="1700000"/>
            <a:ext cx="3200000" cy="1850000"/>
          </a:xfrm>
          <a:prstGeom prst="roundRect">
            <a:avLst/>
          </a:prstGeom>
          <a:solidFill>
            <a:srgbClr val="FFF7ED"/>
          </a:solidFill>
          <a:ln>
            <a:solidFill>
              <a:srgbClr val="D1D5DB"/>
            </a:solidFill>
          </a:ln>
        </p:spPr>
      </p:sp>
      <p:sp>
        <p:nvSpPr>
          <p:cNvPr id="31" name="Card title AnalysisResult"/>
          <p:cNvSpPr txBox="1"/>
          <p:nvPr/>
        </p:nvSpPr>
        <p:spPr>
          <a:xfrm>
            <a:off x="836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AnalysisResult</a:t>
            </a:r>
          </a:p>
        </p:txBody>
      </p:sp>
      <p:sp>
        <p:nvSpPr>
          <p:cNvPr id="32" name="Card body AnalysisResult"/>
          <p:cNvSpPr txBox="1"/>
          <p:nvPr/>
        </p:nvSpPr>
        <p:spPr>
          <a:xfrm>
            <a:off x="8360000" y="2260000"/>
            <a:ext cx="276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post_id, analysis_type, result JSON, analyzed_at. Sentiment, topic, engagement result хадгална.</a:t>
            </a:r>
          </a:p>
        </p:txBody>
      </p:sp>
      <p:sp>
        <p:nvSpPr>
          <p:cNvPr id="40" name="Data note"/>
          <p:cNvSpPr txBox="1"/>
          <p:nvPr/>
        </p:nvSpPr>
        <p:spPr>
          <a:xfrm>
            <a:off x="980000" y="4300000"/>
            <a:ext cx="94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Энэ бүтэц нь scraper-ээс ирсэн түүхий өгөгдлийг ML, AI report, dashboard-д дахин ашиглах боломжтой болгосон.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Machine Learning pipeline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Цуглуулсан датаас таамаглал гаргах урсгал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hip Raw posts/comments"/>
          <p:cNvSpPr/>
          <p:nvPr/>
        </p:nvSpPr>
        <p:spPr>
          <a:xfrm>
            <a:off x="700000" y="1880000"/>
            <a:ext cx="1900000" cy="4200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</p:sp>
      <p:sp>
        <p:nvSpPr>
          <p:cNvPr id="1010" name="Chip Text Raw posts/comments"/>
          <p:cNvSpPr txBox="1"/>
          <p:nvPr/>
        </p:nvSpPr>
        <p:spPr>
          <a:xfrm>
            <a:off x="790000" y="1965000"/>
            <a:ext cx="17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Raw posts/comments</a:t>
            </a:r>
          </a:p>
        </p:txBody>
      </p:sp>
      <p:sp>
        <p:nvSpPr>
          <p:cNvPr id="20" name="Chip Preprocessing"/>
          <p:cNvSpPr/>
          <p:nvPr/>
        </p:nvSpPr>
        <p:spPr>
          <a:xfrm>
            <a:off x="3000000" y="1880000"/>
            <a:ext cx="1700000" cy="42000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</p:sp>
      <p:sp>
        <p:nvSpPr>
          <p:cNvPr id="1020" name="Chip Text Preprocessing"/>
          <p:cNvSpPr txBox="1"/>
          <p:nvPr/>
        </p:nvSpPr>
        <p:spPr>
          <a:xfrm>
            <a:off x="3090000" y="1965000"/>
            <a:ext cx="15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Preprocessing</a:t>
            </a:r>
          </a:p>
        </p:txBody>
      </p:sp>
      <p:sp>
        <p:nvSpPr>
          <p:cNvPr id="30" name="Chip Feature engineering"/>
          <p:cNvSpPr/>
          <p:nvPr/>
        </p:nvSpPr>
        <p:spPr>
          <a:xfrm>
            <a:off x="5200000" y="1880000"/>
            <a:ext cx="2100000" cy="42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</p:sp>
      <p:sp>
        <p:nvSpPr>
          <p:cNvPr id="1030" name="Chip Text Feature engineering"/>
          <p:cNvSpPr txBox="1"/>
          <p:nvPr/>
        </p:nvSpPr>
        <p:spPr>
          <a:xfrm>
            <a:off x="5290000" y="1965000"/>
            <a:ext cx="19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Feature engineering</a:t>
            </a:r>
          </a:p>
        </p:txBody>
      </p:sp>
      <p:sp>
        <p:nvSpPr>
          <p:cNvPr id="40" name="Chip Models"/>
          <p:cNvSpPr/>
          <p:nvPr/>
        </p:nvSpPr>
        <p:spPr>
          <a:xfrm>
            <a:off x="7800000" y="1880000"/>
            <a:ext cx="1300000" cy="42000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</p:sp>
      <p:sp>
        <p:nvSpPr>
          <p:cNvPr id="1040" name="Chip Text Models"/>
          <p:cNvSpPr txBox="1"/>
          <p:nvPr/>
        </p:nvSpPr>
        <p:spPr>
          <a:xfrm>
            <a:off x="7890000" y="1965000"/>
            <a:ext cx="11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Models</a:t>
            </a:r>
          </a:p>
        </p:txBody>
      </p:sp>
      <p:sp>
        <p:nvSpPr>
          <p:cNvPr id="50" name="Chip Prediction"/>
          <p:cNvSpPr/>
          <p:nvPr/>
        </p:nvSpPr>
        <p:spPr>
          <a:xfrm>
            <a:off x="9700000" y="1880000"/>
            <a:ext cx="1500000" cy="420000"/>
          </a:xfrm>
          <a:prstGeom prst="roundRect">
            <a:avLst/>
          </a:prstGeom>
          <a:solidFill>
            <a:srgbClr val="FCE7F3"/>
          </a:solidFill>
          <a:ln>
            <a:solidFill>
              <a:srgbClr val="FCE7F3"/>
            </a:solidFill>
          </a:ln>
        </p:spPr>
      </p:sp>
      <p:sp>
        <p:nvSpPr>
          <p:cNvPr id="1050" name="Chip Text Prediction"/>
          <p:cNvSpPr txBox="1"/>
          <p:nvPr/>
        </p:nvSpPr>
        <p:spPr>
          <a:xfrm>
            <a:off x="9790000" y="1965000"/>
            <a:ext cx="132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250"/>
            </a:pPr>
            <a:r>
              <a:rPr lang="mn-MN" sz="1250">
                <a:b/>
                <a:solidFill>
                  <a:srgbClr val="0F172A"/>
                </a:solidFill>
                <a:latin typeface="Aptos"/>
                <a:cs typeface="Aptos"/>
              </a:rPr>
              <a:t>Prediction</a:t>
            </a:r>
          </a:p>
        </p:txBody>
      </p:sp>
      <p:cxnSp>
        <p:nvCxnSpPr>
          <p:cNvPr id="60" name="m1"/>
          <p:cNvCxnSpPr/>
          <p:nvPr/>
        </p:nvCxnSpPr>
        <p:spPr>
          <a:xfrm>
            <a:off x="2600000" y="2090000"/>
            <a:ext cx="40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1" name="m2"/>
          <p:cNvCxnSpPr/>
          <p:nvPr/>
        </p:nvCxnSpPr>
        <p:spPr>
          <a:xfrm>
            <a:off x="4700000" y="2090000"/>
            <a:ext cx="50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2" name="m3"/>
          <p:cNvCxnSpPr/>
          <p:nvPr/>
        </p:nvCxnSpPr>
        <p:spPr>
          <a:xfrm>
            <a:off x="7300000" y="2090000"/>
            <a:ext cx="50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cxnSp>
        <p:nvCxnSpPr>
          <p:cNvPr id="63" name="m4"/>
          <p:cNvCxnSpPr/>
          <p:nvPr/>
        </p:nvCxnSpPr>
        <p:spPr>
          <a:xfrm>
            <a:off x="9100000" y="2090000"/>
            <a:ext cx="600000" cy="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sp>
        <p:nvSpPr>
          <p:cNvPr id="70" name="ML bullets"/>
          <p:cNvSpPr txBox="1"/>
          <p:nvPr/>
        </p:nvSpPr>
        <p:spPr>
          <a:xfrm>
            <a:off x="950000" y="3350000"/>
            <a:ext cx="100000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00">
                <a:solidFill>
                  <a:srgbClr val="334155"/>
                </a:solidFill>
                <a:latin typeface="Aptos"/>
                <a:cs typeface="Aptos"/>
              </a:rPr>
              <a:t>Preprocessing: URL, mention, hashtag тэмдэглэгээ, илүүдэл тэмдэгт, whitespace цэвэрлэсэн.</a:t>
            </a:r>
          </a:p>
          <a:p>
            <a:pPr marL="300000" indent="-180000">
              <a:buChar char="•"/>
            </a:pPr>
            <a:r>
              <a:rPr lang="mn-MN" sz="1600">
                <a:solidFill>
                  <a:srgbClr val="334155"/>
                </a:solidFill>
                <a:latin typeface="Aptos"/>
                <a:cs typeface="Aptos"/>
              </a:rPr>
              <a:t>Feature engineering: content_length, word_count, hashtag_count, mention_count, question/exclamation, likes, shares, comment_count, hour, day_of_week.</a:t>
            </a:r>
          </a:p>
          <a:p>
            <a:pPr marL="300000" indent="-180000">
              <a:buChar char="•"/>
            </a:pPr>
            <a:r>
              <a:rPr lang="mn-MN" sz="1600">
                <a:solidFill>
                  <a:srgbClr val="334155"/>
                </a:solidFill>
                <a:latin typeface="Aptos"/>
                <a:cs typeface="Aptos"/>
              </a:rPr>
              <a:t>Model үр дүн: sentiment label, topic cluster, engagement score, high engagement probability.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Sentiment Analysis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Positive / Negative / Neutral ангилал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Sentiment bullets"/>
          <p:cNvSpPr txBox="1"/>
          <p:nvPr/>
        </p:nvSpPr>
        <p:spPr>
          <a:xfrm>
            <a:off x="760000" y="1600000"/>
            <a:ext cx="10000000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AdvancedSentimentAnalyzer нь BERT-based model ашиглах боломжтойгоор бүтээгдсэн.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BERT боломжгүй үед TextBlob polarity/subjectivity тооцож, positive/negative/neutral label гаргана.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Keyword fallback нь гаднын dependency алдаа гарсан үед системийг зогсоохгүй.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Post болон comment sentiment-ийг тусад нь тооцож, нийт хандлага болон confidence score гаргасан.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Emotion analysis нь joy, anger, sadness, fear, surprise, neutral зэрэг илүү нарийн дохиог нэмсэн.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Engagement Prediction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Пост өндөр оролцоо авах магадлалыг тооцох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Engagement bullets"/>
          <p:cNvSpPr txBox="1"/>
          <p:nvPr/>
        </p:nvSpPr>
        <p:spPr>
          <a:xfrm>
            <a:off x="760000" y="1600000"/>
            <a:ext cx="10200000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Engagement score = like, share, comment_count болон текстийн шинжүүд дээр суурилсан тоон үнэлгээ.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Regression model нь тухайн постын боломжит engagement хэмжээг таамаглана.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75-р percentile босгоор high-engagement label үүсгэж, classification зорилгоор ашигласан.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Topic, sentiment, temporal pattern-уудыг хамтад нь харснаар ямар төрлийн контент илүү оролцоо авч байгааг тодорхойлсон.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Үр дүн нь dashboard дээр risk/trend/recommendation хэлбэрээр харагдана.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AI Report System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Gemini API нь аналитик тайлан үүсгэнэ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Gemini bullets"/>
          <p:cNvSpPr txBox="1"/>
          <p:nvPr/>
        </p:nvSpPr>
        <p:spPr>
          <a:xfrm>
            <a:off x="760000" y="1600000"/>
            <a:ext cx="10400000" cy="3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Database-аас нийт пост, sentiment ratio, өндөр engagement-тэй пост, түлхүүр үг, topic зэрэг context бэлдэнэ.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gemini_analyzer.py болон analyze-gemini.ts нь энэ context-ийг prompt болгон Gemini API руу илгээнэ.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Gemini нь дата аналистын дүрээр trend, эрсдэл, сөрөг шалтгаан, сайжруулах зөвлөмжийг Монгол хэлээр гаргана.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AI report нь Markdown хэлбэрээр frontend dashboard дээр шууд харагдана.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Энэ модуль нь тоон графикийг хүний унших шийдвэрийн тайлан болгож хувиргасан.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Frontend ба Dashboard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Хэрэглэгчийн ажиллах үндсэн орчин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Frontend bullets"/>
          <p:cNvSpPr txBox="1"/>
          <p:nvPr/>
        </p:nvSpPr>
        <p:spPr>
          <a:xfrm>
            <a:off x="760000" y="1580000"/>
            <a:ext cx="10100000" cy="3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React + TypeScript + Vite ашиглан dashboard, admin control, AI report, chart хэсгүүдийг бүтээсэн.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Хэрэглэгч group/page жагсаалт оруулах, scraper асаах, status/log харах боломжтой.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API-аас пост, статистик, sentiment, AI report татаж график болон card хэлбэрээр харуулна.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Backend unavailable үед demo fallback ажиллаж, UI тасралтгүй харагдах боломжтой.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Polling ашиглан шинээр цугларсан өгөгдөл болон scraper log-ийг шинэчилнэ.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Үнэлгээ ба үр дүн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Танилцуулгад оруулах ёстой хэмжигдэхүүнүүд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ard Sentiment"/>
          <p:cNvSpPr/>
          <p:nvPr/>
        </p:nvSpPr>
        <p:spPr>
          <a:xfrm>
            <a:off x="760000" y="1700000"/>
            <a:ext cx="3200000" cy="1600000"/>
          </a:xfrm>
          <a:prstGeom prst="round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</p:sp>
      <p:sp>
        <p:nvSpPr>
          <p:cNvPr id="11" name="Card title Sentiment"/>
          <p:cNvSpPr txBox="1"/>
          <p:nvPr/>
        </p:nvSpPr>
        <p:spPr>
          <a:xfrm>
            <a:off x="98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Sentiment</a:t>
            </a:r>
          </a:p>
        </p:txBody>
      </p:sp>
      <p:sp>
        <p:nvSpPr>
          <p:cNvPr id="12" name="Card body Sentiment"/>
          <p:cNvSpPr txBox="1"/>
          <p:nvPr/>
        </p:nvSpPr>
        <p:spPr>
          <a:xfrm>
            <a:off x="980000" y="2260000"/>
            <a:ext cx="276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Accuracy, Precision, Recall, F1-score. Ангиллын чанарыг батлах үндсэн үзүүлэлт.</a:t>
            </a:r>
          </a:p>
        </p:txBody>
      </p:sp>
      <p:sp>
        <p:nvSpPr>
          <p:cNvPr id="20" name="Card Prediction"/>
          <p:cNvSpPr/>
          <p:nvPr/>
        </p:nvSpPr>
        <p:spPr>
          <a:xfrm>
            <a:off x="4450000" y="1700000"/>
            <a:ext cx="3200000" cy="1600000"/>
          </a:xfrm>
          <a:prstGeom prst="roundRect">
            <a:avLst/>
          </a:prstGeom>
          <a:solidFill>
            <a:srgbClr val="F0FDFA"/>
          </a:solidFill>
          <a:ln>
            <a:solidFill>
              <a:srgbClr val="D1D5DB"/>
            </a:solidFill>
          </a:ln>
        </p:spPr>
      </p:sp>
      <p:sp>
        <p:nvSpPr>
          <p:cNvPr id="21" name="Card title Prediction"/>
          <p:cNvSpPr txBox="1"/>
          <p:nvPr/>
        </p:nvSpPr>
        <p:spPr>
          <a:xfrm>
            <a:off x="467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Prediction</a:t>
            </a:r>
          </a:p>
        </p:txBody>
      </p:sp>
      <p:sp>
        <p:nvSpPr>
          <p:cNvPr id="22" name="Card body Prediction"/>
          <p:cNvSpPr txBox="1"/>
          <p:nvPr/>
        </p:nvSpPr>
        <p:spPr>
          <a:xfrm>
            <a:off x="4670000" y="2260000"/>
            <a:ext cx="276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MAE, RMSE, R2. Engagement regression-ийн алдааг хэмжих үзүүлэлт.</a:t>
            </a:r>
          </a:p>
        </p:txBody>
      </p:sp>
      <p:sp>
        <p:nvSpPr>
          <p:cNvPr id="30" name="Card System"/>
          <p:cNvSpPr/>
          <p:nvPr/>
        </p:nvSpPr>
        <p:spPr>
          <a:xfrm>
            <a:off x="8140000" y="1700000"/>
            <a:ext cx="3200000" cy="1600000"/>
          </a:xfrm>
          <a:prstGeom prst="roundRect">
            <a:avLst/>
          </a:prstGeom>
          <a:solidFill>
            <a:srgbClr val="FFF7ED"/>
          </a:solidFill>
          <a:ln>
            <a:solidFill>
              <a:srgbClr val="D1D5DB"/>
            </a:solidFill>
          </a:ln>
        </p:spPr>
      </p:sp>
      <p:sp>
        <p:nvSpPr>
          <p:cNvPr id="31" name="Card title System"/>
          <p:cNvSpPr txBox="1"/>
          <p:nvPr/>
        </p:nvSpPr>
        <p:spPr>
          <a:xfrm>
            <a:off x="8360000" y="1870000"/>
            <a:ext cx="276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500"/>
            </a:pPr>
            <a:r>
              <a:rPr lang="mn-MN" sz="1500">
                <a:b/>
                <a:solidFill>
                  <a:srgbClr val="0F172A"/>
                </a:solidFill>
                <a:latin typeface="Aptos"/>
                <a:cs typeface="Aptos"/>
              </a:rPr>
              <a:t>System</a:t>
            </a:r>
          </a:p>
        </p:txBody>
      </p:sp>
      <p:sp>
        <p:nvSpPr>
          <p:cNvPr id="32" name="Card body System"/>
          <p:cNvSpPr txBox="1"/>
          <p:nvPr/>
        </p:nvSpPr>
        <p:spPr>
          <a:xfrm>
            <a:off x="8360000" y="2260000"/>
            <a:ext cx="276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200"/>
            </a:pPr>
            <a:r>
              <a:rPr lang="mn-MN" sz="1200">
                <a:solidFill>
                  <a:srgbClr val="475569"/>
                </a:solidFill>
                <a:latin typeface="Aptos"/>
                <a:cs typeface="Aptos"/>
              </a:rPr>
              <a:t>Scraping time, API latency, collected posts/comments, success/failure pages.</a:t>
            </a:r>
          </a:p>
        </p:txBody>
      </p:sp>
      <p:sp>
        <p:nvSpPr>
          <p:cNvPr id="40" name="Eval note"/>
          <p:cNvSpPr txBox="1"/>
          <p:nvPr/>
        </p:nvSpPr>
        <p:spPr>
          <a:xfrm>
            <a:off x="900000" y="4050000"/>
            <a:ext cx="9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Тоо байхгүй бол demo дээр хэмжсэн бодит утгыг нэмж оруул. Энэ slide хамгаалалт дээр хамгийн их итгэл төрүүлнэ.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Хязгаарлалт ба цаашдын ажил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Шударга боловч хүчтэй төгсгөл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Future bullets"/>
          <p:cNvSpPr txBox="1"/>
          <p:nvPr/>
        </p:nvSpPr>
        <p:spPr>
          <a:xfrm>
            <a:off x="760000" y="1600000"/>
            <a:ext cx="10400000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Facebook UI өөрчлөгдөхөд scraper selector шинэчлэх шаардлага гарч болно.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Монгол хэлний sarcasm, товчлол, slang илүү нарийн тусгай model шаарддаг.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Ирээдүйд OAuth-based official integration, X/Instagram/LinkedIn support нэмэх боломжтой.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Зураг, видео content sentiment analysis болон multimodal AI report нэмэх боломжтой.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Монгол хэлний labeled dataset бүрдүүлж custom sentiment model сургах нь дараагийн том сайжруулалт.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Дүгнэлт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Гол хувь нэмэр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Conclusion bullets"/>
          <p:cNvSpPr txBox="1"/>
          <p:nvPr/>
        </p:nvSpPr>
        <p:spPr>
          <a:xfrm>
            <a:off x="760000" y="1600000"/>
            <a:ext cx="104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Facebook group/page өгөгдлийг автоматаар цуглуулах scraper систем боловсруулсан.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Цуглуулсан пост, сэтгэгдлийг database-д бүтэцтэй хадгалж, ML pipeline-д ашигласан.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Sentiment, topic, engagement prediction ашиглан олон нийтийн хандлага ба оролцоог үнэлсэн.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Gemini API ашиглан тоон үр дүнг шийдвэрт чиглэсэн Монгол хэлний AI report болгосон.</a:t>
            </a:r>
          </a:p>
          <a:p>
            <a:pPr marL="300000" indent="-180000">
              <a:buChar char="•"/>
            </a:pPr>
            <a:r>
              <a:rPr lang="mn-MN" sz="1650">
                <a:solidFill>
                  <a:srgbClr val="334155"/>
                </a:solidFill>
                <a:latin typeface="Aptos"/>
                <a:cs typeface="Aptos"/>
              </a:rPr>
              <a:t>Frontend dashboard нь scraping, analysis, visualization-ийг нэг хэрэглэгчийн урсгалд нэгтгэсэн.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60000" y="360000"/>
            <a:ext cx="11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2850"/>
            </a:pPr>
            <a:r>
              <a:rPr lang="mn-MN" sz="2850">
                <a:b/>
                <a:solidFill>
                  <a:srgbClr val="0F172A"/>
                </a:solidFill>
                <a:latin typeface="Aptos"/>
                <a:cs typeface="Aptos"/>
              </a:rPr>
              <a:t>Анхаарал тавьсанд баярлалаа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5000" y="93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endParaRPr lang="mn-MN" sz="1450"/>
            </a:pPr>
            <a:r>
              <a:rPr lang="mn-MN" sz="1450">
                <a:solidFill>
                  <a:srgbClr val="64748B"/>
                </a:solidFill>
                <a:latin typeface="Aptos"/>
                <a:cs typeface="Aptos"/>
              </a:rPr>
              <a:t>Асуулт, хариулт</a:t>
            </a:r>
          </a:p>
        </p:txBody>
      </p:sp>
      <p:cxnSp>
        <p:nvCxnSpPr>
          <p:cNvPr id="801" name="Rule"/>
          <p:cNvCxnSpPr/>
          <p:nvPr/>
        </p:nvCxnSpPr>
        <p:spPr>
          <a:xfrm>
            <a:off x="560000" y="1320000"/>
            <a:ext cx="111000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0" name="Thanks"/>
          <p:cNvSpPr txBox="1"/>
          <p:nvPr/>
        </p:nvSpPr>
        <p:spPr>
          <a:xfrm>
            <a:off x="1700000" y="2450000"/>
            <a:ext cx="88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2300"/>
            </a:pPr>
            <a:r>
              <a:rPr lang="mn-MN" sz="2300">
                <a:b/>
                <a:solidFill>
                  <a:srgbClr val="0F766E"/>
                </a:solidFill>
                <a:latin typeface="Aptos"/>
                <a:cs typeface="Aptos"/>
              </a:rPr>
              <a:t>Системийн demo: scraper → ML analysis → AI report → dashboard</a:t>
            </a:r>
          </a:p>
        </p:txBody>
      </p:sp>
      <p:sp>
        <p:nvSpPr>
          <p:cNvPr id="11" name="Thanks2"/>
          <p:cNvSpPr txBox="1"/>
          <p:nvPr/>
        </p:nvSpPr>
        <p:spPr>
          <a:xfrm>
            <a:off x="2500000" y="3600000"/>
            <a:ext cx="72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endParaRPr lang="mn-MN" sz="1500"/>
            </a:pPr>
            <a:r>
              <a:rPr lang="mn-MN" sz="1500">
                <a:solidFill>
                  <a:srgbClr val="475569"/>
                </a:solidFill>
                <a:latin typeface="Aptos"/>
                <a:cs typeface="Aptos"/>
              </a:rPr>
              <a:t>Ө. Хүслэн • Улаанбаатар 2026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1100000" y="6640000"/>
            <a:ext cx="9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endParaRPr lang="mn-MN" sz="1000"/>
            </a:pPr>
            <a:r>
              <a:rPr lang="mn-MN" sz="1000">
                <a:solidFill>
                  <a:srgbClr val="94A3B8"/>
                </a:solidFill>
                <a:latin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ploma Theme">
  <a:themeElements>
    <a:clrScheme name="Diploma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2563EB"/>
      </a:accent2>
      <a:accent3>
        <a:srgbClr val="F59E0B"/>
      </a:accent3>
      <a:accent4>
        <a:srgbClr val="DB2777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cs typeface="Aptos"/>
      </a:majorFont>
      <a:minorFont>
        <a:latin typeface="Aptos"/>
        <a:cs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PowerShell PPTX Builder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Нийгмийн сүлжээний өгөгдлийн автомат цуглуулга ба таамаглалт шинжилгээний систем</dc:title>
  <dc:creator>Codex</dc:creator>
  <cp:lastModifiedBy>Codex</cp:lastModifiedBy>
  <dcterms:created xsi:type="dcterms:W3CDTF">2026-05-27T03:18:06Z</dcterms:created>
  <dcterms:modified xsi:type="dcterms:W3CDTF">2026-05-27T03:18:06Z</dcterms:modified>
</cp:coreProperties>
</file>