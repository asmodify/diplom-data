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" y="0"/>
            <a:ext cx="91440" cy="6858000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ut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320040"/>
            <a:ext cx="658368" cy="1206511"/>
          </a:xfrm>
          <a:prstGeom prst="rect">
            <a:avLst/>
          </a:prstGeom>
        </p:spPr>
      </p:pic>
      <p:pic>
        <p:nvPicPr>
          <p:cNvPr id="5" name="Picture 4" descr="shut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320040"/>
            <a:ext cx="658368" cy="1206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914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385A"/>
                </a:solidFill>
                <a:latin typeface="Arial"/>
              </a:rPr>
              <a:t>???????? ????????? ?????????
??????? ????????? ??
?????????? ???????????? ??????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0632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E9184"/>
                </a:solidFill>
                <a:latin typeface="Arial"/>
              </a:rPr>
              <a:t>Sentiment Analysis ?? ???????????? ????????? ????????? 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3794760"/>
            <a:ext cx="5394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???????? 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???????: ?.??????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????????: ????? - 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??: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794760"/>
            <a:ext cx="3611880" cy="155448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 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Facebook ?????? ??????? ??????????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NLP + AI 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 ??? ?? ???????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???????????? ??????? 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Outline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94554"/>
                </a:solidFill>
                <a:latin typeface="Arial"/>
              </a:defRPr>
            </a:pPr>
            <a:r>
              <a:t>?????????? ????????, ???????, ?????????</a:t>
            </a:r>
          </a:p>
          <a:p>
            <a:pPr>
              <a:spcAft>
                <a:spcPts val="800"/>
              </a:spcAft>
              <a:defRPr sz="2000">
                <a:solidFill>
                  <a:srgbClr val="394554"/>
                </a:solidFill>
                <a:latin typeface="Arial"/>
              </a:defRPr>
            </a:pPr>
            <a:r>
              <a:t>?????? ????? ?? ????????? ?????????</a:t>
            </a:r>
          </a:p>
          <a:p>
            <a:pPr>
              <a:spcAft>
                <a:spcPts val="800"/>
              </a:spcAft>
              <a:defRPr sz="2000">
                <a:solidFill>
                  <a:srgbClr val="394554"/>
                </a:solidFill>
                <a:latin typeface="Arial"/>
              </a:defRPr>
            </a:pPr>
            <a:r>
              <a:t>????????? ?????????? ?? ???? ???</a:t>
            </a:r>
          </a:p>
          <a:p>
            <a:pPr>
              <a:spcAft>
                <a:spcPts val="800"/>
              </a:spcAft>
              <a:defRPr sz="2000">
                <a:solidFill>
                  <a:srgbClr val="394554"/>
                </a:solidFill>
                <a:latin typeface="Arial"/>
              </a:defRPr>
            </a:pPr>
            <a:r>
              <a:t>????????? ?? ????????</a:t>
            </a:r>
          </a:p>
          <a:p>
            <a:pPr>
              <a:spcAft>
                <a:spcPts val="800"/>
              </a:spcAft>
              <a:defRPr sz="2000">
                <a:solidFill>
                  <a:srgbClr val="394554"/>
                </a:solidFill>
                <a:latin typeface="Arial"/>
              </a:defRPr>
            </a:pPr>
            <a:r>
              <a:t>??????? ?? ?????? ?? ???</a:t>
            </a:r>
          </a:p>
          <a:p>
            <a:pPr>
              <a:spcAft>
                <a:spcPts val="800"/>
              </a:spcAft>
              <a:defRPr sz="2000">
                <a:solidFill>
                  <a:srgbClr val="394554"/>
                </a:solidFill>
                <a:latin typeface="Arial"/>
              </a:defRPr>
            </a:pPr>
            <a:r>
              <a:t>??? ??? ?? ????????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92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Presentation-? ????????? ??????? ??????????.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???????? ?? thesis-??? ??? ???????? ????, ?????? ????????? ?????????.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 ???????? ???? ??? ?????, ?? ???? ????????????.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?????????? ???????? ?? 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?????? ??? ????? ???????? 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???????? ?????? ???? ??? ???? ?? ????????? ????? ??????? ????????.</a:t>
            </a:r>
          </a:p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??? ???????? ?????? ???????? ???????????? ????????, ?????, ???????? ?????????? ?????.</a:t>
            </a:r>
          </a:p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??????? ?? ????, ??????????? ?????????? ?????????, Sentiment Analysis ????, ???????? ?????????.</a:t>
            </a:r>
          </a:p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?? ???? ?? ??????? ??????? ?????? ????????? ?????? ????????????.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6304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?????????? 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RQ1: ?????????? ???????? ?????????? ??????????? 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RQ2: ??????? + ??????? + ????????? ??? ???? ?????????? ??? ???????? 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RQ3: ??????? ??????? ????????????? ????????? ????? ???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474720"/>
            <a:ext cx="4892040" cy="256032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H1: BERT ?? rule-based ????????? ????? ?????????????.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H2: ???? ???? ??????? ?? ??? sentiment score-??? ???? ???? ???????????.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H3: ?????????? ????????? ??????? ?? ??????? ??? ??????.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?????? ????? ?? 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????????? ??? 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Theory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 ??????????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???????? ?????? ?? Big Data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Web Scraping: Selenium, BeautifulSoup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NLP: ????? ????????????, ???????, 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Sentiment Analysis: ?????, ?????, ?????? 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BERT, TextBlob, VADER ????? ?????????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1691640"/>
          <a:ext cx="4663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28016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????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????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TextBlob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??????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VADER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??? ??????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BERT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????? / GPU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46520" y="3886200"/>
            <a:ext cx="5029200" cy="201168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 ????????? ???????? 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Selenium: dynamic login and page interaction.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BeautifulSoup: HTML parsing.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BERT: ??????? ???? NLP 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????????? 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?????????????? 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920240" cy="868680"/>
          </a:xfrm>
          <a:prstGeom prst="round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Frontend
React/Vite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011680"/>
            <a:ext cx="1920240" cy="86868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API Backend
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011680"/>
            <a:ext cx="2103120" cy="868680"/>
          </a:xfrm>
          <a:prstGeom prst="roundRect">
            <a:avLst/>
          </a:prstGeom>
          <a:solidFill>
            <a:srgbClr val="CE7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Scraper
Selenium + BS4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2194560" cy="868680"/>
          </a:xfrm>
          <a:prstGeom prst="round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Analysis
TextBlob / VADER / BERT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011680"/>
            <a:ext cx="1508760" cy="86868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Storage
PostgreSQL / SQLite / Firebase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377440"/>
            <a:ext cx="164592" cy="137160"/>
          </a:xfrm>
          <a:prstGeom prst="rect">
            <a:avLst/>
          </a:prstGeom>
          <a:solidFill>
            <a:srgbClr val="E4B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4920" y="2377440"/>
            <a:ext cx="164592" cy="137160"/>
          </a:xfrm>
          <a:prstGeom prst="rect">
            <a:avLst/>
          </a:prstGeom>
          <a:solidFill>
            <a:srgbClr val="E4B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2377440"/>
            <a:ext cx="164592" cy="137160"/>
          </a:xfrm>
          <a:prstGeom prst="rect">
            <a:avLst/>
          </a:prstGeom>
          <a:solidFill>
            <a:srgbClr val="E4B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0" y="2377440"/>
            <a:ext cx="164592" cy="137160"/>
          </a:xfrm>
          <a:prstGeom prst="rect">
            <a:avLst/>
          </a:prstGeom>
          <a:solidFill>
            <a:srgbClr val="E4B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10378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Data flow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Facebook ? Scraper ? Cleaning ? Analysis ? Prediction ? Report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Each module can be developed and tested independently.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This keeps the system maintainable and extensible.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?????????: ??????? 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Scraper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Scraper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AutoScraper ?? browser manager, post scraper, content saver-??? ????????.</a:t>
            </a:r>
          </a:p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BrowserManager ?? headless ????? normal mode-??? ???????.</a:t>
            </a:r>
          </a:p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Pages.txt ??????? Facebook page list ??????.</a:t>
            </a:r>
          </a:p>
          <a:p>
            <a:pPr>
              <a:spcAft>
                <a:spcPts val="800"/>
              </a:spcAft>
              <a:defRPr sz="1900">
                <a:solidFill>
                  <a:srgbClr val="394554"/>
                </a:solidFill>
                <a:latin typeface="Arial"/>
              </a:defRPr>
            </a:pPr>
            <a:r>
              <a:t>Scraping flow: login ? navigate ? scroll ? parse ? save.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????????????? ?????? ???????????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headless: True / False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max_posts: 100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take_screenshots: on/off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download_images: on/off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657600"/>
            <a:ext cx="4846320" cy="246888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 ???????? 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Anti-detection browser settings ?????????.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Manual login fallback ?????????.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Session restart ????? retry ????????.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?????????: ?????? ??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NLP / prediction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AI + NLP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Pipeline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1. Text preprocessing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2. Sentiment analysis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3. Topic clustering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4. Engagement metric extraction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5. AI recommendation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94960" cy="205740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Modules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DataAnalyzer: baseline analysis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AdvancedSentimentAnalyzer: richer NLP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AIAnalyzer: combined prediction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65760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Output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Active / inactive / neutral engagement direction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Expected reaction volume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Actionable recommendation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 ???: scraping ??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????????? ??? 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Results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0876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?????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???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???? ??????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???? ???????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???? ?????????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8,547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?????? ????????? / ???????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1508760"/>
          <a:ext cx="4297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109728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????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GPU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TextBlob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VADER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BERT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9455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931920"/>
            <a:ext cx="10607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??????????? ?????????? ???????????: Positive 42%, Neutral 38%, Negative 20%.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BERT ??????? ???? ?????????? ????????.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 ???: API ?? ??????? 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Performance ?? ?????????? 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2468880" cy="365760"/>
          </a:xfrm>
          <a:prstGeom prst="round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Results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08760"/>
          <a:ext cx="5577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Avg ms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P95 ms</a:t>
                      </a:r>
                    </a:p>
                  </a:txBody>
                  <a:tcPr marL="63500" marR="63500" marT="50800" marB="50800">
                    <a:solidFill>
                      <a:srgbClr val="1C38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GET /health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GET /api/v1/pages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POST /api/v1/analyze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POST /api/v1/scrape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94554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63500" marR="63500" marT="50800" marB="508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1508760"/>
            <a:ext cx="4754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????????? ?? 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Research monitoring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Marketing support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Brand sentiment tracking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Content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840480"/>
            <a:ext cx="4754880" cy="155448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Presentation note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This deck intentionally excludes the conclusion chapter.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The final slide is references / Q&amp;A style.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64008"/>
          </a:xfrm>
          <a:prstGeom prst="rect">
            <a:avLst/>
          </a:prstGeom>
          <a:solidFill>
            <a:srgbClr val="2E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??????? ????????? ??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CE6EE"/>
                </a:solidFill>
                <a:latin typeface="Arial"/>
              </a:rPr>
              <a:t>References omitted from slide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09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4B75C"/>
                </a:solidFill>
                <a:latin typeface="Arial"/>
              </a:rPr>
              <a:t>10</a:t>
            </a:r>
          </a:p>
        </p:txBody>
      </p:sp>
      <p:pic>
        <p:nvPicPr>
          <p:cNvPr id="7" name="Picture 6" descr="shut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37160"/>
            <a:ext cx="594360" cy="10892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 ??????????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 ?????? sentiment model 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Instagram, Twitter ????? ???? ???????? 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Topic modeling, NER, trend prediction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Real-time dashboard, interactive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120640" cy="2011680"/>
          </a:xfrm>
          <a:prstGeom prst="roundRect">
            <a:avLst/>
          </a:prstGeom>
          <a:solidFill>
            <a:srgbClr val="EDF2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Facebook policy ?????????? 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 ?????? NLP ??????????????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BERT ????????? GPU ????????????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657600"/>
            <a:ext cx="5120640" cy="2240280"/>
          </a:xfrm>
          <a:prstGeom prst="roundRect">
            <a:avLst/>
          </a:prstGeom>
          <a:solidFill>
            <a:srgbClr val="2E9184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385A"/>
                </a:solidFill>
                <a:latin typeface="Arial"/>
              </a:rPr>
              <a:t>???????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??????, ????? ?????? ??????? ?????? ????.</a:t>
            </a:r>
          </a:p>
          <a:p>
            <a:pPr>
              <a:spcAft>
                <a:spcPts val="600"/>
              </a:spcAft>
              <a:defRPr sz="1500">
                <a:solidFill>
                  <a:srgbClr val="394554"/>
                </a:solidFill>
                <a:latin typeface="Arial"/>
              </a:defRPr>
            </a:pPr>
            <a:r>
              <a:t>Thank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28232"/>
            <a:ext cx="1110996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509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87480"/>
                </a:solidFill>
                <a:latin typeface="Arial"/>
              </a:rPr>
              <a:t>???????? ????????? ????????? ??????? ????????? ?? ?????????? ???????????? 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385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