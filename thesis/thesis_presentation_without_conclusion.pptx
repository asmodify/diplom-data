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0"/>
            <a:ext cx="1828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320040"/>
            <a:ext cx="914400" cy="1675710"/>
          </a:xfrm>
          <a:prstGeom prst="rect">
            <a:avLst/>
          </a:prstGeom>
        </p:spPr>
      </p:pic>
      <p:pic>
        <p:nvPicPr>
          <p:cNvPr id="6" name="Picture 5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0040"/>
            <a:ext cx="914400" cy="16757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91440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D"/>
                </a:solidFill>
                <a:latin typeface="Arial"/>
              </a:rPr>
              <a:t>???????? ????????? ?????????
??????? ????????? ??
?????????? ???????????? 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063240"/>
            <a:ext cx="8869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A9D8F"/>
                </a:solidFill>
                <a:latin typeface="Arial"/>
              </a:rPr>
              <a:t>Sentiment Analysis ?? ???????????? ????????? ????????? ?????????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886200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54559"/>
                </a:solidFill>
                <a:latin typeface="Arial"/>
              </a:defRPr>
            </a:pPr>
            <a:r>
              <a:t>?????????? ???????? ????</a:t>
            </a:r>
          </a:p>
          <a:p>
            <a:pPr>
              <a:defRPr sz="1400">
                <a:solidFill>
                  <a:srgbClr val="354559"/>
                </a:solidFill>
                <a:latin typeface="Arial"/>
              </a:defRPr>
            </a:pPr>
            <a:r>
              <a:t>???????: ?.??????</a:t>
            </a:r>
          </a:p>
          <a:p>
            <a:pPr>
              <a:defRPr sz="1400">
                <a:solidFill>
                  <a:srgbClr val="354559"/>
                </a:solidFill>
                <a:latin typeface="Arial"/>
              </a:defRPr>
            </a:pPr>
            <a:r>
              <a:t>????????: ????? - ????</a:t>
            </a:r>
          </a:p>
          <a:p>
            <a:pPr>
              <a:defRPr sz="1400">
                <a:solidFill>
                  <a:srgbClr val="354559"/>
                </a:solidFill>
                <a:latin typeface="Arial"/>
              </a:defRPr>
            </a:pPr>
            <a:r>
              <a:t>??: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E1ECF3"/>
                </a:solidFill>
                <a:latin typeface="Arial"/>
              </a:rPr>
              <a:t>???????????? 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?????????? ??????? ?? ???????</a:t>
            </a:r>
          </a:p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 ????? ?? ????????? ?????????</a:t>
            </a:r>
          </a:p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????????? ?????????? ?? ???? ???</a:t>
            </a:r>
          </a:p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???????????? ?????? ????????</a:t>
            </a:r>
          </a:p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??????? ?? ?? ???</a:t>
            </a:r>
          </a:p>
          <a:p>
            <a:pPr>
              <a:spcAft>
                <a:spcPts val="600"/>
              </a:spcAft>
              <a:defRPr sz="2100">
                <a:solidFill>
                  <a:srgbClr val="354559"/>
                </a:solidFill>
                <a:latin typeface="Arial"/>
              </a:defRPr>
            </a:pPr>
            <a:r>
              <a:t>?????????? ?????: ??? ???, 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846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??? presentation ?? thesis-??? ?????? ???????? ????, ?????? ????????? ?????????.</a:t>
            </a:r>
          </a:p>
          <a:p>
            <a:pPr>
              <a:spcAft>
                <a:spcPts val="12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????????? ??????? ??????????.</a:t>
            </a:r>
          </a:p>
          <a:p>
            <a:pPr>
              <a:spcAft>
                <a:spcPts val="12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??????????? ?? ???????, ??????, ?????????, ?? ??? ???? ????????.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?????????? ???????? ?? 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54559"/>
                </a:solidFill>
                <a:latin typeface="Arial"/>
              </a:defRPr>
            </a:pPr>
            <a:r>
              <a:t>???????? ?????? ?? ???? ??? ???? ?? ????? ??????? ????????.</a:t>
            </a:r>
          </a:p>
          <a:p>
            <a:pPr>
              <a:spcAft>
                <a:spcPts val="600"/>
              </a:spcAft>
              <a:defRPr sz="2000">
                <a:solidFill>
                  <a:srgbClr val="354559"/>
                </a:solidFill>
                <a:latin typeface="Arial"/>
              </a:defRPr>
            </a:pPr>
            <a:r>
              <a:t>??? ????????? ????????, ??????????? ????? ?????, ????????, ????? ???????????.</a:t>
            </a:r>
          </a:p>
          <a:p>
            <a:pPr>
              <a:spcAft>
                <a:spcPts val="600"/>
              </a:spcAft>
              <a:defRPr sz="2000">
                <a:solidFill>
                  <a:srgbClr val="354559"/>
                </a:solidFill>
                <a:latin typeface="Arial"/>
              </a:defRPr>
            </a:pPr>
            <a:r>
              <a:t>??????? ?? ????, ??????????? ?????????? ???????? Sentiment Analysis ????.</a:t>
            </a:r>
          </a:p>
          <a:p>
            <a:pPr>
              <a:spcAft>
                <a:spcPts val="600"/>
              </a:spcAft>
              <a:defRPr sz="2000">
                <a:solidFill>
                  <a:srgbClr val="354559"/>
                </a:solidFill>
                <a:latin typeface="Arial"/>
              </a:defRPr>
            </a:pPr>
            <a:r>
              <a:t>????? ?? ???????????? ??????? ????? ??????? ??????? ??????????.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280160"/>
            <a:ext cx="4480560" cy="4480560"/>
          </a:xfrm>
          <a:prstGeom prst="roundRect">
            <a:avLst/>
          </a:prstGeom>
          <a:solidFill>
            <a:srgbClr val="EDF2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1B3A5D"/>
                </a:solidFill>
                <a:latin typeface="Arial"/>
              </a:defRPr>
            </a:pPr>
            <a:r>
              <a:t>?????????? ?? ?????????</a:t>
            </a:r>
          </a:p>
          <a:p>
            <a:pPr>
              <a:spcAft>
                <a:spcPts val="800"/>
              </a:spcAft>
              <a:defRPr sz="1800" b="0">
                <a:solidFill>
                  <a:srgbClr val="354559"/>
                </a:solidFill>
                <a:latin typeface="Arial"/>
              </a:defRPr>
            </a:pPr>
            <a:r>
              <a:t>? ??????</a:t>
            </a:r>
          </a:p>
          <a:p>
            <a:pPr>
              <a:spcAft>
                <a:spcPts val="800"/>
              </a:spcAft>
              <a:defRPr sz="1800" b="0">
                <a:solidFill>
                  <a:srgbClr val="354559"/>
                </a:solidFill>
                <a:latin typeface="Arial"/>
              </a:defRPr>
            </a:pPr>
            <a:r>
              <a:t>? ????????</a:t>
            </a:r>
          </a:p>
          <a:p>
            <a:pPr>
              <a:spcAft>
                <a:spcPts val="800"/>
              </a:spcAft>
              <a:defRPr sz="1800" b="0">
                <a:solidFill>
                  <a:srgbClr val="354559"/>
                </a:solidFill>
                <a:latin typeface="Arial"/>
              </a:defRPr>
            </a:pPr>
            <a:r>
              <a:t>? ?????????</a:t>
            </a:r>
          </a:p>
          <a:p>
            <a:pPr>
              <a:spcAft>
                <a:spcPts val="800"/>
              </a:spcAft>
              <a:defRPr sz="1800" b="0">
                <a:solidFill>
                  <a:srgbClr val="354559"/>
                </a:solidFill>
                <a:latin typeface="Arial"/>
              </a:defRPr>
            </a:pPr>
            <a:r>
              <a:t>? ??????? ?????????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?????????? ?????? ?? 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RQ /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RQ1: ?????????? ???????? ?????????? ??????????? ???????</a:t>
            </a:r>
          </a:p>
          <a:p>
            <a:pPr>
              <a:spcAft>
                <a:spcPts val="6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RQ2: ??????? + ??????? + ????????? ??? ???? ?????????? ??? ???????? ???</a:t>
            </a:r>
          </a:p>
          <a:p>
            <a:pPr>
              <a:spcAft>
                <a:spcPts val="6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RQ3: ??????? ??????? ???????? ?????????? ????????????? ????????? ????? 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H1: BERT ?? TextBlob, VADER-??? ????? ?????????????.</a:t>
            </a:r>
          </a:p>
          <a:p>
            <a:pPr>
              <a:spcAft>
                <a:spcPts val="14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H2: ???? ???? ??????? ?? ?????? sentiment score-??? ???? ???? ???????????.</a:t>
            </a:r>
          </a:p>
          <a:p>
            <a:pPr>
              <a:spcAft>
                <a:spcPts val="14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H3: ?????????? ????????? ??????? ?? ?????????? ?? ?????? ???????????.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 ????? ?? ????????? 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???????? ?????? + Big Data: volume, velocity, variety, veracity, value.</a:t>
            </a:r>
          </a:p>
          <a:p>
            <a:pPr>
              <a:spcAft>
                <a:spcPts val="10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Web Scraping: Selenium WebDriver + BeautifulSoup.</a:t>
            </a:r>
          </a:p>
          <a:p>
            <a:pPr>
              <a:spcAft>
                <a:spcPts val="10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NLP: ????? ????????, sentiment analysis, topic extraction.</a:t>
            </a:r>
          </a:p>
          <a:p>
            <a:pPr>
              <a:spcAft>
                <a:spcPts val="1000"/>
              </a:spcAft>
              <a:defRPr sz="1800">
                <a:solidFill>
                  <a:srgbClr val="354559"/>
                </a:solidFill>
                <a:latin typeface="Arial"/>
              </a:defRPr>
            </a:pPr>
            <a:r>
              <a:t>Models: TextBlob, VADER, BERT.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5440680" cy="470916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00200"/>
          <a:ext cx="4297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18872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??????????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TextBlob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2 ms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VADER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 ms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45 ms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40690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D"/>
                </a:solidFill>
                <a:latin typeface="Arial"/>
              </a:defRPr>
            </a:pPr>
            <a:r>
              <a:t>Why these tools?</a:t>
            </a:r>
          </a:p>
          <a:p>
            <a:pPr>
              <a:defRPr sz="1500">
                <a:solidFill>
                  <a:srgbClr val="354559"/>
                </a:solidFill>
                <a:latin typeface="Arial"/>
              </a:defRPr>
            </a:pPr>
            <a:r>
              <a:t>? Selenium: dynamic pages and login flow.</a:t>
            </a:r>
          </a:p>
          <a:p>
            <a:pPr>
              <a:defRPr sz="1500">
                <a:solidFill>
                  <a:srgbClr val="354559"/>
                </a:solidFill>
                <a:latin typeface="Arial"/>
              </a:defRPr>
            </a:pPr>
            <a:r>
              <a:t>? BeautifulSoup: HTML parsing after page load.</a:t>
            </a:r>
          </a:p>
          <a:p>
            <a:pPr>
              <a:defRPr sz="1500">
                <a:solidFill>
                  <a:srgbClr val="354559"/>
                </a:solidFill>
                <a:latin typeface="Arial"/>
              </a:defRPr>
            </a:pPr>
            <a:r>
              <a:t>? BERT: best quality when GPU is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????????? 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03120" cy="777240"/>
          </a:xfrm>
          <a:prstGeom prst="round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Frontend
React/Vite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103120" cy="7772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FastAPI
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2103120" cy="777240"/>
          </a:xfrm>
          <a:prstGeom prst="roundRect">
            <a:avLst/>
          </a:prstGeom>
          <a:solidFill>
            <a:srgbClr val="D6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Scraper
Selenium + BS4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97480"/>
            <a:ext cx="2103120" cy="7772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Analysis
TextBlob / VADER / BERT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051560"/>
            <a:ext cx="2103120" cy="777240"/>
          </a:xfrm>
          <a:prstGeom prst="round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Database
PostgreSQL / SQLite / Firebase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697480"/>
            <a:ext cx="2103120" cy="777240"/>
          </a:xfrm>
          <a:prstGeom prst="roundRect">
            <a:avLst/>
          </a:prstGeom>
          <a:solidFill>
            <a:srgbClr val="D6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AIAnalyzer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1051560"/>
            <a:ext cx="2103120" cy="777240"/>
          </a:xfrm>
          <a:prstGeom prst="roundRect">
            <a:avLst/>
          </a:prstGeom>
          <a:solidFill>
            <a:srgbClr val="6E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2697480"/>
            <a:ext cx="2103120" cy="777240"/>
          </a:xfrm>
          <a:prstGeom prst="roundRect">
            <a:avLst/>
          </a:prstGeom>
          <a:solidFill>
            <a:srgbClr val="6E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Gemini / Claude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212848"/>
            <a:ext cx="1737360" cy="0"/>
          </a:xfrm>
          <a:prstGeom prst="line">
            <a:avLst/>
          </a:prstGeom>
          <a:ln w="25400">
            <a:solidFill>
              <a:srgbClr val="354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2212848"/>
            <a:ext cx="2651760" cy="0"/>
          </a:xfrm>
          <a:prstGeom prst="line">
            <a:avLst/>
          </a:prstGeom>
          <a:ln w="25400">
            <a:solidFill>
              <a:srgbClr val="354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20" y="2212848"/>
            <a:ext cx="685800" cy="0"/>
          </a:xfrm>
          <a:prstGeom prst="line">
            <a:avLst/>
          </a:prstGeom>
          <a:ln w="25400">
            <a:solidFill>
              <a:srgbClr val="354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06040" y="2212848"/>
            <a:ext cx="137160" cy="0"/>
          </a:xfrm>
          <a:prstGeom prst="line">
            <a:avLst/>
          </a:prstGeom>
          <a:ln w="25400">
            <a:solidFill>
              <a:srgbClr val="354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1828800"/>
            <a:ext cx="0" cy="914400"/>
          </a:xfrm>
          <a:prstGeom prst="line">
            <a:avLst/>
          </a:prstGeom>
          <a:ln w="25400">
            <a:solidFill>
              <a:srgbClr val="354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4069080"/>
            <a:ext cx="10561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>
                <a:solidFill>
                  <a:srgbClr val="354559"/>
                </a:solidFill>
                <a:latin typeface="Arial"/>
              </a:defRPr>
            </a:pPr>
            <a:r>
              <a:t>?????????????? ????? ?? ????????, ??????, ?????????, API ??????? ????? ?? ????????? ?????? ???????.</a:t>
            </a:r>
          </a:p>
          <a:p>
            <a:pPr>
              <a:spcAft>
                <a:spcPts val="800"/>
              </a:spcAft>
              <a:defRPr sz="1600">
                <a:solidFill>
                  <a:srgbClr val="354559"/>
                </a:solidFill>
                <a:latin typeface="Arial"/>
              </a:defRPr>
            </a:pPr>
            <a:r>
              <a:t>Data flow: Facebook ? Scraper ? Cleaning ? Sentiment/Topic analysis ? AI inference ? Prediction ? Report.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?????????: ??????? 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Scraper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54559"/>
                </a:solidFill>
                <a:latin typeface="Arial"/>
              </a:defRPr>
            </a:pPr>
            <a:r>
              <a:t>BrowserManager ?? headless ????? normal mode-??? ???????.</a:t>
            </a:r>
          </a:p>
          <a:p>
            <a:pPr>
              <a:spcAft>
                <a:spcPts val="600"/>
              </a:spcAft>
              <a:defRPr sz="1900">
                <a:solidFill>
                  <a:srgbClr val="354559"/>
                </a:solidFill>
                <a:latin typeface="Arial"/>
              </a:defRPr>
            </a:pPr>
            <a:r>
              <a:t>AutoScraper ?? browser, scraper, content saver-??? ????????.</a:t>
            </a:r>
          </a:p>
          <a:p>
            <a:pPr>
              <a:spcAft>
                <a:spcPts val="600"/>
              </a:spcAft>
              <a:defRPr sz="1900">
                <a:solidFill>
                  <a:srgbClr val="354559"/>
                </a:solidFill>
                <a:latin typeface="Arial"/>
              </a:defRPr>
            </a:pPr>
            <a:r>
              <a:t>Pages.txt ??????? Facebook page list ??????.</a:t>
            </a:r>
          </a:p>
          <a:p>
            <a:pPr>
              <a:spcAft>
                <a:spcPts val="600"/>
              </a:spcAft>
              <a:defRPr sz="1900">
                <a:solidFill>
                  <a:srgbClr val="354559"/>
                </a:solidFill>
                <a:latin typeface="Arial"/>
              </a:defRPr>
            </a:pPr>
            <a:r>
              <a:t>Scraping ?? login, navigate, scroll, parse, save ?????????? ????.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173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headless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True / False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max_posts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take_screenshots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True / False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download_images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True / False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794760"/>
            <a:ext cx="4572000" cy="13258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54559"/>
                </a:solidFill>
                <a:latin typeface="Arial"/>
              </a:defRPr>
            </a:pPr>
            <a:r>
              <a:t>Core flow: start() ? manual_login() ? navigate_to() ? simulate_human_scroll() ? get_posts() ? save_post()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?????????: ?????? ?? 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/ NLP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  <a:defRPr sz="1800" b="1">
                <a:solidFill>
                  <a:srgbClr val="1B3A5D"/>
                </a:solidFill>
                <a:latin typeface="Arial"/>
              </a:defRPr>
            </a:pPr>
            <a:r>
              <a:t>1. Text preprocessing</a:t>
            </a:r>
          </a:p>
          <a:p>
            <a:pPr>
              <a:spcAft>
                <a:spcPts val="900"/>
              </a:spcAft>
              <a:defRPr sz="1700" b="0">
                <a:solidFill>
                  <a:srgbClr val="354559"/>
                </a:solidFill>
                <a:latin typeface="Arial"/>
              </a:defRPr>
            </a:pPr>
            <a:r>
              <a:t>2. Sentiment classification</a:t>
            </a:r>
          </a:p>
          <a:p>
            <a:pPr>
              <a:spcAft>
                <a:spcPts val="900"/>
              </a:spcAft>
              <a:defRPr sz="1700" b="0">
                <a:solidFill>
                  <a:srgbClr val="354559"/>
                </a:solidFill>
                <a:latin typeface="Arial"/>
              </a:defRPr>
            </a:pPr>
            <a:r>
              <a:t>3. Topic clustering</a:t>
            </a:r>
          </a:p>
          <a:p>
            <a:pPr>
              <a:spcAft>
                <a:spcPts val="900"/>
              </a:spcAft>
              <a:defRPr sz="1700" b="0">
                <a:solidFill>
                  <a:srgbClr val="354559"/>
                </a:solidFill>
                <a:latin typeface="Arial"/>
              </a:defRPr>
            </a:pPr>
            <a:r>
              <a:t>4. Engagement metrics</a:t>
            </a:r>
          </a:p>
          <a:p>
            <a:pPr>
              <a:spcAft>
                <a:spcPts val="900"/>
              </a:spcAft>
              <a:defRPr sz="1700" b="0">
                <a:solidFill>
                  <a:srgbClr val="354559"/>
                </a:solidFill>
                <a:latin typeface="Arial"/>
              </a:defRPr>
            </a:pPr>
            <a:r>
              <a:t>5. AI-generated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03520" cy="457200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54559"/>
                </a:solidFill>
                <a:latin typeface="Arial"/>
              </a:defRPr>
            </a:pPr>
            <a:r>
              <a:t>DataAnalyzer: baseline sentiment and engagement analysis.</a:t>
            </a:r>
          </a:p>
          <a:p>
            <a:pPr>
              <a:spcAft>
                <a:spcPts val="600"/>
              </a:spcAft>
              <a:defRPr sz="1700">
                <a:solidFill>
                  <a:srgbClr val="354559"/>
                </a:solidFill>
                <a:latin typeface="Arial"/>
              </a:defRPr>
            </a:pPr>
            <a:r>
              <a:t>AdvancedSentimentAnalyzer: richer NLP and clustering.</a:t>
            </a:r>
          </a:p>
          <a:p>
            <a:pPr>
              <a:spcAft>
                <a:spcPts val="600"/>
              </a:spcAft>
              <a:defRPr sz="1700">
                <a:solidFill>
                  <a:srgbClr val="354559"/>
                </a:solidFill>
                <a:latin typeface="Arial"/>
              </a:defRPr>
            </a:pPr>
            <a:r>
              <a:t>AIAnalyzer: combines sentiment, engagement, temporal patterns, and topics.</a:t>
            </a:r>
          </a:p>
          <a:p>
            <a:pPr>
              <a:spcAft>
                <a:spcPts val="600"/>
              </a:spcAft>
              <a:defRPr sz="1700">
                <a:solidFill>
                  <a:srgbClr val="354559"/>
                </a:solidFill>
                <a:latin typeface="Arial"/>
              </a:defRPr>
            </a:pPr>
            <a:r>
              <a:t>Output: active / inactive / neutral engagement direction + expected reaction volume.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 ???: scraping ?? sentiment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Results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???? ??????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???? ???????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???? ?????????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8,547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?????? ????????? / ???????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28016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TextBlob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VADER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54559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657600"/>
            <a:ext cx="10561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54559"/>
                </a:solidFill>
                <a:latin typeface="Arial"/>
              </a:defRPr>
            </a:pPr>
            <a:r>
              <a:t>Sentiment distribution: Positive 42%, Neutral 38%, Negative 20%.</a:t>
            </a:r>
          </a:p>
          <a:p>
            <a:pPr>
              <a:defRPr sz="1800">
                <a:solidFill>
                  <a:srgbClr val="354559"/>
                </a:solidFill>
                <a:latin typeface="Arial"/>
              </a:defRPr>
            </a:pPr>
            <a:r>
              <a:t>The results indicate that BERT delivered the best quality among the compared methods.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?? ???: API performance ?? ??????? 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Results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ms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P95 ms</a:t>
                      </a:r>
                    </a:p>
                  </a:txBody>
                  <a:tcPr marL="76200" marR="76200" marT="50800" marB="50800">
                    <a:solidFill>
                      <a:srgbClr val="1B3A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GET /health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GET /api/v1/pages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POST /api/v1/analyze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POST /api/v1/scrape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54559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76200" marR="76200" marT="50800" marB="508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7960" y="1280160"/>
            <a:ext cx="4709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54559"/>
                </a:solidFill>
                <a:latin typeface="Arial"/>
              </a:defRPr>
            </a:pPr>
            <a:r>
              <a:t>The system combines scraping, sentiment analysis, AI inference, and export functions in one workflow.</a:t>
            </a:r>
          </a:p>
          <a:p>
            <a:pPr>
              <a:defRPr sz="1800">
                <a:solidFill>
                  <a:srgbClr val="354559"/>
                </a:solidFill>
                <a:latin typeface="Arial"/>
              </a:defRPr>
            </a:pPr>
            <a:r>
              <a:t>It is suitable for research, marketing, and brand monitoring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297680"/>
            <a:ext cx="4709160" cy="1143000"/>
          </a:xfrm>
          <a:prstGeom prst="round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 conclusion slide included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40080" cy="1172997"/>
          </a:xfrm>
          <a:prstGeom prst="rect">
            <a:avLst/>
          </a:prstGeom>
        </p:spPr>
      </p:pic>
      <p:pic>
        <p:nvPicPr>
          <p:cNvPr id="4" name="Picture 3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40080" cy="11729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B3A5D"/>
                </a:solidFill>
                <a:latin typeface="Arial"/>
              </a:rPr>
              <a:t>??????, ?????
Thank you</a:t>
            </a:r>
          </a:p>
          <a:p>
            <a:pPr algn="ctr">
              <a:defRPr sz="1600">
                <a:solidFill>
                  <a:srgbClr val="354559"/>
                </a:solidFill>
                <a:latin typeface="Arial"/>
              </a:defRPr>
            </a:pPr>
            <a:r>
              <a:t>??? ???, ???????? ?? ????? ????? ?????? ? ??? presentation-? conclusion ???????.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E7A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B3A5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